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0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CEFB6-13D1-F60C-8C80-F5B6274CF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30A1A-5A7C-BB6E-492A-CEFEB44C7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218EB-7B86-EDAF-0DEA-E12705246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6771-31CF-4FA3-B183-405DF7A61EB0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242B-6DBA-E0C7-56F4-FBC75AA6C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C6C5A-2552-33E1-F95E-AAE8D62F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3F01-18F8-47CE-992C-BDCD726EEE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31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B6108-FBE2-C443-A57E-8F37D0DD3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4266C-6C7C-5A8B-99F4-3B13C9148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917D2-F23E-8A98-DA58-CA32E5241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6771-31CF-4FA3-B183-405DF7A61EB0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FF798-2FA3-0111-421C-72448994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E8104-78D9-FBF3-1BC7-A8014F823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3F01-18F8-47CE-992C-BDCD726EEE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84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1EF1F-5321-2E5E-4354-70D3A6ADB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4B59D-BAF4-9E38-0C1A-3B3175332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91608-A784-78C6-0CD0-B75815F4E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6771-31CF-4FA3-B183-405DF7A61EB0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4F15C-9746-4A77-A0C6-D1DF46D5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D9C58-6851-6C0C-2E0D-12DB4C3D4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3F01-18F8-47CE-992C-BDCD726EEE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492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47C8-8B4D-F4A7-E5EF-8D904901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BB5B5-964D-5E16-7C1F-C9383094C8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9C680-B5B8-7B54-05BB-277CDE436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173F2-D784-777D-1A54-E8EC3FEDC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6771-31CF-4FA3-B183-405DF7A61EB0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82217-4C9D-1B56-EBBF-3F19579AB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039BF-55FC-D166-C877-8DFA7A2B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3F01-18F8-47CE-992C-BDCD726EEE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704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F22F3-E97D-645D-F6A1-7170363D4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DEA34-2254-414A-C09B-9BF34EE8C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32AAE-B129-259F-017B-D25D6DC44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13968-1E82-C0A7-B208-ED8995065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846DA6-3ED9-B713-0DEB-5ED9104B2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32FA48-DDB4-9135-3A23-B561BE165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6771-31CF-4FA3-B183-405DF7A61EB0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BEDF40-3A8E-BF0F-3978-7188A2F1E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C8C7FA-66CE-2449-2FD9-99380CC5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3F01-18F8-47CE-992C-BDCD726EEE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917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1754E-B192-8D30-8319-61CC60F80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CAF2B-6C7A-05B4-A92C-5EA42872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6771-31CF-4FA3-B183-405DF7A61EB0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B94B5-831A-B8D1-5EDD-64863F7A0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BB424-160C-14DF-2CF4-53A6BD9D9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3F01-18F8-47CE-992C-BDCD726EEE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5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7A68B6-AE22-C811-7EB2-E93C320EA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6771-31CF-4FA3-B183-405DF7A61EB0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6DFBD-005C-1880-B14E-94121528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A2A56-0F3E-B188-0875-0922C962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3F01-18F8-47CE-992C-BDCD726EEE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62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C825-4571-5B8C-008D-017D49609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1940F-55B6-8D5E-CAD8-E87F89F82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CA3CF-D2B1-BDE1-8FA5-89DEE3D85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A603D-3A20-66BE-C186-552546D44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6771-31CF-4FA3-B183-405DF7A61EB0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81A4E-3506-ED28-5F48-57992BE18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128ED-B2A2-7515-3F88-E977B4C2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3F01-18F8-47CE-992C-BDCD726EEE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932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45B9-C5E0-2140-25C3-9B5938E8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5EF8F-6012-C6FB-12E4-C063C5CA6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510E6-64C3-0DD8-3408-1A8F1A980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006FF-49E9-901B-EFBB-315039BC1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6771-31CF-4FA3-B183-405DF7A61EB0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751C5-7BB3-0717-16BA-5C77862A4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5538B-124A-F545-F9E3-4EED77075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3F01-18F8-47CE-992C-BDCD726EEE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066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F02DE-A03B-099A-F1D2-5AF52D9AA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4BD5C-89B1-04BB-61F8-39904E28A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B2975-6490-CC73-7CA2-535FB8A26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6771-31CF-4FA3-B183-405DF7A61EB0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29183-B376-880F-E44A-4D47C9F9E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1FCF1-B06C-06E2-78B2-DA6E697B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3F01-18F8-47CE-992C-BDCD726EEE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677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EC89E9-D5F8-19D8-D5D5-68B146CA5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DCA225-1125-8A7D-6071-39AD81642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61F1B-072E-E5A2-FE09-015EEF5BD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6771-31CF-4FA3-B183-405DF7A61EB0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9738C-F6AF-3A2D-ACA6-903603F2A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E45BD-1249-E57A-794F-308B56CC0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3F01-18F8-47CE-992C-BDCD726EEE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223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8CA372-32DA-3674-98F5-30BABF81F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38896-28B6-F061-92A8-6D6CB9EFA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7EBFA-91C3-8991-EC34-C1747097A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76771-31CF-4FA3-B183-405DF7A61EB0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FDE9A-377D-2311-F7FD-C7B587046E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9EAC2-DA3B-EDF5-749C-8EA341C73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3F01-18F8-47CE-992C-BDCD726EEE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814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8605A-2E23-E331-75E9-5B6D79B6D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IN" dirty="0"/>
              <a:t>GYNOCOLOGICAL DIAGNOSTIC TEST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9A1CA-45EE-E6D6-E3D7-BA9B567C6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3633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IN" dirty="0"/>
              <a:t>Debjani Mukherjee</a:t>
            </a:r>
          </a:p>
        </p:txBody>
      </p:sp>
    </p:spTree>
    <p:extLst>
      <p:ext uri="{BB962C8B-B14F-4D97-AF65-F5344CB8AC3E}">
        <p14:creationId xmlns:p14="http://schemas.microsoft.com/office/powerpoint/2010/main" val="3120137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32243-3695-E8BC-F22F-B1B66B01D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Colposcopy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FBF1-6BB8-4506-5BB3-921DC33A6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IN" b="1" dirty="0"/>
              <a:t>Definition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Colposcopy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diagnostic procedure in which a healthcare provider examines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cervix, vagina, and vulva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special magnifying instrument called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colposcope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procedure helps identify abnormal cells, infections, precancerous changes, and early signs of cancer.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A5C3B3-A26A-D7FF-22F5-A37ECDC4D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369" y="1825625"/>
            <a:ext cx="4930346" cy="406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649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A2CA5E-42E3-98D2-4294-85805D3D3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487" y="714830"/>
            <a:ext cx="4391025" cy="1084939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Purpose of Colposcopy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47BB19B-C974-24E1-20EF-C42B07F28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462" y="1934208"/>
            <a:ext cx="4391025" cy="4441877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819BC2-BA50-0B99-44B0-73073946F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06" y="1290052"/>
            <a:ext cx="5588293" cy="51774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5D1189-6959-62CB-BAD0-E41D0F0B89E0}"/>
              </a:ext>
            </a:extLst>
          </p:cNvPr>
          <p:cNvSpPr txBox="1"/>
          <p:nvPr/>
        </p:nvSpPr>
        <p:spPr>
          <a:xfrm>
            <a:off x="6092914" y="1799769"/>
            <a:ext cx="6098058" cy="23083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 colposcopy is usually recommended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Pap smear (Pap test)</a:t>
            </a:r>
            <a:r>
              <a:rPr lang="en-IN" dirty="0"/>
              <a:t> shows abnormal results.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person tests positive for </a:t>
            </a:r>
            <a:r>
              <a:rPr lang="en-IN" b="1" dirty="0"/>
              <a:t>Human Papillomavirus (HPV)</a:t>
            </a:r>
            <a:r>
              <a:rPr lang="en-IN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There is unexplained vaginal bleeding.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cervix appears abnormal during a pelvic examination.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There are visible lesions, genital warts, or suspicious growths.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Follow-up evaluation of previously detected cervical abnormalities is needed. </a:t>
            </a:r>
          </a:p>
        </p:txBody>
      </p:sp>
    </p:spTree>
    <p:extLst>
      <p:ext uri="{BB962C8B-B14F-4D97-AF65-F5344CB8AC3E}">
        <p14:creationId xmlns:p14="http://schemas.microsoft.com/office/powerpoint/2010/main" val="74321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4D78-4138-DBFA-4FC2-6A702B08A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Equipment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D73BC-34A1-7BF9-3EC5-1928805F8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9422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Colposcope (a binocular microscope with a light source) </a:t>
            </a:r>
          </a:p>
          <a:p>
            <a:r>
              <a:rPr lang="en-IN" dirty="0"/>
              <a:t>Vaginal speculum </a:t>
            </a:r>
          </a:p>
          <a:p>
            <a:r>
              <a:rPr lang="en-IN" dirty="0"/>
              <a:t>Acetic acid solution (3–5% vinegar solution) </a:t>
            </a:r>
          </a:p>
          <a:p>
            <a:r>
              <a:rPr lang="en-IN" dirty="0"/>
              <a:t>Lugol's iodine solution (optional) </a:t>
            </a:r>
          </a:p>
          <a:p>
            <a:r>
              <a:rPr lang="en-IN" dirty="0"/>
              <a:t>Cotton swabs </a:t>
            </a:r>
          </a:p>
          <a:p>
            <a:r>
              <a:rPr lang="en-IN" dirty="0"/>
              <a:t>Biopsy forceps (if tissue sampling is required)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64334E-E157-7F57-5A07-AEBB8CB43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708" y="2063579"/>
            <a:ext cx="3736761" cy="319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1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7996A9-B1BC-53E6-027C-82351E745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913" y="3331766"/>
            <a:ext cx="3378473" cy="298994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34CC3FF-7AA4-46F4-8B24-2F9383D8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5E42E8-8B96-4FF0-9DCC-7E2084C0F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8FEA8A4-ED0E-429C-884B-1599153B8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D9103F-598C-EE04-789D-983393E8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20" y="859808"/>
            <a:ext cx="3558461" cy="2156184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Procedure of Colposcopy</a:t>
            </a:r>
            <a:endParaRPr lang="en-IN" dirty="0">
              <a:solidFill>
                <a:schemeClr val="bg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F2AA49C-5AC0-41C7-BFAF-74B8D8293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A750A0-64B5-41B2-B525-A914EB40B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8216C77-85C1-4BDC-87A8-7E7593320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71AED48-754E-41AC-9ECC-DB2597644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005417-D297-404F-82A5-8C4393E85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7F942D6-2D0C-4894-81F0-6F81714BA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FAD802E-9670-4B80-876B-3FF64D29A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38AF437-0BFB-40E4-ADA0-5749919AA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8BC9C3D-CBBE-4D29-9DAC-98B3CAF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016629-22ED-494E-9205-594895DA9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FF3CC1E-0ED4-4599-9B4E-F057769B9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65A4B3A-F9A7-4FA6-A7F3-EA08E0BA1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3B6A14-A56D-4B95-8395-89CF53A09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9F0868B-B193-43B6-BB1E-1FF72993E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" name="Graphic 4">
            <a:extLst>
              <a:ext uri="{FF2B5EF4-FFF2-40B4-BE49-F238E27FC236}">
                <a16:creationId xmlns:a16="http://schemas.microsoft.com/office/drawing/2014/main" id="{BB32367D-C4F2-49D5-A586-298C7CA8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1FF7EE7-ACA2-4BFF-BA75-7FAE93FBB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647462E-B5E8-4F02-A1E4-BD0380A22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12CE109-6153-414A-B2D6-C4F9C6FA2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AF530F5-D68D-4BC8-8984-F1A8B5DEB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EB69747-F9DD-4B80-B488-D5565D0BC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3AFB787-B8A4-4269-9DA9-FF4A66030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E682D93-25A6-4D91-9A81-3F247BBEE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D5F48B5-53B4-4DA8-B929-6AFF50658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CA195A3-2A74-4D13-A1B8-24765E26B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98F1918-C39D-4713-AB21-685A94435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3592273-DEE6-42E1-B824-11D544332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2D6F82B-B619-4D8B-85AE-0E57103BA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246C574-90D4-412B-9444-203F7C83C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444A81-2ACE-ECC4-F26A-B2DF0D35C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685805"/>
            <a:ext cx="4974771" cy="5534019"/>
          </a:xfrm>
        </p:spPr>
        <p:txBody>
          <a:bodyPr>
            <a:normAutofit/>
          </a:bodyPr>
          <a:lstStyle/>
          <a:p>
            <a:endParaRPr lang="en-IN" sz="1500" b="1">
              <a:solidFill>
                <a:schemeClr val="bg1"/>
              </a:solidFill>
            </a:endParaRPr>
          </a:p>
          <a:p>
            <a:r>
              <a:rPr lang="en-IN" sz="1500" b="1">
                <a:solidFill>
                  <a:schemeClr val="bg1"/>
                </a:solidFill>
                <a:highlight>
                  <a:srgbClr val="00FF00"/>
                </a:highlight>
              </a:rPr>
              <a:t>Before the Procedure</a:t>
            </a:r>
            <a:endParaRPr lang="en-IN" sz="1500">
              <a:solidFill>
                <a:schemeClr val="bg1"/>
              </a:solidFill>
              <a:highlight>
                <a:srgbClr val="00FF00"/>
              </a:highlight>
            </a:endParaRPr>
          </a:p>
          <a:p>
            <a:r>
              <a:rPr lang="en-IN" sz="1500">
                <a:solidFill>
                  <a:schemeClr val="bg1"/>
                </a:solidFill>
              </a:rPr>
              <a:t>Schedule when not menstruating. </a:t>
            </a:r>
          </a:p>
          <a:p>
            <a:r>
              <a:rPr lang="en-IN" sz="1500">
                <a:solidFill>
                  <a:schemeClr val="bg1"/>
                </a:solidFill>
              </a:rPr>
              <a:t>Avoid intercourse, tampons, douching, and vaginal medications for 24–48 hours. </a:t>
            </a:r>
          </a:p>
          <a:p>
            <a:r>
              <a:rPr lang="en-IN" sz="1500">
                <a:solidFill>
                  <a:schemeClr val="bg1"/>
                </a:solidFill>
              </a:rPr>
              <a:t>Empty the bladder before the examination. </a:t>
            </a:r>
          </a:p>
          <a:p>
            <a:r>
              <a:rPr lang="en-IN" sz="1500" b="1">
                <a:solidFill>
                  <a:schemeClr val="bg1"/>
                </a:solidFill>
                <a:highlight>
                  <a:srgbClr val="00FF00"/>
                </a:highlight>
              </a:rPr>
              <a:t>During the Procedure</a:t>
            </a:r>
            <a:endParaRPr lang="en-IN" sz="1500">
              <a:solidFill>
                <a:schemeClr val="bg1"/>
              </a:solidFill>
              <a:highlight>
                <a:srgbClr val="00FF00"/>
              </a:highlight>
            </a:endParaRPr>
          </a:p>
          <a:p>
            <a:r>
              <a:rPr lang="en-IN" sz="1500">
                <a:solidFill>
                  <a:schemeClr val="bg1"/>
                </a:solidFill>
              </a:rPr>
              <a:t>Patient lies in the </a:t>
            </a:r>
            <a:r>
              <a:rPr lang="en-IN" sz="1500" b="1">
                <a:solidFill>
                  <a:schemeClr val="bg1"/>
                </a:solidFill>
              </a:rPr>
              <a:t>lithotomy position</a:t>
            </a:r>
            <a:r>
              <a:rPr lang="en-IN" sz="1500">
                <a:solidFill>
                  <a:schemeClr val="bg1"/>
                </a:solidFill>
              </a:rPr>
              <a:t>. </a:t>
            </a:r>
          </a:p>
          <a:p>
            <a:r>
              <a:rPr lang="en-IN" sz="1500">
                <a:solidFill>
                  <a:schemeClr val="bg1"/>
                </a:solidFill>
              </a:rPr>
              <a:t>A </a:t>
            </a:r>
            <a:r>
              <a:rPr lang="en-IN" sz="1500" b="1">
                <a:solidFill>
                  <a:schemeClr val="bg1"/>
                </a:solidFill>
              </a:rPr>
              <a:t>speculum</a:t>
            </a:r>
            <a:r>
              <a:rPr lang="en-IN" sz="1500">
                <a:solidFill>
                  <a:schemeClr val="bg1"/>
                </a:solidFill>
              </a:rPr>
              <a:t> is inserted to view the cervix. </a:t>
            </a:r>
          </a:p>
          <a:p>
            <a:r>
              <a:rPr lang="en-IN" sz="1500">
                <a:solidFill>
                  <a:schemeClr val="bg1"/>
                </a:solidFill>
              </a:rPr>
              <a:t>The </a:t>
            </a:r>
            <a:r>
              <a:rPr lang="en-IN" sz="1500" b="1">
                <a:solidFill>
                  <a:schemeClr val="bg1"/>
                </a:solidFill>
              </a:rPr>
              <a:t>colposcope</a:t>
            </a:r>
            <a:r>
              <a:rPr lang="en-IN" sz="1500">
                <a:solidFill>
                  <a:schemeClr val="bg1"/>
                </a:solidFill>
              </a:rPr>
              <a:t> is positioned outside the vagina. </a:t>
            </a:r>
          </a:p>
          <a:p>
            <a:r>
              <a:rPr lang="en-IN" sz="1500" b="1">
                <a:solidFill>
                  <a:schemeClr val="bg1"/>
                </a:solidFill>
              </a:rPr>
              <a:t>Acetic acid</a:t>
            </a:r>
            <a:r>
              <a:rPr lang="en-IN" sz="1500">
                <a:solidFill>
                  <a:schemeClr val="bg1"/>
                </a:solidFill>
              </a:rPr>
              <a:t> is applied to highlight abnormal areas. </a:t>
            </a:r>
          </a:p>
          <a:p>
            <a:r>
              <a:rPr lang="en-IN" sz="1500">
                <a:solidFill>
                  <a:schemeClr val="bg1"/>
                </a:solidFill>
              </a:rPr>
              <a:t>The cervix is examined under magnification. </a:t>
            </a:r>
          </a:p>
          <a:p>
            <a:r>
              <a:rPr lang="en-IN" sz="1500" b="1">
                <a:solidFill>
                  <a:schemeClr val="bg1"/>
                </a:solidFill>
              </a:rPr>
              <a:t>Lugol's iodine</a:t>
            </a:r>
            <a:r>
              <a:rPr lang="en-IN" sz="1500">
                <a:solidFill>
                  <a:schemeClr val="bg1"/>
                </a:solidFill>
              </a:rPr>
              <a:t> may be applied if needed. </a:t>
            </a:r>
          </a:p>
          <a:p>
            <a:r>
              <a:rPr lang="en-IN" sz="1500">
                <a:solidFill>
                  <a:schemeClr val="bg1"/>
                </a:solidFill>
              </a:rPr>
              <a:t>A </a:t>
            </a:r>
            <a:r>
              <a:rPr lang="en-IN" sz="1500" b="1">
                <a:solidFill>
                  <a:schemeClr val="bg1"/>
                </a:solidFill>
              </a:rPr>
              <a:t>biopsy</a:t>
            </a:r>
            <a:r>
              <a:rPr lang="en-IN" sz="1500">
                <a:solidFill>
                  <a:schemeClr val="bg1"/>
                </a:solidFill>
              </a:rPr>
              <a:t> is taken if any abnormal area is detected. </a:t>
            </a:r>
          </a:p>
          <a:p>
            <a:r>
              <a:rPr lang="en-IN" sz="1500" b="1">
                <a:solidFill>
                  <a:schemeClr val="bg1"/>
                </a:solidFill>
              </a:rPr>
              <a:t>Duration:</a:t>
            </a:r>
            <a:r>
              <a:rPr lang="en-IN" sz="1500">
                <a:solidFill>
                  <a:schemeClr val="bg1"/>
                </a:solidFill>
              </a:rPr>
              <a:t> Approximately </a:t>
            </a:r>
            <a:r>
              <a:rPr lang="en-IN" sz="1500" b="1">
                <a:solidFill>
                  <a:schemeClr val="bg1"/>
                </a:solidFill>
              </a:rPr>
              <a:t>10–20 minutes</a:t>
            </a:r>
            <a:r>
              <a:rPr lang="en-IN" sz="1500">
                <a:solidFill>
                  <a:schemeClr val="bg1"/>
                </a:solidFill>
              </a:rPr>
              <a:t>.</a:t>
            </a:r>
          </a:p>
          <a:p>
            <a:r>
              <a:rPr lang="en-IN" sz="150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0235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21B30-D9E5-0E47-1BD3-24A2A5BF3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9978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IN" b="1" dirty="0"/>
              <a:t>Findings During Colposcopy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E3ADD-CF1B-7D99-F88A-F3A4EA1B0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314"/>
            <a:ext cx="10515600" cy="4780649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The examiner may identify:</a:t>
            </a:r>
          </a:p>
          <a:p>
            <a:r>
              <a:rPr lang="en-IN" dirty="0"/>
              <a:t>Normal cervical tissue </a:t>
            </a:r>
          </a:p>
          <a:p>
            <a:r>
              <a:rPr lang="en-IN" dirty="0"/>
              <a:t>Cervical inflammation (cervicitis) </a:t>
            </a:r>
          </a:p>
          <a:p>
            <a:r>
              <a:rPr lang="en-IN" dirty="0"/>
              <a:t>HPV-related changes </a:t>
            </a:r>
          </a:p>
          <a:p>
            <a:r>
              <a:rPr lang="en-IN" dirty="0"/>
              <a:t>Cervical Intraepithelial Neoplasia (CIN) </a:t>
            </a:r>
          </a:p>
          <a:p>
            <a:pPr lvl="1"/>
            <a:r>
              <a:rPr lang="en-IN" b="1" dirty="0"/>
              <a:t>CIN 1 (Mild Dysplasia):</a:t>
            </a:r>
            <a:r>
              <a:rPr lang="en-IN" dirty="0"/>
              <a:t> Abnormal cells in the lower one-third of the cervix; often resolves naturally. </a:t>
            </a:r>
          </a:p>
          <a:p>
            <a:pPr lvl="1"/>
            <a:r>
              <a:rPr lang="en-IN" b="1" dirty="0"/>
              <a:t>CIN 2 (Moderate Dysplasia):</a:t>
            </a:r>
            <a:r>
              <a:rPr lang="en-IN" dirty="0"/>
              <a:t> Abnormal cells extend up to two-thirds of the cervical lining; may require treatment. </a:t>
            </a:r>
          </a:p>
          <a:p>
            <a:pPr lvl="1"/>
            <a:r>
              <a:rPr lang="en-IN" b="1" dirty="0"/>
              <a:t>CIN 3 (Severe Dysplasia):</a:t>
            </a:r>
            <a:r>
              <a:rPr lang="en-IN" dirty="0"/>
              <a:t> Abnormal cells involve most or all of the cervical lining; considered a precancerous condition and usually requires treatment.</a:t>
            </a:r>
          </a:p>
          <a:p>
            <a:r>
              <a:rPr lang="en-IN" dirty="0"/>
              <a:t>Cervical cancer </a:t>
            </a:r>
          </a:p>
          <a:p>
            <a:r>
              <a:rPr lang="en-IN" dirty="0"/>
              <a:t>Vaginal or vulvar lesions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6926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B6AA-E2F7-EDA2-569E-E1906436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068330" cy="759340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IN" b="1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E1E9E-723C-CD4A-6A74-E2486F8CF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117" y="1590847"/>
            <a:ext cx="4739846" cy="394498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IN" dirty="0"/>
              <a:t>Simple outpatient procedure. </a:t>
            </a:r>
          </a:p>
          <a:p>
            <a:r>
              <a:rPr lang="en-IN" dirty="0"/>
              <a:t>No anaesthesia usually required.</a:t>
            </a:r>
          </a:p>
          <a:p>
            <a:r>
              <a:rPr lang="en-IN" dirty="0"/>
              <a:t> Early detection of precancerous cervical lesions.</a:t>
            </a:r>
          </a:p>
          <a:p>
            <a:r>
              <a:rPr lang="en-IN" dirty="0"/>
              <a:t> Helps guide biopsy from abnormal areas. </a:t>
            </a:r>
          </a:p>
          <a:p>
            <a:r>
              <a:rPr lang="en-IN" dirty="0"/>
              <a:t>Improves diagnosis after abnormal Pap smear results.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75310B-8152-9383-A9C4-403DB564701E}"/>
              </a:ext>
            </a:extLst>
          </p:cNvPr>
          <p:cNvSpPr/>
          <p:nvPr/>
        </p:nvSpPr>
        <p:spPr>
          <a:xfrm>
            <a:off x="6858000" y="506627"/>
            <a:ext cx="4621427" cy="852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Risks and Complications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B5FC14-24E2-950F-5CE4-F9B5A5934B42}"/>
              </a:ext>
            </a:extLst>
          </p:cNvPr>
          <p:cNvSpPr txBox="1"/>
          <p:nvPr/>
        </p:nvSpPr>
        <p:spPr>
          <a:xfrm>
            <a:off x="6409039" y="1837981"/>
            <a:ext cx="5365921" cy="26776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Colposcopy itself is very safe. </a:t>
            </a:r>
          </a:p>
          <a:p>
            <a:r>
              <a:rPr lang="en-US" sz="2800" dirty="0"/>
              <a:t>Rare complications include: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800" dirty="0"/>
              <a:t>Mild discomfort or cramping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800" dirty="0"/>
              <a:t>Light vaginal </a:t>
            </a:r>
            <a:r>
              <a:rPr lang="en-US" sz="2800" dirty="0" err="1"/>
              <a:t>bleedingInfection</a:t>
            </a:r>
            <a:r>
              <a:rPr lang="en-US" sz="2800" dirty="0"/>
              <a:t> (rare)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800" dirty="0"/>
              <a:t>Bleeding after biopsy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90601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7E45-6F98-AD38-5E26-7AC4C9FF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4059" cy="83348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pPr algn="ctr"/>
            <a:r>
              <a:rPr lang="en-IN" b="1" dirty="0"/>
              <a:t>Indications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2F47E-FF91-152C-9B53-8107FCE16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055" y="1516706"/>
            <a:ext cx="4672914" cy="321593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Abnormal Pap smear </a:t>
            </a:r>
          </a:p>
          <a:p>
            <a:r>
              <a:rPr lang="en-IN" dirty="0"/>
              <a:t>Positive HPV test </a:t>
            </a:r>
          </a:p>
          <a:p>
            <a:r>
              <a:rPr lang="en-IN" dirty="0"/>
              <a:t>Suspicious cervical lesions</a:t>
            </a:r>
          </a:p>
          <a:p>
            <a:r>
              <a:rPr lang="en-IN" dirty="0"/>
              <a:t> Postcoital bleeding</a:t>
            </a:r>
          </a:p>
          <a:p>
            <a:r>
              <a:rPr lang="en-IN" dirty="0"/>
              <a:t> Follow-up of cervical dysplasia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589063-DA63-3108-37B5-BFD0E5B93F88}"/>
              </a:ext>
            </a:extLst>
          </p:cNvPr>
          <p:cNvSpPr/>
          <p:nvPr/>
        </p:nvSpPr>
        <p:spPr>
          <a:xfrm>
            <a:off x="6845643" y="781867"/>
            <a:ext cx="4263081" cy="734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Contraindications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42BEA-B30F-6A88-D83B-7851CC0E05D5}"/>
              </a:ext>
            </a:extLst>
          </p:cNvPr>
          <p:cNvSpPr txBox="1"/>
          <p:nvPr/>
        </p:nvSpPr>
        <p:spPr>
          <a:xfrm>
            <a:off x="6582033" y="1739677"/>
            <a:ext cx="5106429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Severe acute pelvic infection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Heavy menstrual bleeding (relative contraindication) </a:t>
            </a:r>
          </a:p>
        </p:txBody>
      </p:sp>
    </p:spTree>
    <p:extLst>
      <p:ext uri="{BB962C8B-B14F-4D97-AF65-F5344CB8AC3E}">
        <p14:creationId xmlns:p14="http://schemas.microsoft.com/office/powerpoint/2010/main" val="1472071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F050E82-B700-45C5-C57F-D8D960C0C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47954"/>
            <a:ext cx="10515600" cy="2852737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dirty="0"/>
              <a:t>Hysterosalpingography (HSG)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70B653-AFDA-4ABE-C766-234CB3F35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008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BC0DE8-9C27-D45B-5909-A75CB0729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697627" cy="99411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b="1" dirty="0"/>
              <a:t>Definition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9A3959-34C1-E73B-8854-16C972F51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24"/>
            <a:ext cx="4697627" cy="4669439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IN" b="1" dirty="0"/>
              <a:t>Hysterosalpingography (HSG)</a:t>
            </a:r>
            <a:r>
              <a:rPr lang="en-IN" dirty="0"/>
              <a:t> is a specialized X-ray procedure used to examine the </a:t>
            </a:r>
            <a:r>
              <a:rPr lang="en-IN" b="1" dirty="0"/>
              <a:t>uterus and fallopian tubes</a:t>
            </a:r>
            <a:r>
              <a:rPr lang="en-IN" dirty="0"/>
              <a:t>. A contrast dye is injected through the cervix, and X-ray images are taken to detect blockages, abnormalities, or causes of infertility.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952EE5-F0A6-D2A7-9691-CC966DF9C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746" y="1581150"/>
            <a:ext cx="5509054" cy="388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07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CC9A7-5850-EFA0-F1F4-3316C5A49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14319" cy="784053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b="1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55960-7290-7157-1A63-8AC9B73F5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054" y="1433384"/>
            <a:ext cx="5315465" cy="436052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Evaluate female infertility. </a:t>
            </a:r>
          </a:p>
          <a:p>
            <a:r>
              <a:rPr lang="en-IN" dirty="0"/>
              <a:t>Check whether the fallopian tubes are open or blocked. </a:t>
            </a:r>
          </a:p>
          <a:p>
            <a:r>
              <a:rPr lang="en-IN" dirty="0"/>
              <a:t>Detect abnormalities of the uterus. </a:t>
            </a:r>
          </a:p>
          <a:p>
            <a:r>
              <a:rPr lang="en-IN" dirty="0"/>
              <a:t>Assess recurrent miscarriages. </a:t>
            </a:r>
          </a:p>
          <a:p>
            <a:r>
              <a:rPr lang="en-IN" dirty="0"/>
              <a:t>Evaluate the success of tubal surgery.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95ECF-042B-C3E1-7E6E-BFF1F226A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373" y="1514304"/>
            <a:ext cx="4522573" cy="399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76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73FAB-B1C2-F3E3-809E-A5AC89935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63995" cy="78405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Procedure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F940C-B6E7-CF25-8B88-89F7F9700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692" y="1000896"/>
            <a:ext cx="10181967" cy="506627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IN" b="1" dirty="0"/>
              <a:t>Before the Procedure</a:t>
            </a:r>
          </a:p>
          <a:p>
            <a:r>
              <a:rPr lang="en-IN" dirty="0"/>
              <a:t>Scheduled after menstruation and before ovulation. </a:t>
            </a:r>
          </a:p>
          <a:p>
            <a:r>
              <a:rPr lang="en-IN" dirty="0"/>
              <a:t>Pregnancy must be excluded. </a:t>
            </a:r>
          </a:p>
          <a:p>
            <a:r>
              <a:rPr lang="en-IN" dirty="0"/>
              <a:t>Patient may be advised to take a pain reliever. </a:t>
            </a:r>
          </a:p>
          <a:p>
            <a:r>
              <a:rPr lang="en-IN" b="1" dirty="0"/>
              <a:t>During the Procedure</a:t>
            </a:r>
          </a:p>
          <a:p>
            <a:r>
              <a:rPr lang="en-IN" dirty="0"/>
              <a:t>Patient lies on the X-ray table. </a:t>
            </a:r>
          </a:p>
          <a:p>
            <a:r>
              <a:rPr lang="en-IN" dirty="0"/>
              <a:t>A speculum is inserted into the vagina. </a:t>
            </a:r>
          </a:p>
          <a:p>
            <a:r>
              <a:rPr lang="en-IN" dirty="0"/>
              <a:t>A catheter is placed through the cervix. </a:t>
            </a:r>
          </a:p>
          <a:p>
            <a:r>
              <a:rPr lang="en-IN" dirty="0"/>
              <a:t>Contrast dye is injected into the uterus. </a:t>
            </a:r>
          </a:p>
          <a:p>
            <a:r>
              <a:rPr lang="en-IN" dirty="0"/>
              <a:t>X-ray images are taken as the dye flows through the uterus and fallopian tubes. </a:t>
            </a:r>
          </a:p>
          <a:p>
            <a:r>
              <a:rPr lang="en-IN" dirty="0"/>
              <a:t>The procedure takes about </a:t>
            </a:r>
            <a:r>
              <a:rPr lang="en-IN" b="1" dirty="0"/>
              <a:t>15–30 minutes</a:t>
            </a:r>
            <a:r>
              <a:rPr lang="en-IN" dirty="0"/>
              <a:t>. </a:t>
            </a:r>
          </a:p>
          <a:p>
            <a:r>
              <a:rPr lang="en-IN" b="1" dirty="0"/>
              <a:t>After the Procedure</a:t>
            </a:r>
          </a:p>
          <a:p>
            <a:r>
              <a:rPr lang="en-IN" dirty="0"/>
              <a:t>Mild cramping and spotting may occur. </a:t>
            </a:r>
          </a:p>
          <a:p>
            <a:r>
              <a:rPr lang="en-IN" dirty="0"/>
              <a:t>Normal activities can usually be resumed the same day.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7CEDF-AD7D-02B0-D81C-034AA5847272}"/>
              </a:ext>
            </a:extLst>
          </p:cNvPr>
          <p:cNvSpPr txBox="1"/>
          <p:nvPr/>
        </p:nvSpPr>
        <p:spPr>
          <a:xfrm>
            <a:off x="3320878" y="6351373"/>
            <a:ext cx="4785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https://www.youtube.com/watch?v=FZijxxeV5_Q</a:t>
            </a:r>
          </a:p>
        </p:txBody>
      </p:sp>
    </p:spTree>
    <p:extLst>
      <p:ext uri="{BB962C8B-B14F-4D97-AF65-F5344CB8AC3E}">
        <p14:creationId xmlns:p14="http://schemas.microsoft.com/office/powerpoint/2010/main" val="1485790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18353-D726-54E5-D149-8CE051E4F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535" y="562833"/>
            <a:ext cx="2510481" cy="709913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b="1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64616-2DF8-7580-6577-7BA9DA532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632" y="1569308"/>
            <a:ext cx="4969476" cy="420129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Normal uterine cavity. </a:t>
            </a:r>
          </a:p>
          <a:p>
            <a:r>
              <a:rPr lang="en-IN" dirty="0"/>
              <a:t>Open (patent) fallopian tubes. </a:t>
            </a:r>
          </a:p>
          <a:p>
            <a:r>
              <a:rPr lang="en-IN" dirty="0"/>
              <a:t>Blocked fallopian tubes. </a:t>
            </a:r>
          </a:p>
          <a:p>
            <a:r>
              <a:rPr lang="en-IN" dirty="0"/>
              <a:t>Uterine fibroids or polyps. </a:t>
            </a:r>
          </a:p>
          <a:p>
            <a:r>
              <a:rPr lang="en-IN" dirty="0"/>
              <a:t>Congenital uterine abnormalities.</a:t>
            </a:r>
          </a:p>
          <a:p>
            <a:r>
              <a:rPr lang="en-IN" dirty="0"/>
              <a:t> Intrauterine adhesions (Asherman's syndrome).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30618-6ACB-7EF1-7CB8-C57F8B79A4B1}"/>
              </a:ext>
            </a:extLst>
          </p:cNvPr>
          <p:cNvSpPr txBox="1"/>
          <p:nvPr/>
        </p:nvSpPr>
        <p:spPr>
          <a:xfrm>
            <a:off x="7552038" y="466006"/>
            <a:ext cx="2709218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4000" dirty="0"/>
              <a:t>Advantages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C6DEC-6BF3-4BE9-AA2E-181B90175AAD}"/>
              </a:ext>
            </a:extLst>
          </p:cNvPr>
          <p:cNvSpPr txBox="1"/>
          <p:nvPr/>
        </p:nvSpPr>
        <p:spPr>
          <a:xfrm>
            <a:off x="6335927" y="1272746"/>
            <a:ext cx="5141441" cy="19389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Simple and minimally invasive.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Provides valuable information about fertility.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Can sometimes improve fertility by flushing minor tubal blockages.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63E6A0-E00D-01EA-42FF-D69BD3AF10C9}"/>
              </a:ext>
            </a:extLst>
          </p:cNvPr>
          <p:cNvSpPr txBox="1"/>
          <p:nvPr/>
        </p:nvSpPr>
        <p:spPr>
          <a:xfrm>
            <a:off x="7194208" y="3377568"/>
            <a:ext cx="3388839" cy="58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Risks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371728-0F06-7526-9FB9-369032C3F8C6}"/>
              </a:ext>
            </a:extLst>
          </p:cNvPr>
          <p:cNvSpPr txBox="1"/>
          <p:nvPr/>
        </p:nvSpPr>
        <p:spPr>
          <a:xfrm>
            <a:off x="6335926" y="4111640"/>
            <a:ext cx="5141441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Mild pain or cramping.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Infection (rare).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Allergic reaction to contrast dye (rare).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Vaginal spotting. </a:t>
            </a:r>
          </a:p>
        </p:txBody>
      </p:sp>
    </p:spTree>
    <p:extLst>
      <p:ext uri="{BB962C8B-B14F-4D97-AF65-F5344CB8AC3E}">
        <p14:creationId xmlns:p14="http://schemas.microsoft.com/office/powerpoint/2010/main" val="625850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A1CF0-6B5D-2F31-76F7-A08F732510F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dirty="0"/>
              <a:t>Scrotal Ultrasonography (Scrotal USG)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35B4EF-BACD-8D1F-54F8-8DF7E588B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8919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A2ACEB-8A9B-9A2F-EDCE-CC710FA4B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195"/>
            <a:ext cx="4697627" cy="907621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b="1" dirty="0"/>
              <a:t>Definition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93A08B-39C6-D222-33F7-10EABCB4B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44762" cy="435133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IN" b="1" dirty="0"/>
              <a:t>Scrotal Ultrasonography</a:t>
            </a:r>
          </a:p>
          <a:p>
            <a:pPr algn="just"/>
            <a:r>
              <a:rPr lang="en-IN" b="1" dirty="0"/>
              <a:t> (Scrotal USG)</a:t>
            </a:r>
            <a:r>
              <a:rPr lang="en-IN" dirty="0"/>
              <a:t> is a non-invasive imaging procedure that uses high-frequency sound waves to produce images of the </a:t>
            </a:r>
            <a:r>
              <a:rPr lang="en-IN" b="1" dirty="0"/>
              <a:t>testes, epididymis, spermatic cord, and surrounding scrotal structures</a:t>
            </a:r>
            <a:r>
              <a:rPr lang="en-IN" dirty="0"/>
              <a:t>. It is the primary diagnostic tool for evaluating scrotal abnormalities.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97ECDE-3580-1CEC-16F3-8532A1E14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232" y="951470"/>
            <a:ext cx="4944761" cy="404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235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9919FE-8B22-5B32-983A-70A503BA4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433130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Purpose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699FC-0610-99DA-65B3-459069E65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2014" y="1586706"/>
            <a:ext cx="5157787" cy="3684588"/>
          </a:xfrm>
          <a:solidFill>
            <a:schemeClr val="tx2">
              <a:lumMod val="40000"/>
              <a:lumOff val="60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IN"/>
              <a:t>Assess scrotal pain or swelling. </a:t>
            </a:r>
          </a:p>
          <a:p>
            <a:r>
              <a:rPr lang="en-IN"/>
              <a:t>Detect testicular abnormalities. </a:t>
            </a:r>
          </a:p>
          <a:p>
            <a:r>
              <a:rPr lang="en-IN"/>
              <a:t>Evaluate infertility-related conditions. </a:t>
            </a:r>
          </a:p>
          <a:p>
            <a:r>
              <a:rPr lang="en-IN"/>
              <a:t>Diagnose trauma or injury to the scrotum. </a:t>
            </a:r>
          </a:p>
          <a:p>
            <a:r>
              <a:rPr lang="en-IN"/>
              <a:t>Differentiate between benign and malignant masses.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EAA3D5-4287-E47E-BC0D-9D8B128B5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09315"/>
            <a:ext cx="5183188" cy="703690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Indications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F1CD3D-3976-C63D-F29C-5B4291F14B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3411" y="2282654"/>
            <a:ext cx="5183188" cy="368458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IN" dirty="0"/>
              <a:t>Scrotal pain </a:t>
            </a:r>
          </a:p>
          <a:p>
            <a:r>
              <a:rPr lang="en-IN" dirty="0"/>
              <a:t>Swelling or lumps in the scrotum </a:t>
            </a:r>
          </a:p>
          <a:p>
            <a:r>
              <a:rPr lang="en-IN" dirty="0"/>
              <a:t>Suspected varicocele or hydrocele </a:t>
            </a:r>
          </a:p>
          <a:p>
            <a:r>
              <a:rPr lang="en-IN" dirty="0"/>
              <a:t>Testicular torsion </a:t>
            </a:r>
          </a:p>
          <a:p>
            <a:r>
              <a:rPr lang="en-IN" dirty="0"/>
              <a:t>Infections (epididymitis, orchitis) </a:t>
            </a:r>
          </a:p>
          <a:p>
            <a:r>
              <a:rPr lang="en-IN" dirty="0"/>
              <a:t>Infertility evaluation </a:t>
            </a:r>
          </a:p>
          <a:p>
            <a:r>
              <a:rPr lang="en-IN" dirty="0"/>
              <a:t>Testicular </a:t>
            </a:r>
            <a:r>
              <a:rPr lang="en-IN" dirty="0" err="1"/>
              <a:t>tumors</a:t>
            </a:r>
            <a:r>
              <a:rPr lang="en-IN" dirty="0"/>
              <a:t> </a:t>
            </a:r>
          </a:p>
          <a:p>
            <a:r>
              <a:rPr lang="en-IN" dirty="0"/>
              <a:t>Scrotal trauma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1915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7AB26-D8E5-BE75-71C3-F80090E0C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2806" y="375508"/>
            <a:ext cx="3931508" cy="78405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IN" b="1" dirty="0"/>
              <a:t>Procedure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4D3C9D-CD35-6423-1C76-FDB5C4645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9816"/>
            <a:ext cx="10307595" cy="486714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IN" b="1" dirty="0"/>
              <a:t>Before the Procedure</a:t>
            </a:r>
          </a:p>
          <a:p>
            <a:r>
              <a:rPr lang="en-IN" dirty="0"/>
              <a:t>No special preparation is required. </a:t>
            </a:r>
          </a:p>
          <a:p>
            <a:r>
              <a:rPr lang="en-IN" dirty="0"/>
              <a:t>The patient lies comfortably on the examination table. </a:t>
            </a:r>
          </a:p>
          <a:p>
            <a:r>
              <a:rPr lang="en-IN" b="1" dirty="0"/>
              <a:t>During the Procedure</a:t>
            </a:r>
          </a:p>
          <a:p>
            <a:r>
              <a:rPr lang="en-IN" dirty="0"/>
              <a:t>The patient lies in a </a:t>
            </a:r>
            <a:r>
              <a:rPr lang="en-IN" b="1" dirty="0"/>
              <a:t>supine position</a:t>
            </a:r>
            <a:r>
              <a:rPr lang="en-IN" dirty="0"/>
              <a:t>. </a:t>
            </a:r>
          </a:p>
          <a:p>
            <a:r>
              <a:rPr lang="en-IN" dirty="0"/>
              <a:t>A gel is applied to the scrotal area. </a:t>
            </a:r>
          </a:p>
          <a:p>
            <a:r>
              <a:rPr lang="en-IN" dirty="0"/>
              <a:t>An ultrasound transducer is moved gently over the scrotum. </a:t>
            </a:r>
          </a:p>
          <a:p>
            <a:r>
              <a:rPr lang="en-IN" dirty="0"/>
              <a:t>Images of both testes and surrounding structures are obtained. </a:t>
            </a:r>
          </a:p>
          <a:p>
            <a:r>
              <a:rPr lang="en-IN" b="1" dirty="0" err="1"/>
              <a:t>Color</a:t>
            </a:r>
            <a:r>
              <a:rPr lang="en-IN" b="1" dirty="0"/>
              <a:t> Doppler ultrasound</a:t>
            </a:r>
            <a:r>
              <a:rPr lang="en-IN" dirty="0"/>
              <a:t> may be used to assess blood flow. </a:t>
            </a:r>
          </a:p>
          <a:p>
            <a:r>
              <a:rPr lang="en-IN" dirty="0"/>
              <a:t>The procedure usually takes </a:t>
            </a:r>
            <a:r>
              <a:rPr lang="en-IN" b="1" dirty="0"/>
              <a:t>15–30 minutes</a:t>
            </a:r>
            <a:r>
              <a:rPr lang="en-IN" dirty="0"/>
              <a:t>. </a:t>
            </a:r>
          </a:p>
          <a:p>
            <a:r>
              <a:rPr lang="en-IN" b="1" dirty="0"/>
              <a:t>After the Procedure</a:t>
            </a:r>
          </a:p>
          <a:p>
            <a:r>
              <a:rPr lang="en-IN" dirty="0"/>
              <a:t>The gel is wiped off. </a:t>
            </a:r>
          </a:p>
          <a:p>
            <a:r>
              <a:rPr lang="en-IN" dirty="0"/>
              <a:t>The patient can resume normal activities immediately.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6243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0D49FE-BB5B-9352-8525-E3886E512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394" y="207275"/>
            <a:ext cx="4388708" cy="870551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en-IN" b="1" dirty="0"/>
              <a:t>Common Findings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979F33-DFAD-F304-3EF8-8448CF4CF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054" y="1210962"/>
            <a:ext cx="10515600" cy="500448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r>
              <a:rPr lang="en-IN" b="1" dirty="0"/>
              <a:t>Varicocele</a:t>
            </a:r>
          </a:p>
          <a:p>
            <a:r>
              <a:rPr lang="en-IN" dirty="0"/>
              <a:t>Enlargement of veins within the scrotum, often associated with infertility.</a:t>
            </a:r>
          </a:p>
          <a:p>
            <a:r>
              <a:rPr lang="en-IN" b="1" dirty="0"/>
              <a:t>Hydrocele</a:t>
            </a:r>
          </a:p>
          <a:p>
            <a:r>
              <a:rPr lang="en-IN" dirty="0"/>
              <a:t>Collection of fluid around the testicle causing painless swelling.</a:t>
            </a:r>
          </a:p>
          <a:p>
            <a:r>
              <a:rPr lang="en-IN" b="1" dirty="0"/>
              <a:t>Testicular Torsion</a:t>
            </a:r>
          </a:p>
          <a:p>
            <a:r>
              <a:rPr lang="en-IN" dirty="0"/>
              <a:t>Twisting of the spermatic cord leading to reduced blood supply; a medical emergency.</a:t>
            </a:r>
          </a:p>
          <a:p>
            <a:r>
              <a:rPr lang="en-IN" b="1" dirty="0"/>
              <a:t>Epididymitis/Orchitis</a:t>
            </a:r>
          </a:p>
          <a:p>
            <a:r>
              <a:rPr lang="en-IN" dirty="0"/>
              <a:t>Inflammation or infection of the epididymis or testis.</a:t>
            </a:r>
          </a:p>
          <a:p>
            <a:r>
              <a:rPr lang="en-IN" b="1" dirty="0"/>
              <a:t>Testicular </a:t>
            </a:r>
            <a:r>
              <a:rPr lang="en-IN" b="1" dirty="0" err="1"/>
              <a:t>Tumor</a:t>
            </a:r>
            <a:endParaRPr lang="en-IN" b="1" dirty="0"/>
          </a:p>
          <a:p>
            <a:r>
              <a:rPr lang="en-IN" dirty="0"/>
              <a:t>Abnormal mass within the testis that may require further evaluation.</a:t>
            </a:r>
          </a:p>
          <a:p>
            <a:r>
              <a:rPr lang="en-IN" b="1" dirty="0"/>
              <a:t>Scrotal Trauma</a:t>
            </a:r>
          </a:p>
          <a:p>
            <a:r>
              <a:rPr lang="en-IN" dirty="0"/>
              <a:t>Detection of injury, hematoma, or rupture of the testis.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0026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9F2E93-427F-D683-5E6F-6CCBC2136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668337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Advantages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C8B933-456E-9CE7-F500-6A06ABC96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690173"/>
            <a:ext cx="5157787" cy="3684588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Non-invasive and painless. </a:t>
            </a:r>
          </a:p>
          <a:p>
            <a:r>
              <a:rPr lang="en-IN" dirty="0"/>
              <a:t>No radiation exposure. </a:t>
            </a:r>
          </a:p>
          <a:p>
            <a:r>
              <a:rPr lang="en-IN" dirty="0"/>
              <a:t>Quick and accurate. </a:t>
            </a:r>
          </a:p>
          <a:p>
            <a:r>
              <a:rPr lang="en-IN" dirty="0"/>
              <a:t>Provides real-time imaging. </a:t>
            </a:r>
          </a:p>
          <a:p>
            <a:r>
              <a:rPr lang="en-IN" dirty="0"/>
              <a:t>Excellent for evaluating blood flow with Doppler imaging. </a:t>
            </a:r>
          </a:p>
          <a:p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D6C1CF-9CB4-B69C-66E0-3817158E50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8" y="1278217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Risks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1BFE5A3-D30C-0255-BF54-C388D211B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1189595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r>
              <a:rPr lang="en-IN" dirty="0"/>
              <a:t>No known significant risks.</a:t>
            </a:r>
          </a:p>
          <a:p>
            <a:r>
              <a:rPr lang="en-IN" dirty="0"/>
              <a:t> Safe for all age groups.</a:t>
            </a:r>
          </a:p>
        </p:txBody>
      </p:sp>
    </p:spTree>
    <p:extLst>
      <p:ext uri="{BB962C8B-B14F-4D97-AF65-F5344CB8AC3E}">
        <p14:creationId xmlns:p14="http://schemas.microsoft.com/office/powerpoint/2010/main" val="3530433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33BF5EE-7430-C6BC-EB32-57A0215BA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924" y="1050325"/>
            <a:ext cx="825431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78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1045</Words>
  <Application>Microsoft Office PowerPoint</Application>
  <PresentationFormat>Widescreen</PresentationFormat>
  <Paragraphs>164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GYNOCOLOGICAL DIAGNOSTIC TEST </vt:lpstr>
      <vt:lpstr>Colposcopy</vt:lpstr>
      <vt:lpstr>Purpose of Colposcopy</vt:lpstr>
      <vt:lpstr>Equipment Used</vt:lpstr>
      <vt:lpstr>Procedure of Colposcopy</vt:lpstr>
      <vt:lpstr>Findings During Colposcopy</vt:lpstr>
      <vt:lpstr>Advantages</vt:lpstr>
      <vt:lpstr>Indications</vt:lpstr>
      <vt:lpstr>Hysterosalpingography (HSG)</vt:lpstr>
      <vt:lpstr>Definition</vt:lpstr>
      <vt:lpstr>Purpose</vt:lpstr>
      <vt:lpstr>Procedure </vt:lpstr>
      <vt:lpstr>Findings</vt:lpstr>
      <vt:lpstr>Scrotal Ultrasonography (Scrotal USG)</vt:lpstr>
      <vt:lpstr>Definition</vt:lpstr>
      <vt:lpstr>PowerPoint Presentation</vt:lpstr>
      <vt:lpstr>Procedure</vt:lpstr>
      <vt:lpstr>Common Findings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debjani mukherjee</dc:creator>
  <cp:lastModifiedBy>debjani mukherjee</cp:lastModifiedBy>
  <cp:revision>2</cp:revision>
  <dcterms:created xsi:type="dcterms:W3CDTF">2026-06-09T04:50:54Z</dcterms:created>
  <dcterms:modified xsi:type="dcterms:W3CDTF">2026-06-09T11:55:36Z</dcterms:modified>
</cp:coreProperties>
</file>