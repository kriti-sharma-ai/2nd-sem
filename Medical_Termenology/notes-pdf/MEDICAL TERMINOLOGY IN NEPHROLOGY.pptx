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49515-F080-CC10-DA23-D329A12957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CF6136E-DCDD-02CD-82CD-398F6CA2B2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9474C40-D13C-4B96-95DA-CBC978A327B4}"/>
              </a:ext>
            </a:extLst>
          </p:cNvPr>
          <p:cNvSpPr>
            <a:spLocks noGrp="1"/>
          </p:cNvSpPr>
          <p:nvPr>
            <p:ph type="dt" sz="half" idx="10"/>
          </p:nvPr>
        </p:nvSpPr>
        <p:spPr/>
        <p:txBody>
          <a:bodyPr/>
          <a:lstStyle/>
          <a:p>
            <a:fld id="{60B9DDDD-154B-4E2C-B61E-3393177AC358}" type="datetimeFigureOut">
              <a:rPr lang="en-IN" smtClean="0"/>
              <a:t>11-05-2023</a:t>
            </a:fld>
            <a:endParaRPr lang="en-IN"/>
          </a:p>
        </p:txBody>
      </p:sp>
      <p:sp>
        <p:nvSpPr>
          <p:cNvPr id="5" name="Footer Placeholder 4">
            <a:extLst>
              <a:ext uri="{FF2B5EF4-FFF2-40B4-BE49-F238E27FC236}">
                <a16:creationId xmlns:a16="http://schemas.microsoft.com/office/drawing/2014/main" id="{22E58E60-BF80-1A59-D69F-8CD3CF374A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738122-DFA2-317C-4DEE-228D8188FFFA}"/>
              </a:ext>
            </a:extLst>
          </p:cNvPr>
          <p:cNvSpPr>
            <a:spLocks noGrp="1"/>
          </p:cNvSpPr>
          <p:nvPr>
            <p:ph type="sldNum" sz="quarter" idx="12"/>
          </p:nvPr>
        </p:nvSpPr>
        <p:spPr/>
        <p:txBody>
          <a:bodyPr/>
          <a:lstStyle/>
          <a:p>
            <a:fld id="{A1D65D9D-5AE7-449D-876C-09ACD191F325}" type="slidenum">
              <a:rPr lang="en-IN" smtClean="0"/>
              <a:t>‹#›</a:t>
            </a:fld>
            <a:endParaRPr lang="en-IN"/>
          </a:p>
        </p:txBody>
      </p:sp>
    </p:spTree>
    <p:extLst>
      <p:ext uri="{BB962C8B-B14F-4D97-AF65-F5344CB8AC3E}">
        <p14:creationId xmlns:p14="http://schemas.microsoft.com/office/powerpoint/2010/main" val="477149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8DB84-4E60-D7ED-2A5E-2B02335C8FD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8398742-29BE-ECD9-AA29-797A2CC6FF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ECD2F3C-1E82-AA26-4A74-315BEE5E9310}"/>
              </a:ext>
            </a:extLst>
          </p:cNvPr>
          <p:cNvSpPr>
            <a:spLocks noGrp="1"/>
          </p:cNvSpPr>
          <p:nvPr>
            <p:ph type="dt" sz="half" idx="10"/>
          </p:nvPr>
        </p:nvSpPr>
        <p:spPr/>
        <p:txBody>
          <a:bodyPr/>
          <a:lstStyle/>
          <a:p>
            <a:fld id="{60B9DDDD-154B-4E2C-B61E-3393177AC358}" type="datetimeFigureOut">
              <a:rPr lang="en-IN" smtClean="0"/>
              <a:t>11-05-2023</a:t>
            </a:fld>
            <a:endParaRPr lang="en-IN"/>
          </a:p>
        </p:txBody>
      </p:sp>
      <p:sp>
        <p:nvSpPr>
          <p:cNvPr id="5" name="Footer Placeholder 4">
            <a:extLst>
              <a:ext uri="{FF2B5EF4-FFF2-40B4-BE49-F238E27FC236}">
                <a16:creationId xmlns:a16="http://schemas.microsoft.com/office/drawing/2014/main" id="{14FAA678-B6F4-4CFF-D19A-D8DB8CB033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95C922-D67F-5DB5-318E-39B3C0F69DA6}"/>
              </a:ext>
            </a:extLst>
          </p:cNvPr>
          <p:cNvSpPr>
            <a:spLocks noGrp="1"/>
          </p:cNvSpPr>
          <p:nvPr>
            <p:ph type="sldNum" sz="quarter" idx="12"/>
          </p:nvPr>
        </p:nvSpPr>
        <p:spPr/>
        <p:txBody>
          <a:bodyPr/>
          <a:lstStyle/>
          <a:p>
            <a:fld id="{A1D65D9D-5AE7-449D-876C-09ACD191F325}" type="slidenum">
              <a:rPr lang="en-IN" smtClean="0"/>
              <a:t>‹#›</a:t>
            </a:fld>
            <a:endParaRPr lang="en-IN"/>
          </a:p>
        </p:txBody>
      </p:sp>
    </p:spTree>
    <p:extLst>
      <p:ext uri="{BB962C8B-B14F-4D97-AF65-F5344CB8AC3E}">
        <p14:creationId xmlns:p14="http://schemas.microsoft.com/office/powerpoint/2010/main" val="3281145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91490-62B4-4858-DE37-1EC5014EE9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4A1714D-7724-B2A5-1AB7-225DB4F7FE9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CB33EB-255C-0B42-3774-671A5D260F5A}"/>
              </a:ext>
            </a:extLst>
          </p:cNvPr>
          <p:cNvSpPr>
            <a:spLocks noGrp="1"/>
          </p:cNvSpPr>
          <p:nvPr>
            <p:ph type="dt" sz="half" idx="10"/>
          </p:nvPr>
        </p:nvSpPr>
        <p:spPr/>
        <p:txBody>
          <a:bodyPr/>
          <a:lstStyle/>
          <a:p>
            <a:fld id="{60B9DDDD-154B-4E2C-B61E-3393177AC358}" type="datetimeFigureOut">
              <a:rPr lang="en-IN" smtClean="0"/>
              <a:t>11-05-2023</a:t>
            </a:fld>
            <a:endParaRPr lang="en-IN"/>
          </a:p>
        </p:txBody>
      </p:sp>
      <p:sp>
        <p:nvSpPr>
          <p:cNvPr id="5" name="Footer Placeholder 4">
            <a:extLst>
              <a:ext uri="{FF2B5EF4-FFF2-40B4-BE49-F238E27FC236}">
                <a16:creationId xmlns:a16="http://schemas.microsoft.com/office/drawing/2014/main" id="{DA4C9DB2-F1AD-871C-F228-6F3B487D0C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F56C82-6085-5985-63A8-47E048BAF7D8}"/>
              </a:ext>
            </a:extLst>
          </p:cNvPr>
          <p:cNvSpPr>
            <a:spLocks noGrp="1"/>
          </p:cNvSpPr>
          <p:nvPr>
            <p:ph type="sldNum" sz="quarter" idx="12"/>
          </p:nvPr>
        </p:nvSpPr>
        <p:spPr/>
        <p:txBody>
          <a:bodyPr/>
          <a:lstStyle/>
          <a:p>
            <a:fld id="{A1D65D9D-5AE7-449D-876C-09ACD191F325}" type="slidenum">
              <a:rPr lang="en-IN" smtClean="0"/>
              <a:t>‹#›</a:t>
            </a:fld>
            <a:endParaRPr lang="en-IN"/>
          </a:p>
        </p:txBody>
      </p:sp>
    </p:spTree>
    <p:extLst>
      <p:ext uri="{BB962C8B-B14F-4D97-AF65-F5344CB8AC3E}">
        <p14:creationId xmlns:p14="http://schemas.microsoft.com/office/powerpoint/2010/main" val="489718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04ACB-9F2D-E135-2A1E-6EF665AAECC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95E65A-F735-C80E-5CDB-4ACF3256E63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0713E52-4E4F-362D-057B-DBA9E5A26E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703BC5F-51D6-DBE1-9FD8-E7A10EC3640B}"/>
              </a:ext>
            </a:extLst>
          </p:cNvPr>
          <p:cNvSpPr>
            <a:spLocks noGrp="1"/>
          </p:cNvSpPr>
          <p:nvPr>
            <p:ph type="dt" sz="half" idx="10"/>
          </p:nvPr>
        </p:nvSpPr>
        <p:spPr/>
        <p:txBody>
          <a:bodyPr/>
          <a:lstStyle/>
          <a:p>
            <a:fld id="{60B9DDDD-154B-4E2C-B61E-3393177AC358}" type="datetimeFigureOut">
              <a:rPr lang="en-IN" smtClean="0"/>
              <a:t>11-05-2023</a:t>
            </a:fld>
            <a:endParaRPr lang="en-IN"/>
          </a:p>
        </p:txBody>
      </p:sp>
      <p:sp>
        <p:nvSpPr>
          <p:cNvPr id="6" name="Footer Placeholder 5">
            <a:extLst>
              <a:ext uri="{FF2B5EF4-FFF2-40B4-BE49-F238E27FC236}">
                <a16:creationId xmlns:a16="http://schemas.microsoft.com/office/drawing/2014/main" id="{980FE3EF-2154-F6F3-9BB1-6BD03BFE054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2140404-C97B-3CFC-1381-52290504DFDE}"/>
              </a:ext>
            </a:extLst>
          </p:cNvPr>
          <p:cNvSpPr>
            <a:spLocks noGrp="1"/>
          </p:cNvSpPr>
          <p:nvPr>
            <p:ph type="sldNum" sz="quarter" idx="12"/>
          </p:nvPr>
        </p:nvSpPr>
        <p:spPr/>
        <p:txBody>
          <a:bodyPr/>
          <a:lstStyle/>
          <a:p>
            <a:fld id="{A1D65D9D-5AE7-449D-876C-09ACD191F325}" type="slidenum">
              <a:rPr lang="en-IN" smtClean="0"/>
              <a:t>‹#›</a:t>
            </a:fld>
            <a:endParaRPr lang="en-IN"/>
          </a:p>
        </p:txBody>
      </p:sp>
    </p:spTree>
    <p:extLst>
      <p:ext uri="{BB962C8B-B14F-4D97-AF65-F5344CB8AC3E}">
        <p14:creationId xmlns:p14="http://schemas.microsoft.com/office/powerpoint/2010/main" val="122508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3D9CD-5F0B-FF41-F66D-75B2557F8F8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38CE3DF-B60A-7D68-1628-3AAED14A33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43A415-A649-219C-8C64-099532D96ED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E9FC1F4-B3BC-4A68-D5D8-9CD524B866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631871-50BC-926C-99D9-572C9F9785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5FAE588-3F51-C9B4-184E-65F268F04CB1}"/>
              </a:ext>
            </a:extLst>
          </p:cNvPr>
          <p:cNvSpPr>
            <a:spLocks noGrp="1"/>
          </p:cNvSpPr>
          <p:nvPr>
            <p:ph type="dt" sz="half" idx="10"/>
          </p:nvPr>
        </p:nvSpPr>
        <p:spPr/>
        <p:txBody>
          <a:bodyPr/>
          <a:lstStyle/>
          <a:p>
            <a:fld id="{60B9DDDD-154B-4E2C-B61E-3393177AC358}" type="datetimeFigureOut">
              <a:rPr lang="en-IN" smtClean="0"/>
              <a:t>11-05-2023</a:t>
            </a:fld>
            <a:endParaRPr lang="en-IN"/>
          </a:p>
        </p:txBody>
      </p:sp>
      <p:sp>
        <p:nvSpPr>
          <p:cNvPr id="8" name="Footer Placeholder 7">
            <a:extLst>
              <a:ext uri="{FF2B5EF4-FFF2-40B4-BE49-F238E27FC236}">
                <a16:creationId xmlns:a16="http://schemas.microsoft.com/office/drawing/2014/main" id="{2C43BB4C-F58B-1E95-03E6-EAB80E32520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A1A919B-87F9-0F90-B6C1-B7E457E46E51}"/>
              </a:ext>
            </a:extLst>
          </p:cNvPr>
          <p:cNvSpPr>
            <a:spLocks noGrp="1"/>
          </p:cNvSpPr>
          <p:nvPr>
            <p:ph type="sldNum" sz="quarter" idx="12"/>
          </p:nvPr>
        </p:nvSpPr>
        <p:spPr/>
        <p:txBody>
          <a:bodyPr/>
          <a:lstStyle/>
          <a:p>
            <a:fld id="{A1D65D9D-5AE7-449D-876C-09ACD191F325}" type="slidenum">
              <a:rPr lang="en-IN" smtClean="0"/>
              <a:t>‹#›</a:t>
            </a:fld>
            <a:endParaRPr lang="en-IN"/>
          </a:p>
        </p:txBody>
      </p:sp>
    </p:spTree>
    <p:extLst>
      <p:ext uri="{BB962C8B-B14F-4D97-AF65-F5344CB8AC3E}">
        <p14:creationId xmlns:p14="http://schemas.microsoft.com/office/powerpoint/2010/main" val="3164861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48C9D-6339-DFD5-C1CE-116CE7DE700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A0C2AA6-1F60-11BC-6898-DD212F9538CB}"/>
              </a:ext>
            </a:extLst>
          </p:cNvPr>
          <p:cNvSpPr>
            <a:spLocks noGrp="1"/>
          </p:cNvSpPr>
          <p:nvPr>
            <p:ph type="dt" sz="half" idx="10"/>
          </p:nvPr>
        </p:nvSpPr>
        <p:spPr/>
        <p:txBody>
          <a:bodyPr/>
          <a:lstStyle/>
          <a:p>
            <a:fld id="{60B9DDDD-154B-4E2C-B61E-3393177AC358}" type="datetimeFigureOut">
              <a:rPr lang="en-IN" smtClean="0"/>
              <a:t>11-05-2023</a:t>
            </a:fld>
            <a:endParaRPr lang="en-IN"/>
          </a:p>
        </p:txBody>
      </p:sp>
      <p:sp>
        <p:nvSpPr>
          <p:cNvPr id="4" name="Footer Placeholder 3">
            <a:extLst>
              <a:ext uri="{FF2B5EF4-FFF2-40B4-BE49-F238E27FC236}">
                <a16:creationId xmlns:a16="http://schemas.microsoft.com/office/drawing/2014/main" id="{BB746DF0-0CDB-FBDC-71E3-00E8F1F1725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71969CF-04FA-65D4-2E5B-95E11E112883}"/>
              </a:ext>
            </a:extLst>
          </p:cNvPr>
          <p:cNvSpPr>
            <a:spLocks noGrp="1"/>
          </p:cNvSpPr>
          <p:nvPr>
            <p:ph type="sldNum" sz="quarter" idx="12"/>
          </p:nvPr>
        </p:nvSpPr>
        <p:spPr/>
        <p:txBody>
          <a:bodyPr/>
          <a:lstStyle/>
          <a:p>
            <a:fld id="{A1D65D9D-5AE7-449D-876C-09ACD191F325}" type="slidenum">
              <a:rPr lang="en-IN" smtClean="0"/>
              <a:t>‹#›</a:t>
            </a:fld>
            <a:endParaRPr lang="en-IN"/>
          </a:p>
        </p:txBody>
      </p:sp>
    </p:spTree>
    <p:extLst>
      <p:ext uri="{BB962C8B-B14F-4D97-AF65-F5344CB8AC3E}">
        <p14:creationId xmlns:p14="http://schemas.microsoft.com/office/powerpoint/2010/main" val="2369611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A045B2-E0DD-B58C-A6CB-B6C483DA5D1A}"/>
              </a:ext>
            </a:extLst>
          </p:cNvPr>
          <p:cNvSpPr>
            <a:spLocks noGrp="1"/>
          </p:cNvSpPr>
          <p:nvPr>
            <p:ph type="dt" sz="half" idx="10"/>
          </p:nvPr>
        </p:nvSpPr>
        <p:spPr/>
        <p:txBody>
          <a:bodyPr/>
          <a:lstStyle/>
          <a:p>
            <a:fld id="{60B9DDDD-154B-4E2C-B61E-3393177AC358}" type="datetimeFigureOut">
              <a:rPr lang="en-IN" smtClean="0"/>
              <a:t>11-05-2023</a:t>
            </a:fld>
            <a:endParaRPr lang="en-IN"/>
          </a:p>
        </p:txBody>
      </p:sp>
      <p:sp>
        <p:nvSpPr>
          <p:cNvPr id="3" name="Footer Placeholder 2">
            <a:extLst>
              <a:ext uri="{FF2B5EF4-FFF2-40B4-BE49-F238E27FC236}">
                <a16:creationId xmlns:a16="http://schemas.microsoft.com/office/drawing/2014/main" id="{11410110-5360-733B-36E3-77D1118703C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D42F3EE-4256-3615-4CA1-0C47FAF805BC}"/>
              </a:ext>
            </a:extLst>
          </p:cNvPr>
          <p:cNvSpPr>
            <a:spLocks noGrp="1"/>
          </p:cNvSpPr>
          <p:nvPr>
            <p:ph type="sldNum" sz="quarter" idx="12"/>
          </p:nvPr>
        </p:nvSpPr>
        <p:spPr/>
        <p:txBody>
          <a:bodyPr/>
          <a:lstStyle/>
          <a:p>
            <a:fld id="{A1D65D9D-5AE7-449D-876C-09ACD191F325}" type="slidenum">
              <a:rPr lang="en-IN" smtClean="0"/>
              <a:t>‹#›</a:t>
            </a:fld>
            <a:endParaRPr lang="en-IN"/>
          </a:p>
        </p:txBody>
      </p:sp>
    </p:spTree>
    <p:extLst>
      <p:ext uri="{BB962C8B-B14F-4D97-AF65-F5344CB8AC3E}">
        <p14:creationId xmlns:p14="http://schemas.microsoft.com/office/powerpoint/2010/main" val="2808989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D9954-DF91-A210-6FDC-6D7F188AA9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B2325C5-B73F-D200-1242-E945C5B108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E6A875C-B4B6-0DF5-F13D-9554D8719B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855678-E02A-E683-28FE-87CEE9801DFE}"/>
              </a:ext>
            </a:extLst>
          </p:cNvPr>
          <p:cNvSpPr>
            <a:spLocks noGrp="1"/>
          </p:cNvSpPr>
          <p:nvPr>
            <p:ph type="dt" sz="half" idx="10"/>
          </p:nvPr>
        </p:nvSpPr>
        <p:spPr/>
        <p:txBody>
          <a:bodyPr/>
          <a:lstStyle/>
          <a:p>
            <a:fld id="{60B9DDDD-154B-4E2C-B61E-3393177AC358}" type="datetimeFigureOut">
              <a:rPr lang="en-IN" smtClean="0"/>
              <a:t>11-05-2023</a:t>
            </a:fld>
            <a:endParaRPr lang="en-IN"/>
          </a:p>
        </p:txBody>
      </p:sp>
      <p:sp>
        <p:nvSpPr>
          <p:cNvPr id="6" name="Footer Placeholder 5">
            <a:extLst>
              <a:ext uri="{FF2B5EF4-FFF2-40B4-BE49-F238E27FC236}">
                <a16:creationId xmlns:a16="http://schemas.microsoft.com/office/drawing/2014/main" id="{E50C32E7-2CC9-FE91-A0E0-B2C4FD96C1F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0B27505-901B-4DFF-F693-0F39291201DA}"/>
              </a:ext>
            </a:extLst>
          </p:cNvPr>
          <p:cNvSpPr>
            <a:spLocks noGrp="1"/>
          </p:cNvSpPr>
          <p:nvPr>
            <p:ph type="sldNum" sz="quarter" idx="12"/>
          </p:nvPr>
        </p:nvSpPr>
        <p:spPr/>
        <p:txBody>
          <a:bodyPr/>
          <a:lstStyle/>
          <a:p>
            <a:fld id="{A1D65D9D-5AE7-449D-876C-09ACD191F325}" type="slidenum">
              <a:rPr lang="en-IN" smtClean="0"/>
              <a:t>‹#›</a:t>
            </a:fld>
            <a:endParaRPr lang="en-IN"/>
          </a:p>
        </p:txBody>
      </p:sp>
    </p:spTree>
    <p:extLst>
      <p:ext uri="{BB962C8B-B14F-4D97-AF65-F5344CB8AC3E}">
        <p14:creationId xmlns:p14="http://schemas.microsoft.com/office/powerpoint/2010/main" val="903570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CE49B-3B93-DD26-5DD4-3F0FDD1C87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5685F78-31E7-83BA-329F-974EDD7E55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095E9DE-6EBD-450B-39E1-73789C8CAE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838C01-6B95-3857-D2CC-BD2C92F3E0E4}"/>
              </a:ext>
            </a:extLst>
          </p:cNvPr>
          <p:cNvSpPr>
            <a:spLocks noGrp="1"/>
          </p:cNvSpPr>
          <p:nvPr>
            <p:ph type="dt" sz="half" idx="10"/>
          </p:nvPr>
        </p:nvSpPr>
        <p:spPr/>
        <p:txBody>
          <a:bodyPr/>
          <a:lstStyle/>
          <a:p>
            <a:fld id="{60B9DDDD-154B-4E2C-B61E-3393177AC358}" type="datetimeFigureOut">
              <a:rPr lang="en-IN" smtClean="0"/>
              <a:t>11-05-2023</a:t>
            </a:fld>
            <a:endParaRPr lang="en-IN"/>
          </a:p>
        </p:txBody>
      </p:sp>
      <p:sp>
        <p:nvSpPr>
          <p:cNvPr id="6" name="Footer Placeholder 5">
            <a:extLst>
              <a:ext uri="{FF2B5EF4-FFF2-40B4-BE49-F238E27FC236}">
                <a16:creationId xmlns:a16="http://schemas.microsoft.com/office/drawing/2014/main" id="{D6CD8E41-72B1-A136-F558-34DFA888EB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95E0F93-DC7A-A635-F53A-153EA34B45FB}"/>
              </a:ext>
            </a:extLst>
          </p:cNvPr>
          <p:cNvSpPr>
            <a:spLocks noGrp="1"/>
          </p:cNvSpPr>
          <p:nvPr>
            <p:ph type="sldNum" sz="quarter" idx="12"/>
          </p:nvPr>
        </p:nvSpPr>
        <p:spPr/>
        <p:txBody>
          <a:bodyPr/>
          <a:lstStyle/>
          <a:p>
            <a:fld id="{A1D65D9D-5AE7-449D-876C-09ACD191F325}" type="slidenum">
              <a:rPr lang="en-IN" smtClean="0"/>
              <a:t>‹#›</a:t>
            </a:fld>
            <a:endParaRPr lang="en-IN"/>
          </a:p>
        </p:txBody>
      </p:sp>
    </p:spTree>
    <p:extLst>
      <p:ext uri="{BB962C8B-B14F-4D97-AF65-F5344CB8AC3E}">
        <p14:creationId xmlns:p14="http://schemas.microsoft.com/office/powerpoint/2010/main" val="2058388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71149-27D8-6B82-577E-643E0299FCC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C107D83-F9BC-03B4-59C6-2F6F7124B7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529CF9-AAF5-4AFE-ED94-44C6B73A252A}"/>
              </a:ext>
            </a:extLst>
          </p:cNvPr>
          <p:cNvSpPr>
            <a:spLocks noGrp="1"/>
          </p:cNvSpPr>
          <p:nvPr>
            <p:ph type="dt" sz="half" idx="10"/>
          </p:nvPr>
        </p:nvSpPr>
        <p:spPr/>
        <p:txBody>
          <a:bodyPr/>
          <a:lstStyle/>
          <a:p>
            <a:fld id="{60B9DDDD-154B-4E2C-B61E-3393177AC358}" type="datetimeFigureOut">
              <a:rPr lang="en-IN" smtClean="0"/>
              <a:t>11-05-2023</a:t>
            </a:fld>
            <a:endParaRPr lang="en-IN"/>
          </a:p>
        </p:txBody>
      </p:sp>
      <p:sp>
        <p:nvSpPr>
          <p:cNvPr id="5" name="Footer Placeholder 4">
            <a:extLst>
              <a:ext uri="{FF2B5EF4-FFF2-40B4-BE49-F238E27FC236}">
                <a16:creationId xmlns:a16="http://schemas.microsoft.com/office/drawing/2014/main" id="{18D04F31-F816-BC43-F384-78F5B071E9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69E560-BE5F-36B3-F24E-D1FF3229BF6B}"/>
              </a:ext>
            </a:extLst>
          </p:cNvPr>
          <p:cNvSpPr>
            <a:spLocks noGrp="1"/>
          </p:cNvSpPr>
          <p:nvPr>
            <p:ph type="sldNum" sz="quarter" idx="12"/>
          </p:nvPr>
        </p:nvSpPr>
        <p:spPr/>
        <p:txBody>
          <a:bodyPr/>
          <a:lstStyle/>
          <a:p>
            <a:fld id="{A1D65D9D-5AE7-449D-876C-09ACD191F325}" type="slidenum">
              <a:rPr lang="en-IN" smtClean="0"/>
              <a:t>‹#›</a:t>
            </a:fld>
            <a:endParaRPr lang="en-IN"/>
          </a:p>
        </p:txBody>
      </p:sp>
    </p:spTree>
    <p:extLst>
      <p:ext uri="{BB962C8B-B14F-4D97-AF65-F5344CB8AC3E}">
        <p14:creationId xmlns:p14="http://schemas.microsoft.com/office/powerpoint/2010/main" val="1352376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0A63B9-4053-A1D8-BF1C-3FDE90DC67F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DBE38BC-3743-13B4-06DA-A4355ED8DD5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64EF99-F278-7B31-2930-07CF8EF1510D}"/>
              </a:ext>
            </a:extLst>
          </p:cNvPr>
          <p:cNvSpPr>
            <a:spLocks noGrp="1"/>
          </p:cNvSpPr>
          <p:nvPr>
            <p:ph type="dt" sz="half" idx="10"/>
          </p:nvPr>
        </p:nvSpPr>
        <p:spPr/>
        <p:txBody>
          <a:bodyPr/>
          <a:lstStyle/>
          <a:p>
            <a:fld id="{60B9DDDD-154B-4E2C-B61E-3393177AC358}" type="datetimeFigureOut">
              <a:rPr lang="en-IN" smtClean="0"/>
              <a:t>11-05-2023</a:t>
            </a:fld>
            <a:endParaRPr lang="en-IN"/>
          </a:p>
        </p:txBody>
      </p:sp>
      <p:sp>
        <p:nvSpPr>
          <p:cNvPr id="5" name="Footer Placeholder 4">
            <a:extLst>
              <a:ext uri="{FF2B5EF4-FFF2-40B4-BE49-F238E27FC236}">
                <a16:creationId xmlns:a16="http://schemas.microsoft.com/office/drawing/2014/main" id="{93D15435-E8F8-80BA-15E5-7CFFFAB0F9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391914-9CE6-D995-4268-6CDC092A11B8}"/>
              </a:ext>
            </a:extLst>
          </p:cNvPr>
          <p:cNvSpPr>
            <a:spLocks noGrp="1"/>
          </p:cNvSpPr>
          <p:nvPr>
            <p:ph type="sldNum" sz="quarter" idx="12"/>
          </p:nvPr>
        </p:nvSpPr>
        <p:spPr/>
        <p:txBody>
          <a:bodyPr/>
          <a:lstStyle/>
          <a:p>
            <a:fld id="{A1D65D9D-5AE7-449D-876C-09ACD191F325}" type="slidenum">
              <a:rPr lang="en-IN" smtClean="0"/>
              <a:t>‹#›</a:t>
            </a:fld>
            <a:endParaRPr lang="en-IN"/>
          </a:p>
        </p:txBody>
      </p:sp>
    </p:spTree>
    <p:extLst>
      <p:ext uri="{BB962C8B-B14F-4D97-AF65-F5344CB8AC3E}">
        <p14:creationId xmlns:p14="http://schemas.microsoft.com/office/powerpoint/2010/main" val="105789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2ABF13-61DD-1D4C-E33F-BF42FBB6D7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7E057B8-2DF5-F998-1B47-ABA122E32A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56B0C4-A24B-D3A0-E033-67E4ED6D2A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B9DDDD-154B-4E2C-B61E-3393177AC358}" type="datetimeFigureOut">
              <a:rPr lang="en-IN" smtClean="0"/>
              <a:t>11-05-2023</a:t>
            </a:fld>
            <a:endParaRPr lang="en-IN"/>
          </a:p>
        </p:txBody>
      </p:sp>
      <p:sp>
        <p:nvSpPr>
          <p:cNvPr id="5" name="Footer Placeholder 4">
            <a:extLst>
              <a:ext uri="{FF2B5EF4-FFF2-40B4-BE49-F238E27FC236}">
                <a16:creationId xmlns:a16="http://schemas.microsoft.com/office/drawing/2014/main" id="{43A59F98-AD6C-A2FE-6F54-A4AC641F30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F03096E-558F-A989-B5B7-65231406EE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D65D9D-5AE7-449D-876C-09ACD191F325}" type="slidenum">
              <a:rPr lang="en-IN" smtClean="0"/>
              <a:t>‹#›</a:t>
            </a:fld>
            <a:endParaRPr lang="en-IN"/>
          </a:p>
        </p:txBody>
      </p:sp>
    </p:spTree>
    <p:extLst>
      <p:ext uri="{BB962C8B-B14F-4D97-AF65-F5344CB8AC3E}">
        <p14:creationId xmlns:p14="http://schemas.microsoft.com/office/powerpoint/2010/main" val="36966707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ABAA0-DE34-B375-ECE3-FB528E2F337E}"/>
              </a:ext>
            </a:extLst>
          </p:cNvPr>
          <p:cNvSpPr>
            <a:spLocks noGrp="1"/>
          </p:cNvSpPr>
          <p:nvPr>
            <p:ph type="ctrTitle"/>
          </p:nvPr>
        </p:nvSpPr>
        <p:spPr/>
        <p:txBody>
          <a:bodyPr/>
          <a:lstStyle/>
          <a:p>
            <a:r>
              <a:rPr lang="en-IN" dirty="0"/>
              <a:t>MEDICAL TERMINOLOGY FOR NEPHROLOGY</a:t>
            </a:r>
          </a:p>
        </p:txBody>
      </p:sp>
      <p:sp>
        <p:nvSpPr>
          <p:cNvPr id="3" name="Subtitle 2">
            <a:extLst>
              <a:ext uri="{FF2B5EF4-FFF2-40B4-BE49-F238E27FC236}">
                <a16:creationId xmlns:a16="http://schemas.microsoft.com/office/drawing/2014/main" id="{21BE869C-0B8C-E70C-1E1B-9E2D4129ED6A}"/>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33407521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A48EF-CB4A-02D9-E806-324407173C0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6DF122A-2B1A-2270-72D2-9D48E08740B2}"/>
              </a:ext>
            </a:extLst>
          </p:cNvPr>
          <p:cNvSpPr>
            <a:spLocks noGrp="1"/>
          </p:cNvSpPr>
          <p:nvPr>
            <p:ph idx="1"/>
          </p:nvPr>
        </p:nvSpPr>
        <p:spPr/>
        <p:txBody>
          <a:bodyPr>
            <a:normAutofit lnSpcReduction="10000"/>
          </a:bodyPr>
          <a:lstStyle/>
          <a:p>
            <a:r>
              <a:rPr lang="en-US" b="1" i="0" dirty="0">
                <a:solidFill>
                  <a:srgbClr val="333333"/>
                </a:solidFill>
                <a:effectLst/>
                <a:latin typeface="Roboto" panose="02000000000000000000" pitchFamily="2" charset="0"/>
              </a:rPr>
              <a:t>Acute kidney injury (AKI) -</a:t>
            </a:r>
            <a:r>
              <a:rPr lang="en-US" b="0" i="0" dirty="0">
                <a:solidFill>
                  <a:srgbClr val="333333"/>
                </a:solidFill>
                <a:effectLst/>
                <a:latin typeface="Roboto" panose="02000000000000000000" pitchFamily="2" charset="0"/>
              </a:rPr>
              <a:t> Is a sudden and recent reduction in the level of kidney function.</a:t>
            </a:r>
          </a:p>
          <a:p>
            <a:r>
              <a:rPr lang="en-US" b="1" i="0" dirty="0">
                <a:solidFill>
                  <a:srgbClr val="333333"/>
                </a:solidFill>
                <a:effectLst/>
                <a:latin typeface="Roboto" panose="02000000000000000000" pitchFamily="2" charset="0"/>
              </a:rPr>
              <a:t>Albumin</a:t>
            </a:r>
            <a:r>
              <a:rPr lang="en-US" b="0" i="0" dirty="0">
                <a:solidFill>
                  <a:srgbClr val="333333"/>
                </a:solidFill>
                <a:effectLst/>
                <a:latin typeface="Roboto" panose="02000000000000000000" pitchFamily="2" charset="0"/>
              </a:rPr>
              <a:t> A type of protein that occurs in the blood.</a:t>
            </a:r>
            <a:endParaRPr lang="en-US" dirty="0">
              <a:solidFill>
                <a:srgbClr val="333333"/>
              </a:solidFill>
              <a:latin typeface="Roboto" panose="02000000000000000000" pitchFamily="2" charset="0"/>
            </a:endParaRPr>
          </a:p>
          <a:p>
            <a:r>
              <a:rPr lang="en-US" b="1" i="0" dirty="0">
                <a:solidFill>
                  <a:srgbClr val="333333"/>
                </a:solidFill>
                <a:effectLst/>
                <a:latin typeface="Roboto" panose="02000000000000000000" pitchFamily="2" charset="0"/>
              </a:rPr>
              <a:t>Altruistic donor</a:t>
            </a:r>
            <a:r>
              <a:rPr lang="en-US" b="0" i="0" dirty="0">
                <a:solidFill>
                  <a:srgbClr val="333333"/>
                </a:solidFill>
                <a:effectLst/>
                <a:latin typeface="Roboto" panose="02000000000000000000" pitchFamily="2" charset="0"/>
              </a:rPr>
              <a:t>. A kidney donor who gives a kidney for no material reward. This may be a family member, but may also include a living donor who gives a transplant to someone they have never met.</a:t>
            </a:r>
          </a:p>
          <a:p>
            <a:r>
              <a:rPr lang="en-US" b="1" i="0" dirty="0">
                <a:solidFill>
                  <a:srgbClr val="333333"/>
                </a:solidFill>
                <a:effectLst/>
                <a:latin typeface="Roboto" panose="02000000000000000000" pitchFamily="2" charset="0"/>
              </a:rPr>
              <a:t>Altruistic donor</a:t>
            </a:r>
            <a:r>
              <a:rPr lang="en-US" b="0" i="0" dirty="0">
                <a:solidFill>
                  <a:srgbClr val="333333"/>
                </a:solidFill>
                <a:effectLst/>
                <a:latin typeface="Roboto" panose="02000000000000000000" pitchFamily="2" charset="0"/>
              </a:rPr>
              <a:t>. A kidney donor who gives a kidney for no material reward. This may be a family member, but may also include a living donor who gives a transplant to someone they have never met.</a:t>
            </a:r>
            <a:endParaRPr lang="en-IN" dirty="0"/>
          </a:p>
        </p:txBody>
      </p:sp>
    </p:spTree>
    <p:extLst>
      <p:ext uri="{BB962C8B-B14F-4D97-AF65-F5344CB8AC3E}">
        <p14:creationId xmlns:p14="http://schemas.microsoft.com/office/powerpoint/2010/main" val="3742244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2600F-3009-CA1F-E7F1-97665790AF5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F066E57-C0F2-60F4-0C27-7A4293AE2761}"/>
              </a:ext>
            </a:extLst>
          </p:cNvPr>
          <p:cNvSpPr>
            <a:spLocks noGrp="1"/>
          </p:cNvSpPr>
          <p:nvPr>
            <p:ph idx="1"/>
          </p:nvPr>
        </p:nvSpPr>
        <p:spPr/>
        <p:txBody>
          <a:bodyPr/>
          <a:lstStyle/>
          <a:p>
            <a:r>
              <a:rPr lang="en-US" b="1" i="0" dirty="0">
                <a:solidFill>
                  <a:srgbClr val="333333"/>
                </a:solidFill>
                <a:effectLst/>
                <a:latin typeface="Roboto" panose="02000000000000000000" pitchFamily="2" charset="0"/>
              </a:rPr>
              <a:t>Amyloid. </a:t>
            </a:r>
            <a:r>
              <a:rPr lang="en-US" b="0" i="0" dirty="0">
                <a:solidFill>
                  <a:srgbClr val="333333"/>
                </a:solidFill>
                <a:effectLst/>
                <a:latin typeface="Roboto" panose="02000000000000000000" pitchFamily="2" charset="0"/>
              </a:rPr>
              <a:t>Amyloidosis is the name for a group of rare, serious conditions caused by a build-up of an abnormal protein called amyloid in organs and tissues throughout the body.</a:t>
            </a:r>
          </a:p>
          <a:p>
            <a:r>
              <a:rPr lang="en-US" b="1" i="0" dirty="0">
                <a:solidFill>
                  <a:srgbClr val="333333"/>
                </a:solidFill>
                <a:effectLst/>
                <a:latin typeface="Roboto" panose="02000000000000000000" pitchFamily="2" charset="0"/>
              </a:rPr>
              <a:t>Antibodies</a:t>
            </a:r>
            <a:r>
              <a:rPr lang="en-US" b="0" i="0" dirty="0">
                <a:solidFill>
                  <a:srgbClr val="333333"/>
                </a:solidFill>
                <a:effectLst/>
                <a:latin typeface="Roboto" panose="02000000000000000000" pitchFamily="2" charset="0"/>
              </a:rPr>
              <a:t> Substances that normally help the body to fight infection. They are made by white blood cells. After a transplant, antibodies can attack the new kidney and cause rejection. Antibodies are also causes of kidney disease such as glomerulonephritis. Disorders of the bone marrow producing abnormal antibodies can cause amyloid and myeloma.</a:t>
            </a:r>
            <a:endParaRPr lang="en-IN" dirty="0"/>
          </a:p>
        </p:txBody>
      </p:sp>
    </p:spTree>
    <p:extLst>
      <p:ext uri="{BB962C8B-B14F-4D97-AF65-F5344CB8AC3E}">
        <p14:creationId xmlns:p14="http://schemas.microsoft.com/office/powerpoint/2010/main" val="21839158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B7624-BE12-11CE-BC49-7E2A1B72CFB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8A95645-10B1-BBA3-8FAA-315D2A09E5CA}"/>
              </a:ext>
            </a:extLst>
          </p:cNvPr>
          <p:cNvSpPr>
            <a:spLocks noGrp="1"/>
          </p:cNvSpPr>
          <p:nvPr>
            <p:ph idx="1"/>
          </p:nvPr>
        </p:nvSpPr>
        <p:spPr/>
        <p:txBody>
          <a:bodyPr/>
          <a:lstStyle/>
          <a:p>
            <a:r>
              <a:rPr lang="en-US" b="1" i="0" dirty="0">
                <a:solidFill>
                  <a:srgbClr val="333333"/>
                </a:solidFill>
                <a:effectLst/>
                <a:latin typeface="Roboto" panose="02000000000000000000" pitchFamily="2" charset="0"/>
              </a:rPr>
              <a:t>Antigen</a:t>
            </a:r>
            <a:r>
              <a:rPr lang="en-US" b="0" i="0" dirty="0">
                <a:solidFill>
                  <a:srgbClr val="333333"/>
                </a:solidFill>
                <a:effectLst/>
                <a:latin typeface="Roboto" panose="02000000000000000000" pitchFamily="2" charset="0"/>
              </a:rPr>
              <a:t> A substance, usually a protein, that is </a:t>
            </a:r>
            <a:r>
              <a:rPr lang="en-US" b="0" i="0" dirty="0" err="1">
                <a:solidFill>
                  <a:srgbClr val="333333"/>
                </a:solidFill>
                <a:effectLst/>
                <a:latin typeface="Roboto" panose="02000000000000000000" pitchFamily="2" charset="0"/>
              </a:rPr>
              <a:t>recognised</a:t>
            </a:r>
            <a:r>
              <a:rPr lang="en-US" b="0" i="0" dirty="0">
                <a:solidFill>
                  <a:srgbClr val="333333"/>
                </a:solidFill>
                <a:effectLst/>
                <a:latin typeface="Roboto" panose="02000000000000000000" pitchFamily="2" charset="0"/>
              </a:rPr>
              <a:t> by the immune system (the body's natural </a:t>
            </a:r>
            <a:r>
              <a:rPr lang="en-US" b="0" i="0" dirty="0" err="1">
                <a:solidFill>
                  <a:srgbClr val="333333"/>
                </a:solidFill>
                <a:effectLst/>
                <a:latin typeface="Roboto" panose="02000000000000000000" pitchFamily="2" charset="0"/>
              </a:rPr>
              <a:t>defence</a:t>
            </a:r>
            <a:r>
              <a:rPr lang="en-US" b="0" i="0" dirty="0">
                <a:solidFill>
                  <a:srgbClr val="333333"/>
                </a:solidFill>
                <a:effectLst/>
                <a:latin typeface="Roboto" panose="02000000000000000000" pitchFamily="2" charset="0"/>
              </a:rPr>
              <a:t> system). The body is programmed not to react to antigens from its own cells, but should react vigorously to antigens from bacteria and other invaders. Sometimes the body will react to 'self-antigen', and this can cause some types of kidney disease. Proteins from other people may be </a:t>
            </a:r>
            <a:r>
              <a:rPr lang="en-US" b="0" i="0" dirty="0" err="1">
                <a:solidFill>
                  <a:srgbClr val="333333"/>
                </a:solidFill>
                <a:effectLst/>
                <a:latin typeface="Roboto" panose="02000000000000000000" pitchFamily="2" charset="0"/>
              </a:rPr>
              <a:t>recognised</a:t>
            </a:r>
            <a:r>
              <a:rPr lang="en-US" b="0" i="0" dirty="0">
                <a:solidFill>
                  <a:srgbClr val="333333"/>
                </a:solidFill>
                <a:effectLst/>
                <a:latin typeface="Roboto" panose="02000000000000000000" pitchFamily="2" charset="0"/>
              </a:rPr>
              <a:t> as antigens, and this leads to transplant rejection.</a:t>
            </a:r>
          </a:p>
          <a:p>
            <a:r>
              <a:rPr lang="en-US" b="1" i="0" dirty="0">
                <a:solidFill>
                  <a:srgbClr val="333333"/>
                </a:solidFill>
                <a:effectLst/>
                <a:latin typeface="Roboto" panose="02000000000000000000" pitchFamily="2" charset="0"/>
              </a:rPr>
              <a:t>Artificial kidney</a:t>
            </a:r>
            <a:r>
              <a:rPr lang="en-US" b="0" i="0" dirty="0">
                <a:solidFill>
                  <a:srgbClr val="333333"/>
                </a:solidFill>
                <a:effectLst/>
                <a:latin typeface="Roboto" panose="02000000000000000000" pitchFamily="2" charset="0"/>
              </a:rPr>
              <a:t> Another name for the </a:t>
            </a:r>
            <a:r>
              <a:rPr lang="en-US" b="0" i="0" dirty="0" err="1">
                <a:solidFill>
                  <a:srgbClr val="333333"/>
                </a:solidFill>
                <a:effectLst/>
                <a:latin typeface="Roboto" panose="02000000000000000000" pitchFamily="2" charset="0"/>
              </a:rPr>
              <a:t>dialyser</a:t>
            </a:r>
            <a:r>
              <a:rPr lang="en-US" b="0" i="0" dirty="0">
                <a:solidFill>
                  <a:srgbClr val="333333"/>
                </a:solidFill>
                <a:effectLst/>
                <a:latin typeface="Roboto" panose="02000000000000000000" pitchFamily="2" charset="0"/>
              </a:rPr>
              <a:t> or filtering unit of a dialysis machine.</a:t>
            </a:r>
            <a:endParaRPr lang="en-IN" dirty="0"/>
          </a:p>
        </p:txBody>
      </p:sp>
    </p:spTree>
    <p:extLst>
      <p:ext uri="{BB962C8B-B14F-4D97-AF65-F5344CB8AC3E}">
        <p14:creationId xmlns:p14="http://schemas.microsoft.com/office/powerpoint/2010/main" val="2990243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8C738-FF9F-E52F-D90B-3E8FCB7B3A0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E5DA316-EA38-E30B-E4D5-84DE0767936C}"/>
              </a:ext>
            </a:extLst>
          </p:cNvPr>
          <p:cNvSpPr>
            <a:spLocks noGrp="1"/>
          </p:cNvSpPr>
          <p:nvPr>
            <p:ph idx="1"/>
          </p:nvPr>
        </p:nvSpPr>
        <p:spPr/>
        <p:txBody>
          <a:bodyPr/>
          <a:lstStyle/>
          <a:p>
            <a:r>
              <a:rPr lang="en-US" b="1" i="0" dirty="0">
                <a:solidFill>
                  <a:srgbClr val="333333"/>
                </a:solidFill>
                <a:effectLst/>
                <a:latin typeface="Roboto" panose="02000000000000000000" pitchFamily="2" charset="0"/>
              </a:rPr>
              <a:t>APD</a:t>
            </a:r>
            <a:r>
              <a:rPr lang="en-US" b="0" i="0" dirty="0">
                <a:solidFill>
                  <a:srgbClr val="333333"/>
                </a:solidFill>
                <a:effectLst/>
                <a:latin typeface="Roboto" panose="02000000000000000000" pitchFamily="2" charset="0"/>
              </a:rPr>
              <a:t> Abbreviation for automated peritoneal dialysis. A form of peritoneal dialysis that uses a machine to drain the dialysis fluid out of the patient and replace it with fresh solution. APD is usually carried out overnight whilst the patient sleeps. Also known as CCPD.</a:t>
            </a:r>
          </a:p>
          <a:p>
            <a:r>
              <a:rPr lang="en-US" b="1" i="0" dirty="0">
                <a:solidFill>
                  <a:srgbClr val="333333"/>
                </a:solidFill>
                <a:effectLst/>
                <a:latin typeface="Roboto" panose="02000000000000000000" pitchFamily="2" charset="0"/>
              </a:rPr>
              <a:t>ATG</a:t>
            </a:r>
            <a:r>
              <a:rPr lang="en-US" b="0" i="0" dirty="0">
                <a:solidFill>
                  <a:srgbClr val="333333"/>
                </a:solidFill>
                <a:effectLst/>
                <a:latin typeface="Roboto" panose="02000000000000000000" pitchFamily="2" charset="0"/>
              </a:rPr>
              <a:t> Abbreviation for anti-thymocyte globulin, a strong treatment against the rejection of a transplant kidney.</a:t>
            </a:r>
            <a:endParaRPr lang="en-US" dirty="0">
              <a:solidFill>
                <a:srgbClr val="333333"/>
              </a:solidFill>
              <a:latin typeface="Roboto" panose="02000000000000000000" pitchFamily="2" charset="0"/>
            </a:endParaRPr>
          </a:p>
          <a:p>
            <a:r>
              <a:rPr lang="en-US" b="1" i="0" dirty="0">
                <a:solidFill>
                  <a:srgbClr val="333333"/>
                </a:solidFill>
                <a:effectLst/>
                <a:latin typeface="Roboto" panose="02000000000000000000" pitchFamily="2" charset="0"/>
              </a:rPr>
              <a:t>Bright's disease</a:t>
            </a:r>
            <a:r>
              <a:rPr lang="en-US" b="0" i="0" dirty="0">
                <a:solidFill>
                  <a:srgbClr val="333333"/>
                </a:solidFill>
                <a:effectLst/>
                <a:latin typeface="Roboto" panose="02000000000000000000" pitchFamily="2" charset="0"/>
              </a:rPr>
              <a:t> A name for glomerulonephritis. This term was used in the past before the different types of glomerulonephritis were given their own names.</a:t>
            </a:r>
            <a:endParaRPr lang="en-IN" dirty="0"/>
          </a:p>
        </p:txBody>
      </p:sp>
    </p:spTree>
    <p:extLst>
      <p:ext uri="{BB962C8B-B14F-4D97-AF65-F5344CB8AC3E}">
        <p14:creationId xmlns:p14="http://schemas.microsoft.com/office/powerpoint/2010/main" val="30979071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189DA-132F-D5C8-2EF9-CAA9E911608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AC3BF2C-2189-83D5-250C-564B84BAC689}"/>
              </a:ext>
            </a:extLst>
          </p:cNvPr>
          <p:cNvSpPr>
            <a:spLocks noGrp="1"/>
          </p:cNvSpPr>
          <p:nvPr>
            <p:ph idx="1"/>
          </p:nvPr>
        </p:nvSpPr>
        <p:spPr/>
        <p:txBody>
          <a:bodyPr>
            <a:normAutofit fontScale="92500"/>
          </a:bodyPr>
          <a:lstStyle/>
          <a:p>
            <a:r>
              <a:rPr lang="en-US" b="1" i="0" dirty="0">
                <a:solidFill>
                  <a:srgbClr val="333333"/>
                </a:solidFill>
                <a:effectLst/>
                <a:latin typeface="Roboto" panose="02000000000000000000" pitchFamily="2" charset="0"/>
              </a:rPr>
              <a:t>cadaveric transplant</a:t>
            </a:r>
            <a:r>
              <a:rPr lang="en-US" b="0" i="0" dirty="0">
                <a:solidFill>
                  <a:srgbClr val="333333"/>
                </a:solidFill>
                <a:effectLst/>
                <a:latin typeface="Roboto" panose="02000000000000000000" pitchFamily="2" charset="0"/>
              </a:rPr>
              <a:t> A transplant kidney removed from someone who has died.</a:t>
            </a:r>
          </a:p>
          <a:p>
            <a:r>
              <a:rPr lang="en-US" b="1" i="0" dirty="0">
                <a:solidFill>
                  <a:srgbClr val="333333"/>
                </a:solidFill>
                <a:effectLst/>
                <a:latin typeface="Roboto" panose="02000000000000000000" pitchFamily="2" charset="0"/>
              </a:rPr>
              <a:t>CAPD </a:t>
            </a:r>
            <a:r>
              <a:rPr lang="en-US" b="0" i="0" dirty="0">
                <a:solidFill>
                  <a:srgbClr val="333333"/>
                </a:solidFill>
                <a:effectLst/>
                <a:latin typeface="Roboto" panose="02000000000000000000" pitchFamily="2" charset="0"/>
              </a:rPr>
              <a:t>Abbreviation for continuous ambulatory peritoneal dialysis. A continuous form of PD in which patients perform the exchanges of dialysis fluid by hand. The fluid is usually exchanged four times during the day, and is left inside the patient overnight.</a:t>
            </a:r>
            <a:endParaRPr lang="en-US" dirty="0">
              <a:solidFill>
                <a:srgbClr val="333333"/>
              </a:solidFill>
              <a:latin typeface="Roboto" panose="02000000000000000000" pitchFamily="2" charset="0"/>
            </a:endParaRPr>
          </a:p>
          <a:p>
            <a:r>
              <a:rPr lang="en-US" b="1" i="0" dirty="0">
                <a:solidFill>
                  <a:srgbClr val="333333"/>
                </a:solidFill>
                <a:effectLst/>
                <a:latin typeface="Roboto" panose="02000000000000000000" pitchFamily="2" charset="0"/>
              </a:rPr>
              <a:t>CCPD</a:t>
            </a:r>
            <a:r>
              <a:rPr lang="en-US" b="0" i="0" dirty="0">
                <a:solidFill>
                  <a:srgbClr val="333333"/>
                </a:solidFill>
                <a:effectLst/>
                <a:latin typeface="Roboto" panose="02000000000000000000" pitchFamily="2" charset="0"/>
              </a:rPr>
              <a:t> Stands for "continuous cycling peritoneal dialysis." Similar to CAPD in that dialysis happens inside the body, using the peritoneal membrane as a filter. However, a machine performs the peritoneal dialysis solution exchanges in regular cycles usually during the night. Also generally known as Automated Peritoneal Dialysis (APD).</a:t>
            </a:r>
            <a:endParaRPr lang="en-IN" dirty="0"/>
          </a:p>
        </p:txBody>
      </p:sp>
    </p:spTree>
    <p:extLst>
      <p:ext uri="{BB962C8B-B14F-4D97-AF65-F5344CB8AC3E}">
        <p14:creationId xmlns:p14="http://schemas.microsoft.com/office/powerpoint/2010/main" val="1927743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098F9-0710-594A-80D6-2C674E13FC5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67313CD-86C8-E63E-D260-2A503F492D1C}"/>
              </a:ext>
            </a:extLst>
          </p:cNvPr>
          <p:cNvSpPr>
            <a:spLocks noGrp="1"/>
          </p:cNvSpPr>
          <p:nvPr>
            <p:ph idx="1"/>
          </p:nvPr>
        </p:nvSpPr>
        <p:spPr/>
        <p:txBody>
          <a:bodyPr/>
          <a:lstStyle/>
          <a:p>
            <a:pPr algn="l"/>
            <a:r>
              <a:rPr lang="en-US" b="1" i="0" dirty="0">
                <a:solidFill>
                  <a:srgbClr val="333333"/>
                </a:solidFill>
                <a:effectLst/>
                <a:latin typeface="Roboto" panose="02000000000000000000" pitchFamily="2" charset="0"/>
              </a:rPr>
              <a:t>CKD</a:t>
            </a:r>
            <a:r>
              <a:rPr lang="en-US" b="0" i="0" dirty="0">
                <a:solidFill>
                  <a:srgbClr val="333333"/>
                </a:solidFill>
                <a:effectLst/>
                <a:latin typeface="Roboto" panose="02000000000000000000" pitchFamily="2" charset="0"/>
              </a:rPr>
              <a:t> Abbreviation for chronic kidney disease. This is an abnormality in the kidneys that is present for more than 3 months, and is graded stages 1, 2, 3a, 3b, 4 and 5 for minor to severe kidney disease. </a:t>
            </a:r>
          </a:p>
          <a:p>
            <a:pPr algn="l"/>
            <a:r>
              <a:rPr lang="en-US" b="1" i="0" dirty="0">
                <a:solidFill>
                  <a:srgbClr val="333333"/>
                </a:solidFill>
                <a:effectLst/>
                <a:latin typeface="Roboto" panose="02000000000000000000" pitchFamily="2" charset="0"/>
              </a:rPr>
              <a:t>clearance</a:t>
            </a:r>
            <a:r>
              <a:rPr lang="en-US" b="0" i="0" dirty="0">
                <a:solidFill>
                  <a:srgbClr val="333333"/>
                </a:solidFill>
                <a:effectLst/>
                <a:latin typeface="Roboto" panose="02000000000000000000" pitchFamily="2" charset="0"/>
              </a:rPr>
              <a:t> The removal of the toxic waste products of food from the body. Clearance is one of the two main functions of the kidneys. In kidney failure, clearance is inadequate and toxins from food build up in the blood.</a:t>
            </a:r>
          </a:p>
          <a:p>
            <a:r>
              <a:rPr lang="en-US" b="1" i="0" dirty="0">
                <a:solidFill>
                  <a:srgbClr val="333333"/>
                </a:solidFill>
                <a:effectLst/>
                <a:latin typeface="Roboto" panose="02000000000000000000" pitchFamily="2" charset="0"/>
              </a:rPr>
              <a:t>cyclosporin</a:t>
            </a:r>
            <a:r>
              <a:rPr lang="en-US" b="0" i="0" dirty="0">
                <a:solidFill>
                  <a:srgbClr val="333333"/>
                </a:solidFill>
                <a:effectLst/>
                <a:latin typeface="Roboto" panose="02000000000000000000" pitchFamily="2" charset="0"/>
              </a:rPr>
              <a:t> An immuno-suppressant drug used to prevent the rejection of a transplant kidney.</a:t>
            </a:r>
            <a:endParaRPr lang="en-IN" dirty="0"/>
          </a:p>
        </p:txBody>
      </p:sp>
    </p:spTree>
    <p:extLst>
      <p:ext uri="{BB962C8B-B14F-4D97-AF65-F5344CB8AC3E}">
        <p14:creationId xmlns:p14="http://schemas.microsoft.com/office/powerpoint/2010/main" val="1700552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E4521-81E6-67E0-3B9C-ADAF684EACE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61B8ED9-5CBB-57CA-3970-90DB35E7426D}"/>
              </a:ext>
            </a:extLst>
          </p:cNvPr>
          <p:cNvSpPr>
            <a:spLocks noGrp="1"/>
          </p:cNvSpPr>
          <p:nvPr>
            <p:ph idx="1"/>
          </p:nvPr>
        </p:nvSpPr>
        <p:spPr/>
        <p:txBody>
          <a:bodyPr/>
          <a:lstStyle/>
          <a:p>
            <a:pPr algn="l"/>
            <a:r>
              <a:rPr lang="en-US" b="1" i="0" dirty="0">
                <a:solidFill>
                  <a:srgbClr val="333333"/>
                </a:solidFill>
                <a:effectLst/>
                <a:latin typeface="Roboto" panose="02000000000000000000" pitchFamily="2" charset="0"/>
              </a:rPr>
              <a:t>cystitis</a:t>
            </a:r>
            <a:r>
              <a:rPr lang="en-US" b="0" i="0" dirty="0">
                <a:solidFill>
                  <a:srgbClr val="333333"/>
                </a:solidFill>
                <a:effectLst/>
                <a:latin typeface="Roboto" panose="02000000000000000000" pitchFamily="2" charset="0"/>
              </a:rPr>
              <a:t> A type of infection that causes inflammation of the bladder.</a:t>
            </a:r>
          </a:p>
          <a:p>
            <a:pPr algn="l"/>
            <a:r>
              <a:rPr lang="en-US" b="1" i="0" dirty="0">
                <a:solidFill>
                  <a:srgbClr val="333333"/>
                </a:solidFill>
                <a:effectLst/>
                <a:latin typeface="Roboto" panose="02000000000000000000" pitchFamily="2" charset="0"/>
              </a:rPr>
              <a:t>cytomegalovirus (CMV)</a:t>
            </a:r>
            <a:r>
              <a:rPr lang="en-US" b="0" i="0" dirty="0">
                <a:solidFill>
                  <a:srgbClr val="333333"/>
                </a:solidFill>
                <a:effectLst/>
                <a:latin typeface="Roboto" panose="02000000000000000000" pitchFamily="2" charset="0"/>
              </a:rPr>
              <a:t> A virus that normally causes only a mild ‘flu-like’ illness. In people with a kidney transplant (and in other people whose immune system is suppressed), CMV can cause a more serious illness, affecting the lungs, liver and blood.</a:t>
            </a:r>
          </a:p>
          <a:p>
            <a:r>
              <a:rPr lang="en-US" b="1" i="0" dirty="0">
                <a:solidFill>
                  <a:srgbClr val="333333"/>
                </a:solidFill>
                <a:effectLst/>
                <a:latin typeface="Roboto" panose="02000000000000000000" pitchFamily="2" charset="0"/>
              </a:rPr>
              <a:t>Deceased donor transplant.</a:t>
            </a:r>
            <a:r>
              <a:rPr lang="en-US" b="0" i="0" dirty="0">
                <a:solidFill>
                  <a:srgbClr val="333333"/>
                </a:solidFill>
                <a:effectLst/>
                <a:latin typeface="Roboto" panose="02000000000000000000" pitchFamily="2" charset="0"/>
              </a:rPr>
              <a:t> A transplant kidney removed from someone who has died.</a:t>
            </a:r>
            <a:endParaRPr lang="en-IN" dirty="0"/>
          </a:p>
        </p:txBody>
      </p:sp>
    </p:spTree>
    <p:extLst>
      <p:ext uri="{BB962C8B-B14F-4D97-AF65-F5344CB8AC3E}">
        <p14:creationId xmlns:p14="http://schemas.microsoft.com/office/powerpoint/2010/main" val="42878464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B157D-26E8-CCB9-827C-49984AF9E7B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513FE1D-D505-1D90-66F7-F802841CDCC1}"/>
              </a:ext>
            </a:extLst>
          </p:cNvPr>
          <p:cNvSpPr>
            <a:spLocks noGrp="1"/>
          </p:cNvSpPr>
          <p:nvPr>
            <p:ph idx="1"/>
          </p:nvPr>
        </p:nvSpPr>
        <p:spPr/>
        <p:txBody>
          <a:bodyPr/>
          <a:lstStyle/>
          <a:p>
            <a:pPr algn="l"/>
            <a:r>
              <a:rPr lang="en-US" b="1" i="0" dirty="0">
                <a:solidFill>
                  <a:srgbClr val="333333"/>
                </a:solidFill>
                <a:effectLst/>
                <a:latin typeface="Roboto" panose="02000000000000000000" pitchFamily="2" charset="0"/>
              </a:rPr>
              <a:t>end-stage renal failure (ESRF) </a:t>
            </a:r>
            <a:r>
              <a:rPr lang="en-US" b="0" i="0" dirty="0">
                <a:solidFill>
                  <a:srgbClr val="333333"/>
                </a:solidFill>
                <a:effectLst/>
                <a:latin typeface="Roboto" panose="02000000000000000000" pitchFamily="2" charset="0"/>
              </a:rPr>
              <a:t>A term for advanced chronic kidney failure. People who develop ESRF will die within a few weeks unless treated by dialysis or transplantation. These treatments control ESRF but cannot cure it. Once a patient has developed ESRF, they will always have it, even after a transplant.</a:t>
            </a:r>
          </a:p>
          <a:p>
            <a:pPr algn="l"/>
            <a:r>
              <a:rPr lang="en-US" b="1" i="0" dirty="0">
                <a:solidFill>
                  <a:srgbClr val="333333"/>
                </a:solidFill>
                <a:effectLst/>
                <a:latin typeface="Roboto" panose="02000000000000000000" pitchFamily="2" charset="0"/>
              </a:rPr>
              <a:t>end-stage renal disease (ESRD)</a:t>
            </a:r>
            <a:r>
              <a:rPr lang="en-US" b="0" i="0" dirty="0">
                <a:solidFill>
                  <a:srgbClr val="333333"/>
                </a:solidFill>
                <a:effectLst/>
                <a:latin typeface="Roboto" panose="02000000000000000000" pitchFamily="2" charset="0"/>
              </a:rPr>
              <a:t> An alternative name for end-stage renal failure.</a:t>
            </a:r>
          </a:p>
          <a:p>
            <a:pPr algn="l"/>
            <a:r>
              <a:rPr lang="en-US" b="1" i="0" dirty="0">
                <a:solidFill>
                  <a:srgbClr val="333333"/>
                </a:solidFill>
                <a:effectLst/>
                <a:latin typeface="Roboto" panose="02000000000000000000" pitchFamily="2" charset="0"/>
              </a:rPr>
              <a:t>established renal failure (ERF) </a:t>
            </a:r>
            <a:r>
              <a:rPr lang="en-US" b="0" i="0" dirty="0">
                <a:solidFill>
                  <a:srgbClr val="333333"/>
                </a:solidFill>
                <a:effectLst/>
                <a:latin typeface="Roboto" panose="02000000000000000000" pitchFamily="2" charset="0"/>
              </a:rPr>
              <a:t>An alternative name for end-stage renal failure or end-stage renal disease.</a:t>
            </a:r>
          </a:p>
          <a:p>
            <a:endParaRPr lang="en-IN" dirty="0"/>
          </a:p>
        </p:txBody>
      </p:sp>
    </p:spTree>
    <p:extLst>
      <p:ext uri="{BB962C8B-B14F-4D97-AF65-F5344CB8AC3E}">
        <p14:creationId xmlns:p14="http://schemas.microsoft.com/office/powerpoint/2010/main" val="24945461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108EF-029E-072B-6DF5-AF2AAFEB810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F70C2F2-4365-91CC-2EAE-73FCD91103F0}"/>
              </a:ext>
            </a:extLst>
          </p:cNvPr>
          <p:cNvSpPr>
            <a:spLocks noGrp="1"/>
          </p:cNvSpPr>
          <p:nvPr>
            <p:ph idx="1"/>
          </p:nvPr>
        </p:nvSpPr>
        <p:spPr/>
        <p:txBody>
          <a:bodyPr>
            <a:normAutofit lnSpcReduction="10000"/>
          </a:bodyPr>
          <a:lstStyle/>
          <a:p>
            <a:r>
              <a:rPr lang="en-US" b="1" i="0" dirty="0" err="1">
                <a:solidFill>
                  <a:srgbClr val="333333"/>
                </a:solidFill>
                <a:effectLst/>
                <a:latin typeface="Roboto" panose="02000000000000000000" pitchFamily="2" charset="0"/>
              </a:rPr>
              <a:t>erythropoeitin</a:t>
            </a:r>
            <a:r>
              <a:rPr lang="en-US" b="0" i="0" dirty="0">
                <a:solidFill>
                  <a:srgbClr val="333333"/>
                </a:solidFill>
                <a:effectLst/>
                <a:latin typeface="Roboto" panose="02000000000000000000" pitchFamily="2" charset="0"/>
              </a:rPr>
              <a:t> A hormone, made by the kidneys, which stimulates the bone marrow to produce red blood cells</a:t>
            </a:r>
          </a:p>
          <a:p>
            <a:r>
              <a:rPr lang="en-US" b="1" i="0" dirty="0">
                <a:solidFill>
                  <a:srgbClr val="333333"/>
                </a:solidFill>
                <a:effectLst/>
                <a:latin typeface="Roboto" panose="02000000000000000000" pitchFamily="2" charset="0"/>
              </a:rPr>
              <a:t>fistula </a:t>
            </a:r>
            <a:r>
              <a:rPr lang="en-US" b="0" i="0" dirty="0">
                <a:solidFill>
                  <a:srgbClr val="333333"/>
                </a:solidFill>
                <a:effectLst/>
                <a:latin typeface="Roboto" panose="02000000000000000000" pitchFamily="2" charset="0"/>
              </a:rPr>
              <a:t>An enlarged vein, usually at the wrist or elbow, that gives access to the bloodstream for </a:t>
            </a:r>
            <a:r>
              <a:rPr lang="en-US" b="0" i="0" dirty="0" err="1">
                <a:solidFill>
                  <a:srgbClr val="333333"/>
                </a:solidFill>
                <a:effectLst/>
                <a:latin typeface="Roboto" panose="02000000000000000000" pitchFamily="2" charset="0"/>
              </a:rPr>
              <a:t>haemodialysis</a:t>
            </a:r>
            <a:r>
              <a:rPr lang="en-US" b="0" i="0" dirty="0">
                <a:solidFill>
                  <a:srgbClr val="333333"/>
                </a:solidFill>
                <a:effectLst/>
                <a:latin typeface="Roboto" panose="02000000000000000000" pitchFamily="2" charset="0"/>
              </a:rPr>
              <a:t>. The fistula is created by a surgeon in a small operation. It is done by joining a vein to an artery. This increases the flow of blood through the vein and causes it to enlarge, making it suitable for </a:t>
            </a:r>
            <a:r>
              <a:rPr lang="en-US" b="0" i="0" dirty="0" err="1">
                <a:solidFill>
                  <a:srgbClr val="333333"/>
                </a:solidFill>
                <a:effectLst/>
                <a:latin typeface="Roboto" panose="02000000000000000000" pitchFamily="2" charset="0"/>
              </a:rPr>
              <a:t>haemodialysis</a:t>
            </a:r>
            <a:r>
              <a:rPr lang="en-US" b="0" i="0" dirty="0">
                <a:solidFill>
                  <a:srgbClr val="333333"/>
                </a:solidFill>
                <a:effectLst/>
                <a:latin typeface="Roboto" panose="02000000000000000000" pitchFamily="2" charset="0"/>
              </a:rPr>
              <a:t> needles.</a:t>
            </a:r>
            <a:endParaRPr lang="en-US" dirty="0">
              <a:solidFill>
                <a:srgbClr val="333333"/>
              </a:solidFill>
              <a:latin typeface="Roboto" panose="02000000000000000000" pitchFamily="2" charset="0"/>
            </a:endParaRPr>
          </a:p>
          <a:p>
            <a:r>
              <a:rPr lang="en-US" b="1" i="0" dirty="0">
                <a:solidFill>
                  <a:srgbClr val="333333"/>
                </a:solidFill>
                <a:effectLst/>
                <a:latin typeface="Roboto" panose="02000000000000000000" pitchFamily="2" charset="0"/>
              </a:rPr>
              <a:t>glomerulus </a:t>
            </a:r>
            <a:r>
              <a:rPr lang="en-US" b="0" i="0" dirty="0">
                <a:solidFill>
                  <a:srgbClr val="333333"/>
                </a:solidFill>
                <a:effectLst/>
                <a:latin typeface="Roboto" panose="02000000000000000000" pitchFamily="2" charset="0"/>
              </a:rPr>
              <a:t>One of the tiny filtering units inside the kidney.</a:t>
            </a:r>
          </a:p>
          <a:p>
            <a:r>
              <a:rPr lang="en-US" b="1" i="0" dirty="0">
                <a:solidFill>
                  <a:srgbClr val="333333"/>
                </a:solidFill>
                <a:effectLst/>
                <a:latin typeface="Roboto" panose="02000000000000000000" pitchFamily="2" charset="0"/>
              </a:rPr>
              <a:t>glomerulonephritis</a:t>
            </a:r>
            <a:r>
              <a:rPr lang="en-US" b="0" i="0" dirty="0">
                <a:solidFill>
                  <a:srgbClr val="333333"/>
                </a:solidFill>
                <a:effectLst/>
                <a:latin typeface="Roboto" panose="02000000000000000000" pitchFamily="2" charset="0"/>
              </a:rPr>
              <a:t> Inflammation of the glomeruli, which is one of the causes of kidney failure.</a:t>
            </a:r>
            <a:endParaRPr lang="en-IN" dirty="0"/>
          </a:p>
        </p:txBody>
      </p:sp>
    </p:spTree>
    <p:extLst>
      <p:ext uri="{BB962C8B-B14F-4D97-AF65-F5344CB8AC3E}">
        <p14:creationId xmlns:p14="http://schemas.microsoft.com/office/powerpoint/2010/main" val="2705218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E15D3-7CB5-374A-CDB7-4FC001CEAB5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FAFE51D-2EE0-607A-7CF9-4219B4B09F9E}"/>
              </a:ext>
            </a:extLst>
          </p:cNvPr>
          <p:cNvSpPr>
            <a:spLocks noGrp="1"/>
          </p:cNvSpPr>
          <p:nvPr>
            <p:ph idx="1"/>
          </p:nvPr>
        </p:nvSpPr>
        <p:spPr/>
        <p:txBody>
          <a:bodyPr>
            <a:normAutofit lnSpcReduction="10000"/>
          </a:bodyPr>
          <a:lstStyle/>
          <a:p>
            <a:r>
              <a:rPr lang="en-US" b="1" i="0" dirty="0">
                <a:solidFill>
                  <a:srgbClr val="333333"/>
                </a:solidFill>
                <a:effectLst/>
                <a:latin typeface="Roboto" panose="02000000000000000000" pitchFamily="2" charset="0"/>
              </a:rPr>
              <a:t>graft</a:t>
            </a:r>
            <a:r>
              <a:rPr lang="en-US" b="0" i="0" dirty="0">
                <a:solidFill>
                  <a:srgbClr val="333333"/>
                </a:solidFill>
                <a:effectLst/>
                <a:latin typeface="Roboto" panose="02000000000000000000" pitchFamily="2" charset="0"/>
              </a:rPr>
              <a:t> A type of access for </a:t>
            </a:r>
            <a:r>
              <a:rPr lang="en-US" b="0" i="0" dirty="0" err="1">
                <a:solidFill>
                  <a:srgbClr val="333333"/>
                </a:solidFill>
                <a:effectLst/>
                <a:latin typeface="Roboto" panose="02000000000000000000" pitchFamily="2" charset="0"/>
              </a:rPr>
              <a:t>haemodialysis</a:t>
            </a:r>
            <a:r>
              <a:rPr lang="en-US" b="0" i="0" dirty="0">
                <a:solidFill>
                  <a:srgbClr val="333333"/>
                </a:solidFill>
                <a:effectLst/>
                <a:latin typeface="Roboto" panose="02000000000000000000" pitchFamily="2" charset="0"/>
              </a:rPr>
              <a:t>. The graft is a small plastic tube that connects an artery to a vein. It is inserted into the arm or leg by a surgeon. </a:t>
            </a:r>
            <a:r>
              <a:rPr lang="en-US" b="0" i="0" dirty="0" err="1">
                <a:solidFill>
                  <a:srgbClr val="333333"/>
                </a:solidFill>
                <a:effectLst/>
                <a:latin typeface="Roboto" panose="02000000000000000000" pitchFamily="2" charset="0"/>
              </a:rPr>
              <a:t>Haemodialysis</a:t>
            </a:r>
            <a:r>
              <a:rPr lang="en-US" b="0" i="0" dirty="0">
                <a:solidFill>
                  <a:srgbClr val="333333"/>
                </a:solidFill>
                <a:effectLst/>
                <a:latin typeface="Roboto" panose="02000000000000000000" pitchFamily="2" charset="0"/>
              </a:rPr>
              <a:t> needles are inserted into the graft, which can be used many hundreds of times.</a:t>
            </a:r>
          </a:p>
          <a:p>
            <a:r>
              <a:rPr lang="en-US" b="0" i="0" dirty="0">
                <a:solidFill>
                  <a:srgbClr val="333333"/>
                </a:solidFill>
                <a:effectLst/>
                <a:latin typeface="Roboto" panose="02000000000000000000" pitchFamily="2" charset="0"/>
              </a:rPr>
              <a:t>GFR. Abbreviation of glomerular filtration rate. Measurement of how much blood is filtered by the kidneys, if the GFR is low there is kidney disease.</a:t>
            </a:r>
            <a:endParaRPr lang="en-US" dirty="0">
              <a:solidFill>
                <a:srgbClr val="333333"/>
              </a:solidFill>
              <a:latin typeface="Roboto" panose="02000000000000000000" pitchFamily="2" charset="0"/>
            </a:endParaRPr>
          </a:p>
          <a:p>
            <a:r>
              <a:rPr lang="en-US" b="1" i="0" dirty="0">
                <a:solidFill>
                  <a:srgbClr val="333333"/>
                </a:solidFill>
                <a:effectLst/>
                <a:latin typeface="Roboto" panose="02000000000000000000" pitchFamily="2" charset="0"/>
              </a:rPr>
              <a:t>heart-beating donor </a:t>
            </a:r>
            <a:r>
              <a:rPr lang="en-US" b="0" i="0" dirty="0">
                <a:solidFill>
                  <a:srgbClr val="333333"/>
                </a:solidFill>
                <a:effectLst/>
                <a:latin typeface="Roboto" panose="02000000000000000000" pitchFamily="2" charset="0"/>
              </a:rPr>
              <a:t>A term used to describe a donor whose heart is still beating after brain death has occurred. Most, but not all, cadaveric transplants come from heart-beating donors.</a:t>
            </a:r>
            <a:endParaRPr lang="en-IN" dirty="0"/>
          </a:p>
        </p:txBody>
      </p:sp>
    </p:spTree>
    <p:extLst>
      <p:ext uri="{BB962C8B-B14F-4D97-AF65-F5344CB8AC3E}">
        <p14:creationId xmlns:p14="http://schemas.microsoft.com/office/powerpoint/2010/main" val="2962668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E2032-71A5-B8C8-44E3-2B9D93FE941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089E3E8-4A57-EDA9-8A64-C384D6065D45}"/>
              </a:ext>
            </a:extLst>
          </p:cNvPr>
          <p:cNvSpPr>
            <a:spLocks noGrp="1"/>
          </p:cNvSpPr>
          <p:nvPr>
            <p:ph idx="1"/>
          </p:nvPr>
        </p:nvSpPr>
        <p:spPr/>
        <p:txBody>
          <a:bodyPr/>
          <a:lstStyle/>
          <a:p>
            <a:r>
              <a:rPr lang="en-US" b="1" i="0" dirty="0">
                <a:solidFill>
                  <a:srgbClr val="333333"/>
                </a:solidFill>
                <a:effectLst/>
                <a:latin typeface="Roboto" panose="02000000000000000000" pitchFamily="2" charset="0"/>
              </a:rPr>
              <a:t>HTA</a:t>
            </a:r>
            <a:r>
              <a:rPr lang="en-US" b="0" i="0" dirty="0">
                <a:solidFill>
                  <a:srgbClr val="333333"/>
                </a:solidFill>
                <a:effectLst/>
                <a:latin typeface="Roboto" panose="02000000000000000000" pitchFamily="2" charset="0"/>
              </a:rPr>
              <a:t> Abbreviation for Human Tissue Authority. The Government </a:t>
            </a:r>
            <a:r>
              <a:rPr lang="en-US" b="0" i="0" dirty="0" err="1">
                <a:solidFill>
                  <a:srgbClr val="333333"/>
                </a:solidFill>
                <a:effectLst/>
                <a:latin typeface="Roboto" panose="02000000000000000000" pitchFamily="2" charset="0"/>
              </a:rPr>
              <a:t>organisation</a:t>
            </a:r>
            <a:r>
              <a:rPr lang="en-US" b="0" i="0" dirty="0">
                <a:solidFill>
                  <a:srgbClr val="333333"/>
                </a:solidFill>
                <a:effectLst/>
                <a:latin typeface="Roboto" panose="02000000000000000000" pitchFamily="2" charset="0"/>
              </a:rPr>
              <a:t> that oversees transplantation, and appoints and trains the assessors that donor and recipient must see before living donor transplants</a:t>
            </a:r>
          </a:p>
          <a:p>
            <a:r>
              <a:rPr lang="en-US" b="1" i="0" dirty="0">
                <a:solidFill>
                  <a:srgbClr val="333333"/>
                </a:solidFill>
                <a:effectLst/>
                <a:latin typeface="Roboto" panose="02000000000000000000" pitchFamily="2" charset="0"/>
              </a:rPr>
              <a:t>intravenous pyelogram (IVP)</a:t>
            </a:r>
            <a:r>
              <a:rPr lang="en-US" b="0" i="0" dirty="0">
                <a:solidFill>
                  <a:srgbClr val="333333"/>
                </a:solidFill>
                <a:effectLst/>
                <a:latin typeface="Roboto" panose="02000000000000000000" pitchFamily="2" charset="0"/>
              </a:rPr>
              <a:t> A special X-ray of the kidneys. A dye that shows up on X-rays is used to show the drainage system of the kidneys. The dye is injected into the patient’s arm, travels in the blood to the kidneys, and is passed from the body in the urine.</a:t>
            </a:r>
            <a:endParaRPr lang="en-IN" dirty="0"/>
          </a:p>
        </p:txBody>
      </p:sp>
    </p:spTree>
    <p:extLst>
      <p:ext uri="{BB962C8B-B14F-4D97-AF65-F5344CB8AC3E}">
        <p14:creationId xmlns:p14="http://schemas.microsoft.com/office/powerpoint/2010/main" val="25607907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71292-4546-B81D-F198-A9B5697DD97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80343A7-B2D4-ACDB-FBE6-AD3CB36D7E02}"/>
              </a:ext>
            </a:extLst>
          </p:cNvPr>
          <p:cNvSpPr>
            <a:spLocks noGrp="1"/>
          </p:cNvSpPr>
          <p:nvPr>
            <p:ph idx="1"/>
          </p:nvPr>
        </p:nvSpPr>
        <p:spPr/>
        <p:txBody>
          <a:bodyPr/>
          <a:lstStyle/>
          <a:p>
            <a:pPr algn="l"/>
            <a:r>
              <a:rPr lang="en-US" b="1" i="0" dirty="0">
                <a:solidFill>
                  <a:srgbClr val="333333"/>
                </a:solidFill>
                <a:effectLst/>
                <a:latin typeface="Roboto" panose="02000000000000000000" pitchFamily="2" charset="0"/>
              </a:rPr>
              <a:t>living related transplant (LRT)</a:t>
            </a:r>
            <a:r>
              <a:rPr lang="en-US" b="0" i="0" dirty="0">
                <a:solidFill>
                  <a:srgbClr val="333333"/>
                </a:solidFill>
                <a:effectLst/>
                <a:latin typeface="Roboto" panose="02000000000000000000" pitchFamily="2" charset="0"/>
              </a:rPr>
              <a:t> A transplant kidney donated (given) by a living relative of the recipient. A well-matched living related transplant is likely to last longer than either a living unrelated transplant or a cadaveric transplant.</a:t>
            </a:r>
          </a:p>
          <a:p>
            <a:pPr algn="l"/>
            <a:r>
              <a:rPr lang="en-US" b="1" i="0" dirty="0">
                <a:solidFill>
                  <a:srgbClr val="333333"/>
                </a:solidFill>
                <a:effectLst/>
                <a:latin typeface="Roboto" panose="02000000000000000000" pitchFamily="2" charset="0"/>
              </a:rPr>
              <a:t>living unrelated transplant</a:t>
            </a:r>
            <a:r>
              <a:rPr lang="en-US" b="0" i="0" dirty="0">
                <a:solidFill>
                  <a:srgbClr val="333333"/>
                </a:solidFill>
                <a:effectLst/>
                <a:latin typeface="Roboto" panose="02000000000000000000" pitchFamily="2" charset="0"/>
              </a:rPr>
              <a:t> A kidney transplant from a living person who is biologically unrelated to the recipient (such as a husband or wife).</a:t>
            </a:r>
          </a:p>
          <a:p>
            <a:r>
              <a:rPr lang="en-US" b="1" i="0" dirty="0">
                <a:solidFill>
                  <a:srgbClr val="333333"/>
                </a:solidFill>
                <a:effectLst/>
                <a:latin typeface="Roboto" panose="02000000000000000000" pitchFamily="2" charset="0"/>
              </a:rPr>
              <a:t>nephrectomy</a:t>
            </a:r>
            <a:r>
              <a:rPr lang="en-US" b="0" i="0" dirty="0">
                <a:solidFill>
                  <a:srgbClr val="333333"/>
                </a:solidFill>
                <a:effectLst/>
                <a:latin typeface="Roboto" panose="02000000000000000000" pitchFamily="2" charset="0"/>
              </a:rPr>
              <a:t> An operation to remove a kidney from the body. A bilateral nephrectomy is an operation to remove both kidneys.</a:t>
            </a:r>
            <a:endParaRPr lang="en-IN" dirty="0"/>
          </a:p>
        </p:txBody>
      </p:sp>
    </p:spTree>
    <p:extLst>
      <p:ext uri="{BB962C8B-B14F-4D97-AF65-F5344CB8AC3E}">
        <p14:creationId xmlns:p14="http://schemas.microsoft.com/office/powerpoint/2010/main" val="29907699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A374B-7AE3-97B8-0831-2843518257D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24D8992-C4F7-7677-281F-31ECF5CA4842}"/>
              </a:ext>
            </a:extLst>
          </p:cNvPr>
          <p:cNvSpPr>
            <a:spLocks noGrp="1"/>
          </p:cNvSpPr>
          <p:nvPr>
            <p:ph idx="1"/>
          </p:nvPr>
        </p:nvSpPr>
        <p:spPr/>
        <p:txBody>
          <a:bodyPr>
            <a:normAutofit lnSpcReduction="10000"/>
          </a:bodyPr>
          <a:lstStyle/>
          <a:p>
            <a:r>
              <a:rPr lang="en-US" b="1" i="0" dirty="0">
                <a:solidFill>
                  <a:srgbClr val="333333"/>
                </a:solidFill>
                <a:effectLst/>
                <a:latin typeface="Roboto" panose="02000000000000000000" pitchFamily="2" charset="0"/>
              </a:rPr>
              <a:t>obstructive uropathy</a:t>
            </a:r>
            <a:r>
              <a:rPr lang="en-US" b="0" i="0" dirty="0">
                <a:solidFill>
                  <a:srgbClr val="333333"/>
                </a:solidFill>
                <a:effectLst/>
                <a:latin typeface="Roboto" panose="02000000000000000000" pitchFamily="2" charset="0"/>
              </a:rPr>
              <a:t> A blockage, often caused by kidney stones or a birth defect of the kidney or ureter, where urine cannot flow out of the kidney. The blockage makes it difficult for the kidneys to remove wastes and extra fluids.</a:t>
            </a:r>
          </a:p>
          <a:p>
            <a:r>
              <a:rPr lang="en-US" b="1" i="0" dirty="0">
                <a:solidFill>
                  <a:srgbClr val="333333"/>
                </a:solidFill>
                <a:effectLst/>
                <a:latin typeface="Roboto" panose="02000000000000000000" pitchFamily="2" charset="0"/>
              </a:rPr>
              <a:t>paired transplant</a:t>
            </a:r>
            <a:r>
              <a:rPr lang="en-US" b="0" i="0" dirty="0">
                <a:solidFill>
                  <a:srgbClr val="333333"/>
                </a:solidFill>
                <a:effectLst/>
                <a:latin typeface="Roboto" panose="02000000000000000000" pitchFamily="2" charset="0"/>
              </a:rPr>
              <a:t> Sometimes a person cannot receive a living donor kidney transplant because of blood group incompatibility or other antibody incompatibility, even though they have a family member willing to donate a kidney. It may be possible to find another potential donor and recipient who are incompatible with each other, but where the kidneys can be 'exchanged', each recipient having transplant from the other person's donor.</a:t>
            </a:r>
            <a:endParaRPr lang="en-IN" dirty="0"/>
          </a:p>
        </p:txBody>
      </p:sp>
    </p:spTree>
    <p:extLst>
      <p:ext uri="{BB962C8B-B14F-4D97-AF65-F5344CB8AC3E}">
        <p14:creationId xmlns:p14="http://schemas.microsoft.com/office/powerpoint/2010/main" val="27902641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B8642-4AEB-9D6A-AF12-1DECF2AAC66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B643AA4-5CB6-C5E0-E715-A77A76122218}"/>
              </a:ext>
            </a:extLst>
          </p:cNvPr>
          <p:cNvSpPr>
            <a:spLocks noGrp="1"/>
          </p:cNvSpPr>
          <p:nvPr>
            <p:ph idx="1"/>
          </p:nvPr>
        </p:nvSpPr>
        <p:spPr/>
        <p:txBody>
          <a:bodyPr>
            <a:normAutofit fontScale="92500" lnSpcReduction="10000"/>
          </a:bodyPr>
          <a:lstStyle/>
          <a:p>
            <a:r>
              <a:rPr lang="en-US" b="1" i="0" dirty="0">
                <a:solidFill>
                  <a:srgbClr val="333333"/>
                </a:solidFill>
                <a:effectLst/>
                <a:latin typeface="Roboto" panose="02000000000000000000" pitchFamily="2" charset="0"/>
              </a:rPr>
              <a:t>PD catheter</a:t>
            </a:r>
            <a:r>
              <a:rPr lang="en-US" b="0" i="0" dirty="0">
                <a:solidFill>
                  <a:srgbClr val="333333"/>
                </a:solidFill>
                <a:effectLst/>
                <a:latin typeface="Roboto" panose="02000000000000000000" pitchFamily="2" charset="0"/>
              </a:rPr>
              <a:t> A plastic tube through which dialysis fluid for peritoneal dialysis is put into, and removed from, the peritoneal cavity. The catheter is about 30 cm (12 in) long and as wide as a pencil. A small operation is needed to insert the catheter permanently into the abdomen</a:t>
            </a:r>
          </a:p>
          <a:p>
            <a:r>
              <a:rPr lang="en-US" b="1" i="0" dirty="0">
                <a:solidFill>
                  <a:srgbClr val="333333"/>
                </a:solidFill>
                <a:effectLst/>
                <a:latin typeface="Roboto" panose="02000000000000000000" pitchFamily="2" charset="0"/>
              </a:rPr>
              <a:t>pyelonephritis</a:t>
            </a:r>
            <a:r>
              <a:rPr lang="en-US" b="0" i="0" dirty="0">
                <a:solidFill>
                  <a:srgbClr val="333333"/>
                </a:solidFill>
                <a:effectLst/>
                <a:latin typeface="Roboto" panose="02000000000000000000" pitchFamily="2" charset="0"/>
              </a:rPr>
              <a:t> Inflammation of the drainage system of the kidneys, one of the causes of kidney failure. It can be diagnosed by an ultrasound scan or by an intravenous pyelogram (IVP).</a:t>
            </a:r>
            <a:endParaRPr lang="en-US" dirty="0">
              <a:solidFill>
                <a:srgbClr val="333333"/>
              </a:solidFill>
              <a:latin typeface="Roboto" panose="02000000000000000000" pitchFamily="2" charset="0"/>
            </a:endParaRPr>
          </a:p>
          <a:p>
            <a:r>
              <a:rPr lang="en-US" b="1" i="0" dirty="0">
                <a:solidFill>
                  <a:srgbClr val="333333"/>
                </a:solidFill>
                <a:effectLst/>
                <a:latin typeface="Roboto" panose="02000000000000000000" pitchFamily="2" charset="0"/>
              </a:rPr>
              <a:t>renal bone disease</a:t>
            </a:r>
            <a:r>
              <a:rPr lang="en-US" b="0" i="0" dirty="0">
                <a:solidFill>
                  <a:srgbClr val="333333"/>
                </a:solidFill>
                <a:effectLst/>
                <a:latin typeface="Roboto" panose="02000000000000000000" pitchFamily="2" charset="0"/>
              </a:rPr>
              <a:t> A complication of kidney failure, in which bone health is affected by abnormally low blood levels of calcium and vitamin D and high levels of phosphate. Without treatment, renal bone disease can result in bone pain and fractures.</a:t>
            </a:r>
            <a:endParaRPr lang="en-IN" b="1" dirty="0"/>
          </a:p>
        </p:txBody>
      </p:sp>
    </p:spTree>
    <p:extLst>
      <p:ext uri="{BB962C8B-B14F-4D97-AF65-F5344CB8AC3E}">
        <p14:creationId xmlns:p14="http://schemas.microsoft.com/office/powerpoint/2010/main" val="15207022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561</TotalTime>
  <Words>1425</Words>
  <Application>Microsoft Office PowerPoint</Application>
  <PresentationFormat>Widescreen</PresentationFormat>
  <Paragraphs>41</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Roboto</vt:lpstr>
      <vt:lpstr>Office Theme</vt:lpstr>
      <vt:lpstr>MEDICAL TERMINOLOGY FOR NEPHROLOGY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TERMINOLOGY FOR NEPHROLOGY</dc:title>
  <dc:creator>debjani mukherjee</dc:creator>
  <cp:lastModifiedBy>debjani mukherjee</cp:lastModifiedBy>
  <cp:revision>1</cp:revision>
  <dcterms:created xsi:type="dcterms:W3CDTF">2023-05-11T05:15:03Z</dcterms:created>
  <dcterms:modified xsi:type="dcterms:W3CDTF">2023-05-11T14:36:18Z</dcterms:modified>
</cp:coreProperties>
</file>