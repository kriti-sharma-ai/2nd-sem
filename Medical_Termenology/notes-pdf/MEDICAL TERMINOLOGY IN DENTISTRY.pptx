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4" d="100"/>
          <a:sy n="84" d="100"/>
        </p:scale>
        <p:origin x="192"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5F9E-DC02-B4BB-464F-BD45273B29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0E4F8C-71D7-252A-BAD3-60241944C9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504AC4-7E0D-E166-938A-40F148CDB90B}"/>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A11AA1A9-9B7F-5683-9698-63969F8E08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72B90C-F1CF-E03C-0E51-968C16CD8D2D}"/>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734844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CCFD9-B7AA-2109-0E63-E22FD3507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F2653D-6514-2E55-027E-04D0387D4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F30A1A-0F67-7905-718B-1902CA502204}"/>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3BE578BB-B72D-C337-57C4-483732B935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70A274-21EA-B6D7-90C5-573BFD774522}"/>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4107298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8BEB-803E-FF0D-29CE-4457B5B015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A448A87-C1AC-C6BF-D37A-0BF401D2C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1654B1-10B8-722B-6DBF-588585F84AC6}"/>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667576D1-A426-6527-5129-08C35F8EF2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52A972-D3F2-98D8-D5AA-AFF428E93600}"/>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395837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2BD58-6CAD-487E-5F01-EA1C00E994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867F6B-9623-AD73-1668-50CDA9C6E8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2A3D4A-5BEF-5216-DEE1-AF3E817F83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D9344E-DFC6-65A6-84EC-DD1065FB3A3F}"/>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6" name="Footer Placeholder 5">
            <a:extLst>
              <a:ext uri="{FF2B5EF4-FFF2-40B4-BE49-F238E27FC236}">
                <a16:creationId xmlns:a16="http://schemas.microsoft.com/office/drawing/2014/main" id="{08D3FE69-E26B-3FBA-8398-E648872464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90E2D5-4932-9F20-F779-9958CAB6AFA1}"/>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4205974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AE63-5314-B69F-8F8E-CAAD5BAD07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5371B3-8D5A-3E6C-FFE1-1ED3C478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D868A2-CFE0-6C86-A42A-F19B97B8BA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233699-1FF7-E106-490F-0A290CE2D3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831805-BAE8-7D32-4064-320D8AA7F7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959C0D-35DF-9B7A-26B2-17E8C9666607}"/>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8" name="Footer Placeholder 7">
            <a:extLst>
              <a:ext uri="{FF2B5EF4-FFF2-40B4-BE49-F238E27FC236}">
                <a16:creationId xmlns:a16="http://schemas.microsoft.com/office/drawing/2014/main" id="{C3C57DBE-355C-5DE7-800C-E3680134B5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C31C30-05E3-496C-279F-C8CD5D850B14}"/>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197525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0B4C-2B7B-80C4-0128-BEF1CA84AE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1F8AAE-558F-18B5-F982-FD166AC0120E}"/>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4" name="Footer Placeholder 3">
            <a:extLst>
              <a:ext uri="{FF2B5EF4-FFF2-40B4-BE49-F238E27FC236}">
                <a16:creationId xmlns:a16="http://schemas.microsoft.com/office/drawing/2014/main" id="{F4B1E33A-5940-3240-17AA-E84EB6AB75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24491-B24B-7266-F5ED-A4755D2522E4}"/>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4145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56047-E61B-C54F-B915-119C0FA07BDB}"/>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3" name="Footer Placeholder 2">
            <a:extLst>
              <a:ext uri="{FF2B5EF4-FFF2-40B4-BE49-F238E27FC236}">
                <a16:creationId xmlns:a16="http://schemas.microsoft.com/office/drawing/2014/main" id="{481575BD-5C7A-FF25-15FA-CB96B8DFCF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7EF796-617B-66A6-FDA3-229F1467A81E}"/>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1460810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874B4-A98F-E41E-22F1-60E8BB1E3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1ED8D4-8249-7FE4-26A7-20C25AF701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5BB336-4398-2615-BCB7-F51133D74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4085FA-89D1-C82C-DFB5-1ED74F98C215}"/>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6" name="Footer Placeholder 5">
            <a:extLst>
              <a:ext uri="{FF2B5EF4-FFF2-40B4-BE49-F238E27FC236}">
                <a16:creationId xmlns:a16="http://schemas.microsoft.com/office/drawing/2014/main" id="{425D8841-9573-92EF-0246-1944EC216A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60AD64-A297-975C-5661-9772BF0990B7}"/>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226330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A97AC-6991-6A68-E4B6-64E506C6B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3D89D0-F392-56C1-D736-A5DB52092B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020750-8795-CC42-5BA4-EFB702CF1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A026F-1ABC-8786-B796-75AE10D2D37D}"/>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6" name="Footer Placeholder 5">
            <a:extLst>
              <a:ext uri="{FF2B5EF4-FFF2-40B4-BE49-F238E27FC236}">
                <a16:creationId xmlns:a16="http://schemas.microsoft.com/office/drawing/2014/main" id="{4898CCE9-6129-6F51-2BCC-CE245B5A48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2DC40E-B471-A1CF-D2F7-30961555EDB2}"/>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2806862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7A03-06BF-CAE3-F2E4-7751F9E85F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135B51-8C73-1054-F607-0619B9CA9D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5601E0-7738-CAC0-F87C-0B5ADC2EBB17}"/>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95E69380-2765-FD3D-074D-C2D343386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1262EB-4685-A423-2E8B-A9EC0AC93EE4}"/>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884588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E29FAB-4745-360C-6725-9450C15D15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9B9755-3167-62E5-9EAC-5490147872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E7E4E-23E1-A9C1-4561-35CCE141B4F9}"/>
              </a:ext>
            </a:extLst>
          </p:cNvPr>
          <p:cNvSpPr>
            <a:spLocks noGrp="1"/>
          </p:cNvSpPr>
          <p:nvPr>
            <p:ph type="dt" sz="half" idx="10"/>
          </p:nvPr>
        </p:nvSpPr>
        <p:spPr/>
        <p:txBody>
          <a:body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16DF25E1-1408-126F-BCD0-1C42AC1D66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D6C6C7-C311-2943-EC8B-386C4F6570DC}"/>
              </a:ext>
            </a:extLst>
          </p:cNvPr>
          <p:cNvSpPr>
            <a:spLocks noGrp="1"/>
          </p:cNvSpPr>
          <p:nvPr>
            <p:ph type="sldNum" sz="quarter" idx="12"/>
          </p:nvPr>
        </p:nvSpPr>
        <p:spPr/>
        <p:txBody>
          <a:bodyPr/>
          <a:lstStyle/>
          <a:p>
            <a:fld id="{0A27623F-5C7B-4F6F-B29A-60E12AC069C4}" type="slidenum">
              <a:rPr lang="en-IN" smtClean="0"/>
              <a:t>‹#›</a:t>
            </a:fld>
            <a:endParaRPr lang="en-IN"/>
          </a:p>
        </p:txBody>
      </p:sp>
    </p:spTree>
    <p:extLst>
      <p:ext uri="{BB962C8B-B14F-4D97-AF65-F5344CB8AC3E}">
        <p14:creationId xmlns:p14="http://schemas.microsoft.com/office/powerpoint/2010/main" val="3883386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A88922-798F-931C-B5C0-90689C666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D4E45E-F782-30BE-FC80-EB1D20A2B1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2B33F-FB1E-0278-9106-AD049519F8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B71033-1C18-42B7-8CEA-60B0159E87C3}" type="datetimeFigureOut">
              <a:rPr lang="en-IN" smtClean="0"/>
              <a:t>16-05-2023</a:t>
            </a:fld>
            <a:endParaRPr lang="en-IN"/>
          </a:p>
        </p:txBody>
      </p:sp>
      <p:sp>
        <p:nvSpPr>
          <p:cNvPr id="5" name="Footer Placeholder 4">
            <a:extLst>
              <a:ext uri="{FF2B5EF4-FFF2-40B4-BE49-F238E27FC236}">
                <a16:creationId xmlns:a16="http://schemas.microsoft.com/office/drawing/2014/main" id="{7095D59A-927C-D5E3-BDAA-A0D438C5E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571B59-989D-71AA-F5C9-0F2A404257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27623F-5C7B-4F6F-B29A-60E12AC069C4}" type="slidenum">
              <a:rPr lang="en-IN" smtClean="0"/>
              <a:t>‹#›</a:t>
            </a:fld>
            <a:endParaRPr lang="en-IN"/>
          </a:p>
        </p:txBody>
      </p:sp>
    </p:spTree>
    <p:extLst>
      <p:ext uri="{BB962C8B-B14F-4D97-AF65-F5344CB8AC3E}">
        <p14:creationId xmlns:p14="http://schemas.microsoft.com/office/powerpoint/2010/main" val="3813335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absolutedental.com/dental-services/las-vegas/dental-crown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absolutedental.com/blog/what-to-do-if-you-chipped-or-broke-a-tooth/"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absolutedental.com/dental-services/las-vegas/dentur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bsolutedental.com/blog/8-things-to-consider-when-choosing-an-orthodontist/" TargetMode="External"/><Relationship Id="rId2" Type="http://schemas.openxmlformats.org/officeDocument/2006/relationships/hyperlink" Target="https://www.absolutedental.com/blog/annual-dental-check-up/"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1F4CD-69D1-D4D2-26B0-F3F7D55D610A}"/>
              </a:ext>
            </a:extLst>
          </p:cNvPr>
          <p:cNvSpPr>
            <a:spLocks noGrp="1"/>
          </p:cNvSpPr>
          <p:nvPr>
            <p:ph type="ctrTitle"/>
          </p:nvPr>
        </p:nvSpPr>
        <p:spPr/>
        <p:txBody>
          <a:bodyPr/>
          <a:lstStyle/>
          <a:p>
            <a:r>
              <a:rPr lang="en-IN" dirty="0"/>
              <a:t>MEDICAL TERMINOLOGY IN DENTISTRY </a:t>
            </a:r>
          </a:p>
        </p:txBody>
      </p:sp>
      <p:sp>
        <p:nvSpPr>
          <p:cNvPr id="3" name="Subtitle 2">
            <a:extLst>
              <a:ext uri="{FF2B5EF4-FFF2-40B4-BE49-F238E27FC236}">
                <a16:creationId xmlns:a16="http://schemas.microsoft.com/office/drawing/2014/main" id="{A9BE2D0F-86B9-600D-AB4D-ADD7BF3B3BB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82935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7108B-2D94-4544-0D3C-8BFFFBB20E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1B5B4E-6833-8A2A-8ACD-F9DDDF8F25DB}"/>
              </a:ext>
            </a:extLst>
          </p:cNvPr>
          <p:cNvSpPr>
            <a:spLocks noGrp="1"/>
          </p:cNvSpPr>
          <p:nvPr>
            <p:ph idx="1"/>
          </p:nvPr>
        </p:nvSpPr>
        <p:spPr/>
        <p:txBody>
          <a:bodyPr>
            <a:normAutofit fontScale="92500"/>
          </a:bodyPr>
          <a:lstStyle/>
          <a:p>
            <a:pPr algn="l"/>
            <a:r>
              <a:rPr lang="en-US" b="0" i="0" dirty="0">
                <a:solidFill>
                  <a:srgbClr val="082073"/>
                </a:solidFill>
                <a:effectLst/>
                <a:latin typeface="NeuzeitGro"/>
              </a:rPr>
              <a:t>abutment</a:t>
            </a:r>
          </a:p>
          <a:p>
            <a:pPr algn="l"/>
            <a:r>
              <a:rPr lang="en-US" b="0" i="0" dirty="0">
                <a:solidFill>
                  <a:srgbClr val="606A95"/>
                </a:solidFill>
                <a:effectLst/>
                <a:latin typeface="NeuzeitGro"/>
              </a:rPr>
              <a:t>A bridge or part of a structure that is involved with some dental procedure, specifically tooth implants and surgical procedures, that is needed to fix or cosmetically repair a person’s dental health or </a:t>
            </a:r>
            <a:r>
              <a:rPr lang="en-US" b="0" i="0" dirty="0" err="1">
                <a:solidFill>
                  <a:srgbClr val="606A95"/>
                </a:solidFill>
                <a:effectLst/>
                <a:latin typeface="NeuzeitGro"/>
              </a:rPr>
              <a:t>appeara</a:t>
            </a:r>
            <a:endParaRPr lang="en-US" b="0" i="0" dirty="0">
              <a:solidFill>
                <a:srgbClr val="606A95"/>
              </a:solidFill>
              <a:effectLst/>
              <a:latin typeface="NeuzeitGro"/>
            </a:endParaRPr>
          </a:p>
          <a:p>
            <a:pPr algn="l"/>
            <a:r>
              <a:rPr lang="en-US" b="0" i="0" dirty="0">
                <a:solidFill>
                  <a:srgbClr val="082073"/>
                </a:solidFill>
                <a:effectLst/>
                <a:latin typeface="NeuzeitGro"/>
              </a:rPr>
              <a:t>abutment crown</a:t>
            </a:r>
          </a:p>
          <a:p>
            <a:pPr algn="l"/>
            <a:r>
              <a:rPr lang="en-US" b="0" i="0" dirty="0">
                <a:solidFill>
                  <a:srgbClr val="606A95"/>
                </a:solidFill>
                <a:effectLst/>
                <a:latin typeface="NeuzeitGro"/>
              </a:rPr>
              <a:t>The replacement tooth that has a connector attached to it to help connect it to the tooth that is having the </a:t>
            </a:r>
            <a:r>
              <a:rPr lang="en-US" b="0" i="0" u="none" strike="noStrike" dirty="0">
                <a:solidFill>
                  <a:srgbClr val="014EA7"/>
                </a:solidFill>
                <a:effectLst/>
                <a:latin typeface="NeuzeitGro"/>
                <a:hlinkClick r:id="rId2"/>
              </a:rPr>
              <a:t>crown</a:t>
            </a:r>
            <a:r>
              <a:rPr lang="en-US" b="0" i="0" dirty="0">
                <a:solidFill>
                  <a:srgbClr val="606A95"/>
                </a:solidFill>
                <a:effectLst/>
                <a:latin typeface="NeuzeitGro"/>
              </a:rPr>
              <a:t> fitted on it.</a:t>
            </a:r>
          </a:p>
          <a:p>
            <a:pPr algn="l"/>
            <a:r>
              <a:rPr lang="en-US" b="0" i="0" dirty="0">
                <a:solidFill>
                  <a:srgbClr val="082073"/>
                </a:solidFill>
                <a:effectLst/>
                <a:latin typeface="NeuzeitGro"/>
              </a:rPr>
              <a:t>acid etching</a:t>
            </a:r>
          </a:p>
          <a:p>
            <a:pPr algn="l"/>
            <a:r>
              <a:rPr lang="en-US" b="0" i="0" dirty="0">
                <a:solidFill>
                  <a:srgbClr val="606A95"/>
                </a:solidFill>
                <a:effectLst/>
                <a:latin typeface="NeuzeitGro"/>
              </a:rPr>
              <a:t>Acid Etching is the process of using of an acidic chemical substance to strip enamel or dentin off of the tooth to prepare the surface for bonding.</a:t>
            </a:r>
          </a:p>
          <a:p>
            <a:endParaRPr lang="en-IN" dirty="0"/>
          </a:p>
        </p:txBody>
      </p:sp>
    </p:spTree>
    <p:extLst>
      <p:ext uri="{BB962C8B-B14F-4D97-AF65-F5344CB8AC3E}">
        <p14:creationId xmlns:p14="http://schemas.microsoft.com/office/powerpoint/2010/main" val="125498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4E8A-CA9A-41CB-7CF7-611C9F4E4A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183F61-DCBD-A61D-AC78-D4204F6BB480}"/>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allograft</a:t>
            </a:r>
          </a:p>
          <a:p>
            <a:pPr algn="l"/>
            <a:r>
              <a:rPr lang="en-US" b="0" i="0" dirty="0">
                <a:solidFill>
                  <a:srgbClr val="606A95"/>
                </a:solidFill>
                <a:effectLst/>
                <a:latin typeface="NeuzeitGro"/>
              </a:rPr>
              <a:t>Allograft involves taking tissue from a donor and placing it in a recipient during a medical procedure. A dentist may transfer fragments of bone from one person to another if the process is applicable to a patient’s condition.</a:t>
            </a:r>
          </a:p>
          <a:p>
            <a:pPr algn="l"/>
            <a:r>
              <a:rPr lang="en-US" b="0" i="0" dirty="0">
                <a:solidFill>
                  <a:srgbClr val="082073"/>
                </a:solidFill>
                <a:effectLst/>
                <a:latin typeface="NeuzeitGro"/>
              </a:rPr>
              <a:t>alveolar</a:t>
            </a:r>
          </a:p>
          <a:p>
            <a:pPr algn="l"/>
            <a:r>
              <a:rPr lang="en-US" b="0" i="0" dirty="0">
                <a:solidFill>
                  <a:srgbClr val="606A95"/>
                </a:solidFill>
                <a:effectLst/>
                <a:latin typeface="NeuzeitGro"/>
              </a:rPr>
              <a:t>Alveolar is relating to the jaw section that contains tooth sockets. Also known as the roof of the mouth between the upper teeth and the hard palate or on the bottom of the mouth behind the lower teeth.</a:t>
            </a:r>
          </a:p>
          <a:p>
            <a:pPr algn="l"/>
            <a:r>
              <a:rPr lang="en-US" b="0" i="0" dirty="0">
                <a:solidFill>
                  <a:srgbClr val="082073"/>
                </a:solidFill>
                <a:effectLst/>
                <a:latin typeface="NeuzeitGro"/>
              </a:rPr>
              <a:t>alveolar bone</a:t>
            </a:r>
          </a:p>
          <a:p>
            <a:pPr algn="l"/>
            <a:r>
              <a:rPr lang="en-US" b="0" i="0" dirty="0">
                <a:solidFill>
                  <a:srgbClr val="606A95"/>
                </a:solidFill>
                <a:effectLst/>
                <a:latin typeface="NeuzeitGro"/>
              </a:rPr>
              <a:t>Commonly known as the tooth socket, the alveolar bone is the main support for teeth, anchoring them to both the upper and lower jaws by a tissue called cementum.</a:t>
            </a:r>
          </a:p>
          <a:p>
            <a:endParaRPr lang="en-IN" dirty="0"/>
          </a:p>
        </p:txBody>
      </p:sp>
    </p:spTree>
    <p:extLst>
      <p:ext uri="{BB962C8B-B14F-4D97-AF65-F5344CB8AC3E}">
        <p14:creationId xmlns:p14="http://schemas.microsoft.com/office/powerpoint/2010/main" val="4281953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7C72-CFD9-48D4-FBC2-B8BE5C68F2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097F59-6A28-4F2A-2975-3387A0E64737}"/>
              </a:ext>
            </a:extLst>
          </p:cNvPr>
          <p:cNvSpPr>
            <a:spLocks noGrp="1"/>
          </p:cNvSpPr>
          <p:nvPr>
            <p:ph idx="1"/>
          </p:nvPr>
        </p:nvSpPr>
        <p:spPr/>
        <p:txBody>
          <a:bodyPr>
            <a:normAutofit fontScale="92500" lnSpcReduction="20000"/>
          </a:bodyPr>
          <a:lstStyle/>
          <a:p>
            <a:pPr algn="l"/>
            <a:r>
              <a:rPr lang="en-US" b="0" i="0" dirty="0" err="1">
                <a:solidFill>
                  <a:srgbClr val="082073"/>
                </a:solidFill>
                <a:effectLst/>
                <a:latin typeface="NeuzeitGro"/>
              </a:rPr>
              <a:t>alveoloplasty</a:t>
            </a:r>
            <a:endParaRPr lang="en-US" b="0" i="0" dirty="0">
              <a:solidFill>
                <a:srgbClr val="082073"/>
              </a:solidFill>
              <a:effectLst/>
              <a:latin typeface="NeuzeitGro"/>
            </a:endParaRPr>
          </a:p>
          <a:p>
            <a:pPr algn="l"/>
            <a:r>
              <a:rPr lang="en-US" b="0" i="0" dirty="0" err="1">
                <a:solidFill>
                  <a:srgbClr val="606A95"/>
                </a:solidFill>
                <a:effectLst/>
                <a:latin typeface="NeuzeitGro"/>
              </a:rPr>
              <a:t>Alveoloplasty</a:t>
            </a:r>
            <a:r>
              <a:rPr lang="en-US" b="0" i="0" dirty="0">
                <a:solidFill>
                  <a:srgbClr val="606A95"/>
                </a:solidFill>
                <a:effectLst/>
                <a:latin typeface="NeuzeitGro"/>
              </a:rPr>
              <a:t> – often referred to as “bone trimming”, </a:t>
            </a:r>
            <a:r>
              <a:rPr lang="en-US" b="0" i="0" dirty="0" err="1">
                <a:solidFill>
                  <a:srgbClr val="606A95"/>
                </a:solidFill>
                <a:effectLst/>
                <a:latin typeface="NeuzeitGro"/>
              </a:rPr>
              <a:t>alveoplasty</a:t>
            </a:r>
            <a:r>
              <a:rPr lang="en-US" b="0" i="0" dirty="0">
                <a:solidFill>
                  <a:srgbClr val="606A95"/>
                </a:solidFill>
                <a:effectLst/>
                <a:latin typeface="NeuzeitGro"/>
              </a:rPr>
              <a:t> is a surgical procedure which smooths out the sharp areas of the jawbone that commonly occur after multiple tooth extractions.</a:t>
            </a:r>
          </a:p>
          <a:p>
            <a:pPr algn="l"/>
            <a:r>
              <a:rPr lang="en-US" b="0" i="0" dirty="0">
                <a:solidFill>
                  <a:srgbClr val="082073"/>
                </a:solidFill>
                <a:effectLst/>
                <a:latin typeface="NeuzeitGro"/>
              </a:rPr>
              <a:t>ankylosis</a:t>
            </a:r>
          </a:p>
          <a:p>
            <a:pPr algn="l"/>
            <a:r>
              <a:rPr lang="en-US" b="0" i="0" dirty="0">
                <a:solidFill>
                  <a:srgbClr val="606A95"/>
                </a:solidFill>
                <a:effectLst/>
                <a:latin typeface="NeuzeitGro"/>
              </a:rPr>
              <a:t>A dental abnormality in which the tooth becomes fused directly to the jawbone, which prevents the tooth from erupting. The cause of ankylosis is unknown, and can occur in both baby teeth and permanent teeth.</a:t>
            </a:r>
          </a:p>
          <a:p>
            <a:pPr algn="l"/>
            <a:r>
              <a:rPr lang="en-US" b="0" i="0" dirty="0">
                <a:solidFill>
                  <a:srgbClr val="082073"/>
                </a:solidFill>
                <a:effectLst/>
                <a:latin typeface="NeuzeitGro"/>
              </a:rPr>
              <a:t>apicoectomy</a:t>
            </a:r>
          </a:p>
          <a:p>
            <a:pPr algn="l"/>
            <a:r>
              <a:rPr lang="en-US" b="0" i="0" dirty="0">
                <a:solidFill>
                  <a:srgbClr val="606A95"/>
                </a:solidFill>
                <a:effectLst/>
                <a:latin typeface="NeuzeitGro"/>
              </a:rPr>
              <a:t>An apicoectomy is a dental procedure in which a tooth’s tip is removed and a cavity that has set itself into the root is removed and filled with a safe material.</a:t>
            </a:r>
          </a:p>
          <a:p>
            <a:pPr algn="l"/>
            <a:endParaRPr lang="en-US" b="0" i="0" dirty="0">
              <a:solidFill>
                <a:srgbClr val="606A95"/>
              </a:solidFill>
              <a:effectLst/>
              <a:latin typeface="NeuzeitGro"/>
            </a:endParaRPr>
          </a:p>
          <a:p>
            <a:endParaRPr lang="en-IN" dirty="0"/>
          </a:p>
        </p:txBody>
      </p:sp>
    </p:spTree>
    <p:extLst>
      <p:ext uri="{BB962C8B-B14F-4D97-AF65-F5344CB8AC3E}">
        <p14:creationId xmlns:p14="http://schemas.microsoft.com/office/powerpoint/2010/main" val="392074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5754-908F-CC75-E73D-FD9BAFCFD1A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746DBF-227F-CC51-BBA6-303910E9BA8D}"/>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areas of oral cavity</a:t>
            </a:r>
          </a:p>
          <a:p>
            <a:pPr algn="l"/>
            <a:r>
              <a:rPr lang="en-US" b="0" i="0" dirty="0">
                <a:solidFill>
                  <a:srgbClr val="606A95"/>
                </a:solidFill>
                <a:effectLst/>
                <a:latin typeface="NeuzeitGro"/>
              </a:rPr>
              <a:t>Areas of oral cavity are the inside of the mouth. It’s mainly the empty space behind the teeth and gums, but the inside of the mouth is the entire oral cavity.</a:t>
            </a:r>
          </a:p>
          <a:p>
            <a:pPr algn="l"/>
            <a:r>
              <a:rPr lang="en-US" b="0" i="0" dirty="0">
                <a:solidFill>
                  <a:srgbClr val="082073"/>
                </a:solidFill>
                <a:effectLst/>
                <a:latin typeface="NeuzeitGro"/>
              </a:rPr>
              <a:t>arthrogram</a:t>
            </a:r>
          </a:p>
          <a:p>
            <a:pPr algn="l"/>
            <a:r>
              <a:rPr lang="en-US" b="0" i="0" dirty="0">
                <a:solidFill>
                  <a:srgbClr val="606A95"/>
                </a:solidFill>
                <a:effectLst/>
                <a:latin typeface="NeuzeitGro"/>
              </a:rPr>
              <a:t>An arthrogram is the procedure of injecting a substance and then x-ray to a bone structure to allow an examination of possible problems that are found.</a:t>
            </a:r>
          </a:p>
          <a:p>
            <a:pPr algn="l"/>
            <a:r>
              <a:rPr lang="en-US" b="0" i="0" dirty="0">
                <a:solidFill>
                  <a:srgbClr val="082073"/>
                </a:solidFill>
                <a:effectLst/>
                <a:latin typeface="NeuzeitGro"/>
              </a:rPr>
              <a:t>artificial crown</a:t>
            </a:r>
          </a:p>
          <a:p>
            <a:pPr algn="l"/>
            <a:r>
              <a:rPr lang="en-US" b="0" i="0" dirty="0">
                <a:solidFill>
                  <a:srgbClr val="606A95"/>
                </a:solidFill>
                <a:effectLst/>
                <a:latin typeface="NeuzeitGro"/>
              </a:rPr>
              <a:t>An artificial crown is used to repair a broken, or damaged tooth. The crown may be placed over a large filling or a </a:t>
            </a:r>
            <a:r>
              <a:rPr lang="en-US" b="0" i="0" u="none" strike="noStrike" dirty="0">
                <a:solidFill>
                  <a:srgbClr val="014EA7"/>
                </a:solidFill>
                <a:effectLst/>
                <a:latin typeface="NeuzeitGro"/>
                <a:hlinkClick r:id="rId2"/>
              </a:rPr>
              <a:t>broken tooth</a:t>
            </a:r>
            <a:r>
              <a:rPr lang="en-US" b="0" i="0" dirty="0">
                <a:solidFill>
                  <a:srgbClr val="606A95"/>
                </a:solidFill>
                <a:effectLst/>
                <a:latin typeface="NeuzeitGro"/>
              </a:rPr>
              <a:t>, or may be needed if the patient has had a root canal.</a:t>
            </a:r>
          </a:p>
          <a:p>
            <a:endParaRPr lang="en-IN" dirty="0"/>
          </a:p>
        </p:txBody>
      </p:sp>
    </p:spTree>
    <p:extLst>
      <p:ext uri="{BB962C8B-B14F-4D97-AF65-F5344CB8AC3E}">
        <p14:creationId xmlns:p14="http://schemas.microsoft.com/office/powerpoint/2010/main" val="2171150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E1DA-425C-6F1A-70CC-2CB55CBEE7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7F1F16-67FE-DBD8-EAF6-35CEF8F6FB63}"/>
              </a:ext>
            </a:extLst>
          </p:cNvPr>
          <p:cNvSpPr>
            <a:spLocks noGrp="1"/>
          </p:cNvSpPr>
          <p:nvPr>
            <p:ph idx="1"/>
          </p:nvPr>
        </p:nvSpPr>
        <p:spPr/>
        <p:txBody>
          <a:bodyPr>
            <a:normAutofit fontScale="85000" lnSpcReduction="20000"/>
          </a:bodyPr>
          <a:lstStyle/>
          <a:p>
            <a:pPr algn="l"/>
            <a:r>
              <a:rPr lang="en-US" b="0" i="0" dirty="0">
                <a:solidFill>
                  <a:srgbClr val="082073"/>
                </a:solidFill>
                <a:effectLst/>
                <a:latin typeface="NeuzeitGro"/>
              </a:rPr>
              <a:t>calculus</a:t>
            </a:r>
          </a:p>
          <a:p>
            <a:pPr algn="l"/>
            <a:r>
              <a:rPr lang="en-US" b="0" i="0" dirty="0">
                <a:solidFill>
                  <a:srgbClr val="606A95"/>
                </a:solidFill>
                <a:effectLst/>
                <a:latin typeface="NeuzeitGro"/>
              </a:rPr>
              <a:t>A form of a hardened dental plaque on an individual’s teeth, which is also referred to as tartar, that develops overtime due to various reasons such as poor hygiene or diet.</a:t>
            </a:r>
          </a:p>
          <a:p>
            <a:pPr algn="l"/>
            <a:r>
              <a:rPr lang="en-US" b="0" i="0" dirty="0">
                <a:solidFill>
                  <a:srgbClr val="082073"/>
                </a:solidFill>
                <a:effectLst/>
                <a:latin typeface="NeuzeitGro"/>
              </a:rPr>
              <a:t>canal</a:t>
            </a:r>
          </a:p>
          <a:p>
            <a:pPr algn="l"/>
            <a:r>
              <a:rPr lang="en-US" b="0" i="0" dirty="0">
                <a:solidFill>
                  <a:srgbClr val="606A95"/>
                </a:solidFill>
                <a:effectLst/>
                <a:latin typeface="NeuzeitGro"/>
              </a:rPr>
              <a:t>The space and area between the tooth’s root in a person’s mouth that is usually involved with some dental procedures such as a root canal and other surgeries involving the mouth.</a:t>
            </a:r>
          </a:p>
          <a:p>
            <a:pPr algn="l"/>
            <a:r>
              <a:rPr lang="en-US" b="0" i="0" dirty="0">
                <a:solidFill>
                  <a:srgbClr val="082073"/>
                </a:solidFill>
                <a:effectLst/>
                <a:latin typeface="NeuzeitGro"/>
              </a:rPr>
              <a:t>capitation</a:t>
            </a:r>
          </a:p>
          <a:p>
            <a:pPr algn="l"/>
            <a:r>
              <a:rPr lang="en-US" b="0" i="0" dirty="0">
                <a:solidFill>
                  <a:srgbClr val="606A95"/>
                </a:solidFill>
                <a:effectLst/>
                <a:latin typeface="NeuzeitGro"/>
              </a:rPr>
              <a:t>Capitation is a health care term. It is an annual fee or amount that is paid to a doctor or dentist based on the amount of patients in their care for a period of time. It is paid to the medical professional whether or not the patient seeks care in that period of time or not. The more patients listed as being in the care of a physician, the higher the capitation.</a:t>
            </a:r>
          </a:p>
          <a:p>
            <a:endParaRPr lang="en-IN" dirty="0"/>
          </a:p>
        </p:txBody>
      </p:sp>
    </p:spTree>
    <p:extLst>
      <p:ext uri="{BB962C8B-B14F-4D97-AF65-F5344CB8AC3E}">
        <p14:creationId xmlns:p14="http://schemas.microsoft.com/office/powerpoint/2010/main" val="3938687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1E510-8EE7-EF27-43F3-CB32E66D92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8E6C74-9677-BB4E-D7AE-F1FDDBE4361D}"/>
              </a:ext>
            </a:extLst>
          </p:cNvPr>
          <p:cNvSpPr>
            <a:spLocks noGrp="1"/>
          </p:cNvSpPr>
          <p:nvPr>
            <p:ph idx="1"/>
          </p:nvPr>
        </p:nvSpPr>
        <p:spPr/>
        <p:txBody>
          <a:bodyPr/>
          <a:lstStyle/>
          <a:p>
            <a:pPr algn="l"/>
            <a:r>
              <a:rPr lang="en-US" b="0" i="0" dirty="0">
                <a:solidFill>
                  <a:srgbClr val="082073"/>
                </a:solidFill>
                <a:effectLst/>
                <a:latin typeface="NeuzeitGro"/>
              </a:rPr>
              <a:t>cavity</a:t>
            </a:r>
          </a:p>
          <a:p>
            <a:pPr algn="l"/>
            <a:r>
              <a:rPr lang="en-US" b="0" i="0" dirty="0">
                <a:solidFill>
                  <a:srgbClr val="606A95"/>
                </a:solidFill>
                <a:effectLst/>
                <a:latin typeface="NeuzeitGro"/>
              </a:rPr>
              <a:t>A cavity is a decayed section of a tooth. Cavities can typically be filled, however can require more invasive procedures such as root canals depending upon the severity.</a:t>
            </a:r>
          </a:p>
          <a:p>
            <a:pPr algn="l"/>
            <a:r>
              <a:rPr lang="en-US" b="0" i="0" dirty="0">
                <a:solidFill>
                  <a:srgbClr val="082073"/>
                </a:solidFill>
                <a:effectLst/>
                <a:latin typeface="NeuzeitGro"/>
              </a:rPr>
              <a:t>cement base</a:t>
            </a:r>
          </a:p>
          <a:p>
            <a:pPr algn="l"/>
            <a:r>
              <a:rPr lang="en-US" b="0" i="0" dirty="0">
                <a:solidFill>
                  <a:srgbClr val="606A95"/>
                </a:solidFill>
                <a:effectLst/>
                <a:latin typeface="NeuzeitGro"/>
              </a:rPr>
              <a:t>Cement base is a dental alternative to mercury when it comes to teeth fillings. Cements can be made out of various compounds, the most popular including Calcium Hydroxide and Glass/Hybrid Ionomers.</a:t>
            </a:r>
          </a:p>
          <a:p>
            <a:endParaRPr lang="en-IN" dirty="0"/>
          </a:p>
        </p:txBody>
      </p:sp>
    </p:spTree>
    <p:extLst>
      <p:ext uri="{BB962C8B-B14F-4D97-AF65-F5344CB8AC3E}">
        <p14:creationId xmlns:p14="http://schemas.microsoft.com/office/powerpoint/2010/main" val="1465220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B18A4-5FF4-A64C-1B42-9F85F6BC3D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EEE931-827D-A36C-3787-CA129050C19D}"/>
              </a:ext>
            </a:extLst>
          </p:cNvPr>
          <p:cNvSpPr>
            <a:spLocks noGrp="1"/>
          </p:cNvSpPr>
          <p:nvPr>
            <p:ph idx="1"/>
          </p:nvPr>
        </p:nvSpPr>
        <p:spPr/>
        <p:txBody>
          <a:bodyPr>
            <a:normAutofit fontScale="92500" lnSpcReduction="10000"/>
          </a:bodyPr>
          <a:lstStyle/>
          <a:p>
            <a:pPr algn="l"/>
            <a:r>
              <a:rPr lang="en-US" b="0" i="0" dirty="0">
                <a:solidFill>
                  <a:srgbClr val="082073"/>
                </a:solidFill>
                <a:effectLst/>
                <a:latin typeface="NeuzeitGro"/>
              </a:rPr>
              <a:t>clenching</a:t>
            </a:r>
          </a:p>
          <a:p>
            <a:pPr algn="l"/>
            <a:r>
              <a:rPr lang="en-US" b="0" i="0" dirty="0">
                <a:solidFill>
                  <a:srgbClr val="606A95"/>
                </a:solidFill>
                <a:effectLst/>
                <a:latin typeface="NeuzeitGro"/>
              </a:rPr>
              <a:t>Clenching is the act of pressing the teeth together with force. This is typically done out of anger or to suppress some other emotion.</a:t>
            </a:r>
          </a:p>
          <a:p>
            <a:pPr algn="l"/>
            <a:r>
              <a:rPr lang="en-US" b="0" i="0" dirty="0">
                <a:solidFill>
                  <a:srgbClr val="082073"/>
                </a:solidFill>
                <a:effectLst/>
                <a:latin typeface="NeuzeitGro"/>
              </a:rPr>
              <a:t>clinical crown</a:t>
            </a:r>
          </a:p>
          <a:p>
            <a:pPr algn="l"/>
            <a:r>
              <a:rPr lang="en-US" b="0" i="0" dirty="0">
                <a:solidFill>
                  <a:srgbClr val="606A95"/>
                </a:solidFill>
                <a:effectLst/>
                <a:latin typeface="NeuzeitGro"/>
              </a:rPr>
              <a:t>A reproduction of a part of top of a person’s tooth that is used to cover a missing area of said tooth to prevent further deterioration of the area due to constant use and aging.</a:t>
            </a:r>
          </a:p>
          <a:p>
            <a:pPr algn="l"/>
            <a:r>
              <a:rPr lang="en-US" b="0" i="0" dirty="0">
                <a:solidFill>
                  <a:srgbClr val="082073"/>
                </a:solidFill>
                <a:effectLst/>
                <a:latin typeface="NeuzeitGro"/>
              </a:rPr>
              <a:t>coping</a:t>
            </a:r>
          </a:p>
          <a:p>
            <a:pPr algn="l"/>
            <a:r>
              <a:rPr lang="en-US" b="0" i="0" dirty="0">
                <a:solidFill>
                  <a:srgbClr val="606A95"/>
                </a:solidFill>
                <a:effectLst/>
                <a:latin typeface="NeuzeitGro"/>
              </a:rPr>
              <a:t>Coping is a small metal cap or piece that is put over a person’s tooth before a crown or cap is placed. It helps prepare the tooth for this procedure and can also be used on the root of a tooth is needed.</a:t>
            </a:r>
          </a:p>
          <a:p>
            <a:endParaRPr lang="en-IN" dirty="0"/>
          </a:p>
        </p:txBody>
      </p:sp>
    </p:spTree>
    <p:extLst>
      <p:ext uri="{BB962C8B-B14F-4D97-AF65-F5344CB8AC3E}">
        <p14:creationId xmlns:p14="http://schemas.microsoft.com/office/powerpoint/2010/main" val="3709983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2441E-BE97-FDBE-C5EC-C28D0558F5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C3CEFA8-6357-AFEA-E16D-13960032C266}"/>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cosmetic dentistry</a:t>
            </a:r>
          </a:p>
          <a:p>
            <a:pPr algn="l"/>
            <a:r>
              <a:rPr lang="en-US" b="0" i="0" dirty="0">
                <a:solidFill>
                  <a:srgbClr val="606A95"/>
                </a:solidFill>
                <a:effectLst/>
                <a:latin typeface="NeuzeitGro"/>
              </a:rPr>
              <a:t>The term cosmetic dentistry can be defined the same way cosmetic surgery is defined. The person has elected to alter the appearance of a part of his/her body to resemble the ideal look that is accepted in society today. In this case it is altering the teeth by straightening and cleaning.</a:t>
            </a:r>
          </a:p>
          <a:p>
            <a:pPr algn="l"/>
            <a:r>
              <a:rPr lang="en-US" b="0" i="0" dirty="0">
                <a:solidFill>
                  <a:srgbClr val="082073"/>
                </a:solidFill>
                <a:effectLst/>
                <a:latin typeface="NeuzeitGro"/>
              </a:rPr>
              <a:t>cracked tooth syndrome</a:t>
            </a:r>
          </a:p>
          <a:p>
            <a:pPr algn="l"/>
            <a:r>
              <a:rPr lang="en-US" b="0" i="0" dirty="0">
                <a:solidFill>
                  <a:srgbClr val="606A95"/>
                </a:solidFill>
                <a:effectLst/>
                <a:latin typeface="NeuzeitGro"/>
              </a:rPr>
              <a:t>Cracked tooth syndrome involves a tooth that has incompletely cracked but no part of the tooth has been broken off. The symptoms are different from each other, it is totally depending upon the diagnosed condition.</a:t>
            </a:r>
          </a:p>
          <a:p>
            <a:pPr algn="l"/>
            <a:r>
              <a:rPr lang="en-US" b="0" i="0" dirty="0">
                <a:solidFill>
                  <a:srgbClr val="082073"/>
                </a:solidFill>
                <a:effectLst/>
                <a:latin typeface="NeuzeitGro"/>
              </a:rPr>
              <a:t>crown</a:t>
            </a:r>
          </a:p>
          <a:p>
            <a:pPr algn="l"/>
            <a:r>
              <a:rPr lang="en-US" b="0" i="0" dirty="0">
                <a:solidFill>
                  <a:srgbClr val="606A95"/>
                </a:solidFill>
                <a:effectLst/>
                <a:latin typeface="NeuzeitGro"/>
              </a:rPr>
              <a:t>A dental crown is a device used to cap a tooth. It covers the tooth to improve its appearance, strength and usability. A crown is cemented on and can be considered semi-permanent.</a:t>
            </a:r>
          </a:p>
          <a:p>
            <a:endParaRPr lang="en-IN" dirty="0"/>
          </a:p>
        </p:txBody>
      </p:sp>
    </p:spTree>
    <p:extLst>
      <p:ext uri="{BB962C8B-B14F-4D97-AF65-F5344CB8AC3E}">
        <p14:creationId xmlns:p14="http://schemas.microsoft.com/office/powerpoint/2010/main" val="75150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57491-308B-4CB0-C251-2ACE355270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324BC5-08DD-F3E7-B2BE-9713486E6A3C}"/>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crown lengthening</a:t>
            </a:r>
          </a:p>
          <a:p>
            <a:pPr algn="l"/>
            <a:r>
              <a:rPr lang="en-US" b="0" i="0" dirty="0">
                <a:solidFill>
                  <a:srgbClr val="606A95"/>
                </a:solidFill>
                <a:effectLst/>
                <a:latin typeface="NeuzeitGro"/>
              </a:rPr>
              <a:t>A surgical procedure performed by a dentist to expose a greater amount of tooth structure for the purpose of subsequently restoring the tooth is called Crown lengthening. This process is used to adjust the gum and bone level to expose more of the tooth so it can be restored.</a:t>
            </a:r>
          </a:p>
          <a:p>
            <a:pPr algn="l"/>
            <a:r>
              <a:rPr lang="en-US" b="0" i="0" dirty="0">
                <a:solidFill>
                  <a:srgbClr val="082073"/>
                </a:solidFill>
                <a:effectLst/>
                <a:latin typeface="NeuzeitGro"/>
              </a:rPr>
              <a:t>definitive prosthesis</a:t>
            </a:r>
          </a:p>
          <a:p>
            <a:pPr algn="l"/>
            <a:r>
              <a:rPr lang="en-US" b="0" i="0" dirty="0">
                <a:solidFill>
                  <a:srgbClr val="606A95"/>
                </a:solidFill>
                <a:effectLst/>
                <a:latin typeface="NeuzeitGro"/>
              </a:rPr>
              <a:t>A definitive prosthesis is a partial or full replacement of a permanent part of the body. In dental terms, an example of this might be a replacement for part of the soft palate or missing teeth.</a:t>
            </a:r>
          </a:p>
          <a:p>
            <a:pPr algn="l"/>
            <a:r>
              <a:rPr lang="en-US" b="0" i="0" dirty="0">
                <a:solidFill>
                  <a:srgbClr val="082073"/>
                </a:solidFill>
                <a:effectLst/>
                <a:latin typeface="NeuzeitGro"/>
              </a:rPr>
              <a:t>dental prosthesis</a:t>
            </a:r>
          </a:p>
          <a:p>
            <a:pPr algn="l"/>
            <a:r>
              <a:rPr lang="en-US" b="0" i="0" dirty="0">
                <a:solidFill>
                  <a:srgbClr val="606A95"/>
                </a:solidFill>
                <a:effectLst/>
                <a:latin typeface="NeuzeitGro"/>
              </a:rPr>
              <a:t>A dental prosthesis is an artificial device used to correct dental defects such as missing teeth (or missing parts of teeth). They can also be used to replace missing soft or hard structures of the jaw and palate.</a:t>
            </a:r>
          </a:p>
          <a:p>
            <a:pPr algn="l"/>
            <a:endParaRPr lang="en-US" b="0" i="0" dirty="0">
              <a:solidFill>
                <a:srgbClr val="606A95"/>
              </a:solidFill>
              <a:effectLst/>
              <a:latin typeface="NeuzeitGro"/>
            </a:endParaRPr>
          </a:p>
          <a:p>
            <a:endParaRPr lang="en-IN" dirty="0"/>
          </a:p>
        </p:txBody>
      </p:sp>
    </p:spTree>
    <p:extLst>
      <p:ext uri="{BB962C8B-B14F-4D97-AF65-F5344CB8AC3E}">
        <p14:creationId xmlns:p14="http://schemas.microsoft.com/office/powerpoint/2010/main" val="3343323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997D3-30B3-4696-721E-7042B1DFE3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A0DD84-5702-F5EE-785C-CF9F1282B564}"/>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denture</a:t>
            </a:r>
          </a:p>
          <a:p>
            <a:pPr algn="l"/>
            <a:r>
              <a:rPr lang="en-US" b="0" i="0" u="none" strike="noStrike" dirty="0">
                <a:solidFill>
                  <a:srgbClr val="014EA7"/>
                </a:solidFill>
                <a:effectLst/>
                <a:latin typeface="NeuzeitGro"/>
                <a:hlinkClick r:id="rId2"/>
              </a:rPr>
              <a:t>Dentures</a:t>
            </a:r>
            <a:r>
              <a:rPr lang="en-US" b="0" i="0" dirty="0">
                <a:solidFill>
                  <a:srgbClr val="606A95"/>
                </a:solidFill>
                <a:effectLst/>
                <a:latin typeface="NeuzeitGro"/>
              </a:rPr>
              <a:t> are false teeth, historically made from a variety of materials. They are supported both by their own design and against both hard and soft tissues in the mouth. Dentures are also generally removed daily, as only a part-time replacement for missing teeth.</a:t>
            </a:r>
          </a:p>
          <a:p>
            <a:pPr algn="l"/>
            <a:r>
              <a:rPr lang="en-US" b="0" i="0" dirty="0">
                <a:solidFill>
                  <a:srgbClr val="082073"/>
                </a:solidFill>
                <a:effectLst/>
                <a:latin typeface="NeuzeitGro"/>
              </a:rPr>
              <a:t>enamel</a:t>
            </a:r>
          </a:p>
          <a:p>
            <a:pPr algn="l"/>
            <a:r>
              <a:rPr lang="en-US" b="0" i="0" dirty="0">
                <a:solidFill>
                  <a:srgbClr val="606A95"/>
                </a:solidFill>
                <a:effectLst/>
                <a:latin typeface="NeuzeitGro"/>
              </a:rPr>
              <a:t>Dental enamel is the hard thin translucent layer that serves as protection for the dentin of a tooth crown. It is made up of calcium salts.</a:t>
            </a:r>
          </a:p>
          <a:p>
            <a:pPr algn="l"/>
            <a:r>
              <a:rPr lang="en-US" b="0" i="0" dirty="0">
                <a:solidFill>
                  <a:srgbClr val="082073"/>
                </a:solidFill>
                <a:effectLst/>
                <a:latin typeface="NeuzeitGro"/>
              </a:rPr>
              <a:t>endodontics</a:t>
            </a:r>
          </a:p>
          <a:p>
            <a:pPr algn="l"/>
            <a:r>
              <a:rPr lang="en-US" b="0" i="0" dirty="0">
                <a:solidFill>
                  <a:srgbClr val="606A95"/>
                </a:solidFill>
                <a:effectLst/>
                <a:latin typeface="NeuzeitGro"/>
              </a:rPr>
              <a:t>The study of teeth that involve the center (pulp) to the root of a tooth. It focuses on cause of tooth decay, diagnosis and treatment of infected tooth. Treatment can include extraction of the tooth, removal and replacement of the pulp and even removal of the nerve by tooth.</a:t>
            </a:r>
          </a:p>
          <a:p>
            <a:endParaRPr lang="en-IN" dirty="0"/>
          </a:p>
        </p:txBody>
      </p:sp>
    </p:spTree>
    <p:extLst>
      <p:ext uri="{BB962C8B-B14F-4D97-AF65-F5344CB8AC3E}">
        <p14:creationId xmlns:p14="http://schemas.microsoft.com/office/powerpoint/2010/main" val="4178434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4B1A8-8C29-719F-93C3-55BEA7616A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2046D4-875E-113C-73C0-060028AE135D}"/>
              </a:ext>
            </a:extLst>
          </p:cNvPr>
          <p:cNvSpPr>
            <a:spLocks noGrp="1"/>
          </p:cNvSpPr>
          <p:nvPr>
            <p:ph idx="1"/>
          </p:nvPr>
        </p:nvSpPr>
        <p:spPr/>
        <p:txBody>
          <a:bodyPr>
            <a:normAutofit fontScale="85000" lnSpcReduction="20000"/>
          </a:bodyPr>
          <a:lstStyle/>
          <a:p>
            <a:pPr algn="l"/>
            <a:r>
              <a:rPr lang="en-US" b="0" i="0" dirty="0">
                <a:solidFill>
                  <a:srgbClr val="082073"/>
                </a:solidFill>
                <a:effectLst/>
                <a:latin typeface="NeuzeitGro"/>
              </a:rPr>
              <a:t>extraction</a:t>
            </a:r>
          </a:p>
          <a:p>
            <a:pPr algn="l"/>
            <a:r>
              <a:rPr lang="en-US" b="0" i="0" dirty="0">
                <a:solidFill>
                  <a:srgbClr val="606A95"/>
                </a:solidFill>
                <a:effectLst/>
                <a:latin typeface="NeuzeitGro"/>
              </a:rPr>
              <a:t>An extraction is the proper surgical removal of any particular item. In the framework of dentistry, this would perhaps most often refer to the extraction of teeth, perhaps due to severe damage or decay, severe traumatic injury to the tooth, or to reduce crowding.</a:t>
            </a:r>
          </a:p>
          <a:p>
            <a:pPr algn="l"/>
            <a:r>
              <a:rPr lang="en-US" b="0" i="0" dirty="0">
                <a:solidFill>
                  <a:srgbClr val="082073"/>
                </a:solidFill>
                <a:effectLst/>
                <a:latin typeface="NeuzeitGro"/>
              </a:rPr>
              <a:t>gingivitis</a:t>
            </a:r>
          </a:p>
          <a:p>
            <a:pPr algn="l"/>
            <a:r>
              <a:rPr lang="en-US" b="0" i="0" dirty="0">
                <a:solidFill>
                  <a:srgbClr val="606A95"/>
                </a:solidFill>
                <a:effectLst/>
                <a:latin typeface="NeuzeitGro"/>
              </a:rPr>
              <a:t>Gingivitis is a common type of gum disease. It can result in gums becoming red, swollen and irritated. It is caused by lack of proper dental care. It can lead to more serious gum issues and sometimes even loss of teeth. To prevent this, you should brush and floss daily and obtain regular </a:t>
            </a:r>
            <a:r>
              <a:rPr lang="en-US" b="0" i="0" u="none" strike="noStrike" dirty="0">
                <a:solidFill>
                  <a:srgbClr val="014EA7"/>
                </a:solidFill>
                <a:effectLst/>
                <a:latin typeface="NeuzeitGro"/>
                <a:hlinkClick r:id="rId2"/>
              </a:rPr>
              <a:t>dental checkups</a:t>
            </a:r>
            <a:r>
              <a:rPr lang="en-US" b="0" i="0" dirty="0">
                <a:solidFill>
                  <a:srgbClr val="606A95"/>
                </a:solidFill>
                <a:effectLst/>
                <a:latin typeface="NeuzeitGro"/>
              </a:rPr>
              <a:t> .</a:t>
            </a:r>
          </a:p>
          <a:p>
            <a:pPr algn="l"/>
            <a:r>
              <a:rPr lang="en-US" b="0" i="0" dirty="0">
                <a:solidFill>
                  <a:srgbClr val="082073"/>
                </a:solidFill>
                <a:effectLst/>
                <a:latin typeface="NeuzeitGro"/>
              </a:rPr>
              <a:t>orthodontist</a:t>
            </a:r>
          </a:p>
          <a:p>
            <a:pPr algn="l"/>
            <a:r>
              <a:rPr lang="en-US" b="0" i="0" dirty="0">
                <a:solidFill>
                  <a:srgbClr val="606A95"/>
                </a:solidFill>
                <a:effectLst/>
                <a:latin typeface="NeuzeitGro"/>
              </a:rPr>
              <a:t>Orthodontists are dental specialists. The primary focus for </a:t>
            </a:r>
            <a:r>
              <a:rPr lang="en-US" b="0" i="0" u="none" strike="noStrike" dirty="0">
                <a:solidFill>
                  <a:srgbClr val="014EA7"/>
                </a:solidFill>
                <a:effectLst/>
                <a:latin typeface="NeuzeitGro"/>
                <a:hlinkClick r:id="rId3"/>
              </a:rPr>
              <a:t>an orthodontist</a:t>
            </a:r>
            <a:r>
              <a:rPr lang="en-US" b="0" i="0" dirty="0">
                <a:solidFill>
                  <a:srgbClr val="606A95"/>
                </a:solidFill>
                <a:effectLst/>
                <a:latin typeface="NeuzeitGro"/>
              </a:rPr>
              <a:t> is finding the cause for and treating dental displacement and malocclusions, which are improper bites.</a:t>
            </a:r>
          </a:p>
          <a:p>
            <a:endParaRPr lang="en-IN" dirty="0"/>
          </a:p>
        </p:txBody>
      </p:sp>
    </p:spTree>
    <p:extLst>
      <p:ext uri="{BB962C8B-B14F-4D97-AF65-F5344CB8AC3E}">
        <p14:creationId xmlns:p14="http://schemas.microsoft.com/office/powerpoint/2010/main" val="72037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D4AE2-DE38-011D-5ECD-76D587738F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272FD5-BEF9-0BF8-6050-695B73EBBCA9}"/>
              </a:ext>
            </a:extLst>
          </p:cNvPr>
          <p:cNvSpPr>
            <a:spLocks noGrp="1"/>
          </p:cNvSpPr>
          <p:nvPr>
            <p:ph idx="1"/>
          </p:nvPr>
        </p:nvSpPr>
        <p:spPr/>
        <p:txBody>
          <a:bodyPr>
            <a:normAutofit fontScale="92500" lnSpcReduction="20000"/>
          </a:bodyPr>
          <a:lstStyle/>
          <a:p>
            <a:pPr algn="l"/>
            <a:r>
              <a:rPr lang="en-US" b="0" i="0" dirty="0">
                <a:solidFill>
                  <a:srgbClr val="082073"/>
                </a:solidFill>
                <a:effectLst/>
                <a:latin typeface="NeuzeitGro"/>
              </a:rPr>
              <a:t>partial denture</a:t>
            </a:r>
          </a:p>
          <a:p>
            <a:pPr algn="l"/>
            <a:r>
              <a:rPr lang="en-US" b="0" i="0" dirty="0">
                <a:solidFill>
                  <a:srgbClr val="606A95"/>
                </a:solidFill>
                <a:effectLst/>
                <a:latin typeface="NeuzeitGro"/>
              </a:rPr>
              <a:t>A partial denture is a denture that is used for a patient missing a section of teeth, but unable to get a bridge. It replaces teeth for cosmetic or functional reasons, but is removable.</a:t>
            </a:r>
          </a:p>
          <a:p>
            <a:pPr algn="l"/>
            <a:r>
              <a:rPr lang="en-US" b="0" i="0" dirty="0">
                <a:solidFill>
                  <a:srgbClr val="082073"/>
                </a:solidFill>
                <a:effectLst/>
                <a:latin typeface="NeuzeitGro"/>
              </a:rPr>
              <a:t>periodontics</a:t>
            </a:r>
          </a:p>
          <a:p>
            <a:pPr algn="l"/>
            <a:r>
              <a:rPr lang="en-US" b="0" i="0" dirty="0">
                <a:solidFill>
                  <a:srgbClr val="606A95"/>
                </a:solidFill>
                <a:effectLst/>
                <a:latin typeface="NeuzeitGro"/>
              </a:rPr>
              <a:t>Periodontics is defined as the branch of dentistry that concentrates on the teeth themselves and any other supporting structures around them, including the gums and jaw bone.</a:t>
            </a:r>
          </a:p>
          <a:p>
            <a:pPr algn="l"/>
            <a:r>
              <a:rPr lang="en-US" b="0" i="0" dirty="0">
                <a:solidFill>
                  <a:srgbClr val="082073"/>
                </a:solidFill>
                <a:effectLst/>
                <a:latin typeface="NeuzeitGro"/>
              </a:rPr>
              <a:t>plaque</a:t>
            </a:r>
          </a:p>
          <a:p>
            <a:pPr algn="l"/>
            <a:r>
              <a:rPr lang="en-US" b="0" i="0" dirty="0">
                <a:solidFill>
                  <a:srgbClr val="606A95"/>
                </a:solidFill>
                <a:effectLst/>
                <a:latin typeface="NeuzeitGro"/>
              </a:rPr>
              <a:t>Plaque is a nasty build up on teeth that is created by bacteria attaching itself to your tooth. Plaque is one of the main causes of cavities, tooth decay and gum disease.</a:t>
            </a:r>
          </a:p>
          <a:p>
            <a:endParaRPr lang="en-IN" dirty="0"/>
          </a:p>
        </p:txBody>
      </p:sp>
    </p:spTree>
    <p:extLst>
      <p:ext uri="{BB962C8B-B14F-4D97-AF65-F5344CB8AC3E}">
        <p14:creationId xmlns:p14="http://schemas.microsoft.com/office/powerpoint/2010/main" val="1471060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1414</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NeuzeitGro</vt:lpstr>
      <vt:lpstr>Office Theme</vt:lpstr>
      <vt:lpstr>MEDICAL TERMINOLOGY IN DENTISTRY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TERMINOLOGY IN DENTISTRY </dc:title>
  <dc:creator>debjani mukherjee</dc:creator>
  <cp:lastModifiedBy>debjani mukherjee</cp:lastModifiedBy>
  <cp:revision>1</cp:revision>
  <dcterms:created xsi:type="dcterms:W3CDTF">2023-05-16T05:16:56Z</dcterms:created>
  <dcterms:modified xsi:type="dcterms:W3CDTF">2023-05-16T07:31:32Z</dcterms:modified>
</cp:coreProperties>
</file>