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0" r:id="rId8"/>
    <p:sldId id="257" r:id="rId9"/>
    <p:sldId id="261" r:id="rId10"/>
    <p:sldId id="267" r:id="rId11"/>
    <p:sldId id="259" r:id="rId12"/>
    <p:sldId id="269" r:id="rId13"/>
    <p:sldId id="268" r:id="rId14"/>
    <p:sldId id="272" r:id="rId15"/>
    <p:sldId id="270" r:id="rId16"/>
    <p:sldId id="271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AF8971-C0B5-4FD8-86D8-342A6DBA199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996129-46F2-4D9B-9F9D-42F6B4BC7169}">
      <dgm:prSet/>
      <dgm:spPr/>
      <dgm:t>
        <a:bodyPr/>
        <a:lstStyle/>
        <a:p>
          <a:pPr rtl="0"/>
          <a:r>
            <a:rPr lang="en-US"/>
            <a:t>BREAKING UP IS NOT HARD TO DO </a:t>
          </a:r>
        </a:p>
      </dgm:t>
    </dgm:pt>
    <dgm:pt modelId="{F68569B5-339E-45B9-A38A-BCB0DCCCDF04}" type="parTrans" cxnId="{1F81EFC7-2D63-4205-A05A-267D9826EB5C}">
      <dgm:prSet/>
      <dgm:spPr/>
      <dgm:t>
        <a:bodyPr/>
        <a:lstStyle/>
        <a:p>
          <a:endParaRPr lang="en-US"/>
        </a:p>
      </dgm:t>
    </dgm:pt>
    <dgm:pt modelId="{CA02674B-F544-46D1-9591-6A2FC7ABFEAB}" type="sibTrans" cxnId="{1F81EFC7-2D63-4205-A05A-267D9826EB5C}">
      <dgm:prSet/>
      <dgm:spPr/>
      <dgm:t>
        <a:bodyPr/>
        <a:lstStyle/>
        <a:p>
          <a:endParaRPr lang="en-US"/>
        </a:p>
      </dgm:t>
    </dgm:pt>
    <dgm:pt modelId="{FB7F6334-9E08-4409-B0A9-86EBEAAD2269}" type="pres">
      <dgm:prSet presAssocID="{6FAF8971-C0B5-4FD8-86D8-342A6DBA199F}" presName="CompostProcess" presStyleCnt="0">
        <dgm:presLayoutVars>
          <dgm:dir/>
          <dgm:resizeHandles val="exact"/>
        </dgm:presLayoutVars>
      </dgm:prSet>
      <dgm:spPr/>
    </dgm:pt>
    <dgm:pt modelId="{411824B4-335D-4C20-8516-03D666185D43}" type="pres">
      <dgm:prSet presAssocID="{6FAF8971-C0B5-4FD8-86D8-342A6DBA199F}" presName="arrow" presStyleLbl="bgShp" presStyleIdx="0" presStyleCnt="1"/>
      <dgm:spPr/>
    </dgm:pt>
    <dgm:pt modelId="{1FA615FD-1C8D-43B2-98C4-1A5B32BF866C}" type="pres">
      <dgm:prSet presAssocID="{6FAF8971-C0B5-4FD8-86D8-342A6DBA199F}" presName="linearProcess" presStyleCnt="0"/>
      <dgm:spPr/>
    </dgm:pt>
    <dgm:pt modelId="{2CA625E6-031E-410B-941E-ECBBF2384CA8}" type="pres">
      <dgm:prSet presAssocID="{89996129-46F2-4D9B-9F9D-42F6B4BC7169}" presName="textNode" presStyleLbl="node1" presStyleIdx="0" presStyleCnt="1">
        <dgm:presLayoutVars>
          <dgm:bulletEnabled val="1"/>
        </dgm:presLayoutVars>
      </dgm:prSet>
      <dgm:spPr/>
    </dgm:pt>
  </dgm:ptLst>
  <dgm:cxnLst>
    <dgm:cxn modelId="{967F1450-87B0-420A-9CEF-57FEC601A5E6}" type="presOf" srcId="{89996129-46F2-4D9B-9F9D-42F6B4BC7169}" destId="{2CA625E6-031E-410B-941E-ECBBF2384CA8}" srcOrd="0" destOrd="0" presId="urn:microsoft.com/office/officeart/2005/8/layout/hProcess9"/>
    <dgm:cxn modelId="{9A50BCC1-4273-491E-BEE7-3FEB10609280}" type="presOf" srcId="{6FAF8971-C0B5-4FD8-86D8-342A6DBA199F}" destId="{FB7F6334-9E08-4409-B0A9-86EBEAAD2269}" srcOrd="0" destOrd="0" presId="urn:microsoft.com/office/officeart/2005/8/layout/hProcess9"/>
    <dgm:cxn modelId="{1F81EFC7-2D63-4205-A05A-267D9826EB5C}" srcId="{6FAF8971-C0B5-4FD8-86D8-342A6DBA199F}" destId="{89996129-46F2-4D9B-9F9D-42F6B4BC7169}" srcOrd="0" destOrd="0" parTransId="{F68569B5-339E-45B9-A38A-BCB0DCCCDF04}" sibTransId="{CA02674B-F544-46D1-9591-6A2FC7ABFEAB}"/>
    <dgm:cxn modelId="{BF0D1680-DED8-4566-9139-602F45E30A8F}" type="presParOf" srcId="{FB7F6334-9E08-4409-B0A9-86EBEAAD2269}" destId="{411824B4-335D-4C20-8516-03D666185D43}" srcOrd="0" destOrd="0" presId="urn:microsoft.com/office/officeart/2005/8/layout/hProcess9"/>
    <dgm:cxn modelId="{E2D5F18A-58E7-4D87-BCD3-973E4277AB2D}" type="presParOf" srcId="{FB7F6334-9E08-4409-B0A9-86EBEAAD2269}" destId="{1FA615FD-1C8D-43B2-98C4-1A5B32BF866C}" srcOrd="1" destOrd="0" presId="urn:microsoft.com/office/officeart/2005/8/layout/hProcess9"/>
    <dgm:cxn modelId="{3F733CC2-4A8F-48F9-8E6C-41F622BB63FD}" type="presParOf" srcId="{1FA615FD-1C8D-43B2-98C4-1A5B32BF866C}" destId="{2CA625E6-031E-410B-941E-ECBBF2384CA8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824B4-335D-4C20-8516-03D666185D43}">
      <dsp:nvSpPr>
        <dsp:cNvPr id="0" name=""/>
        <dsp:cNvSpPr/>
      </dsp:nvSpPr>
      <dsp:spPr>
        <a:xfrm>
          <a:off x="474344" y="0"/>
          <a:ext cx="5375910" cy="54102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A625E6-031E-410B-941E-ECBBF2384CA8}">
      <dsp:nvSpPr>
        <dsp:cNvPr id="0" name=""/>
        <dsp:cNvSpPr/>
      </dsp:nvSpPr>
      <dsp:spPr>
        <a:xfrm>
          <a:off x="0" y="1623059"/>
          <a:ext cx="6324600" cy="2164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BREAKING UP IS NOT HARD TO DO </a:t>
          </a:r>
        </a:p>
      </dsp:txBody>
      <dsp:txXfrm>
        <a:off x="105642" y="1728701"/>
        <a:ext cx="6113316" cy="1952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7520F898-21DB-4BAF-B4EC-66F0A658660C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3C581302-BC82-45D6-82CD-E523A7EAEE0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MEDICAL TERMINOLOGY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admin\Desktop\pics for ppt\ehr-1476525__48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039" y="0"/>
            <a:ext cx="421894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29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Medical terminology is language used to precisely describe the human body including its components, processes, conditions affecting it, and procedures performed upon it. </a:t>
            </a:r>
          </a:p>
        </p:txBody>
      </p:sp>
    </p:spTree>
    <p:extLst>
      <p:ext uri="{BB962C8B-B14F-4D97-AF65-F5344CB8AC3E}">
        <p14:creationId xmlns:p14="http://schemas.microsoft.com/office/powerpoint/2010/main" val="3962408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words structurally</a:t>
            </a:r>
          </a:p>
          <a:p>
            <a:r>
              <a:rPr lang="en-US" dirty="0"/>
              <a:t>To correlate and understand word elements with the basics of anatomy , physiology and diseases of human body </a:t>
            </a:r>
          </a:p>
          <a:p>
            <a:r>
              <a:rPr lang="en-US" dirty="0"/>
              <a:t>To pronounce and write correct spelling of medical terms </a:t>
            </a:r>
          </a:p>
        </p:txBody>
      </p:sp>
    </p:spTree>
    <p:extLst>
      <p:ext uri="{BB962C8B-B14F-4D97-AF65-F5344CB8AC3E}">
        <p14:creationId xmlns:p14="http://schemas.microsoft.com/office/powerpoint/2010/main" val="37051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33400"/>
            <a:ext cx="7696200" cy="4953000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ANGLO –SAXON ( OLD ENGLISH )</a:t>
            </a:r>
          </a:p>
          <a:p>
            <a:r>
              <a:rPr lang="en-US" dirty="0"/>
              <a:t>Mostly anatomical terms from old </a:t>
            </a:r>
            <a:r>
              <a:rPr lang="en-US" dirty="0" err="1"/>
              <a:t>english</a:t>
            </a:r>
            <a:r>
              <a:rPr lang="en-US" dirty="0"/>
              <a:t>.</a:t>
            </a:r>
          </a:p>
          <a:p>
            <a:r>
              <a:rPr lang="en-US" dirty="0" err="1"/>
              <a:t>Eg.Arm,Back</a:t>
            </a:r>
            <a:r>
              <a:rPr lang="en-US" dirty="0"/>
              <a:t>, Bladder, blood, cheek, chest, ear, finger, nose, thumb etc.</a:t>
            </a:r>
          </a:p>
          <a:p>
            <a:r>
              <a:rPr lang="en-US" b="1" u="sng" dirty="0"/>
              <a:t>GREECO – ROMAN ( GREEUK AND LATIN)</a:t>
            </a:r>
          </a:p>
          <a:p>
            <a:r>
              <a:rPr lang="en-US" dirty="0"/>
              <a:t>Words are from </a:t>
            </a:r>
            <a:r>
              <a:rPr lang="en-US" dirty="0" err="1"/>
              <a:t>greek</a:t>
            </a:r>
            <a:r>
              <a:rPr lang="en-US" dirty="0"/>
              <a:t> and </a:t>
            </a:r>
            <a:r>
              <a:rPr lang="en-US" dirty="0" err="1"/>
              <a:t>latin</a:t>
            </a:r>
            <a:r>
              <a:rPr lang="en-US" dirty="0"/>
              <a:t> language </a:t>
            </a:r>
          </a:p>
          <a:p>
            <a:r>
              <a:rPr lang="en-US" dirty="0"/>
              <a:t>Marrow: ( from Medulla), </a:t>
            </a:r>
            <a:r>
              <a:rPr lang="en-US" dirty="0" err="1"/>
              <a:t>Crani</a:t>
            </a:r>
            <a:r>
              <a:rPr lang="en-US" dirty="0"/>
              <a:t>: skull, </a:t>
            </a:r>
            <a:r>
              <a:rPr lang="en-US" dirty="0" err="1"/>
              <a:t>Cerebro</a:t>
            </a:r>
            <a:r>
              <a:rPr lang="en-US" dirty="0"/>
              <a:t> : Brain, </a:t>
            </a:r>
            <a:r>
              <a:rPr lang="en-US" dirty="0" err="1"/>
              <a:t>Rhin</a:t>
            </a:r>
            <a:r>
              <a:rPr lang="en-US" dirty="0"/>
              <a:t>: Nose, </a:t>
            </a:r>
            <a:r>
              <a:rPr lang="en-US" dirty="0" err="1"/>
              <a:t>Pneumo</a:t>
            </a:r>
            <a:r>
              <a:rPr lang="en-US" dirty="0"/>
              <a:t> : Lungs , air </a:t>
            </a:r>
          </a:p>
          <a:p>
            <a:r>
              <a:rPr lang="en-US" b="1" u="sng" dirty="0"/>
              <a:t>ARABIC</a:t>
            </a:r>
            <a:r>
              <a:rPr lang="en-US" dirty="0"/>
              <a:t> </a:t>
            </a:r>
          </a:p>
          <a:p>
            <a:r>
              <a:rPr lang="en-US" dirty="0"/>
              <a:t>Words are used to describe chemical substances </a:t>
            </a:r>
          </a:p>
          <a:p>
            <a:r>
              <a:rPr lang="en-US" dirty="0"/>
              <a:t>Alcohol: something subtle, </a:t>
            </a:r>
            <a:r>
              <a:rPr lang="en-US" dirty="0" err="1"/>
              <a:t>Sharab</a:t>
            </a:r>
            <a:r>
              <a:rPr lang="en-US" dirty="0"/>
              <a:t>: Sweet  Beverage</a:t>
            </a:r>
          </a:p>
          <a:p>
            <a:r>
              <a:rPr lang="en-US" b="1" u="sng" dirty="0"/>
              <a:t>MODERN GERMAN </a:t>
            </a:r>
          </a:p>
          <a:p>
            <a:r>
              <a:rPr lang="en-US" dirty="0"/>
              <a:t>Derived from French</a:t>
            </a:r>
          </a:p>
          <a:p>
            <a:r>
              <a:rPr lang="en-US" dirty="0"/>
              <a:t>Fahrenheit for thermometer,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0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81000"/>
            <a:ext cx="7696200" cy="4953000"/>
          </a:xfrm>
        </p:spPr>
        <p:txBody>
          <a:bodyPr/>
          <a:lstStyle/>
          <a:p>
            <a:r>
              <a:rPr lang="en-US" b="1" dirty="0"/>
              <a:t>COLORS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202934"/>
              </p:ext>
            </p:extLst>
          </p:nvPr>
        </p:nvGraphicFramePr>
        <p:xfrm>
          <a:off x="2514600" y="533400"/>
          <a:ext cx="6400800" cy="2286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069">
                <a:tc>
                  <a:txBody>
                    <a:bodyPr/>
                    <a:lstStyle/>
                    <a:p>
                      <a:r>
                        <a:rPr lang="en-US" dirty="0" err="1"/>
                        <a:t>Colour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</a:t>
                      </a:r>
                      <a:r>
                        <a:rPr lang="en-US" baseline="0" dirty="0"/>
                        <a:t> terms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733">
                <a:tc>
                  <a:txBody>
                    <a:bodyPr/>
                    <a:lstStyle/>
                    <a:p>
                      <a:r>
                        <a:rPr lang="en-US" dirty="0"/>
                        <a:t>White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Albus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leukos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Leukocytes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733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Erythros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Erythrocyte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733"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Cirrhos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Cirrhosis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733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Xanthos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Xathoma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3048000"/>
            <a:ext cx="205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NUMERALS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227188"/>
              </p:ext>
            </p:extLst>
          </p:nvPr>
        </p:nvGraphicFramePr>
        <p:xfrm>
          <a:off x="2514600" y="3395723"/>
          <a:ext cx="6553200" cy="2014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619">
                <a:tc>
                  <a:txBody>
                    <a:bodyPr/>
                    <a:lstStyle/>
                    <a:p>
                      <a:r>
                        <a:rPr lang="en-US" dirty="0"/>
                        <a:t>Numerals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 terms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619">
                <a:tc>
                  <a:txBody>
                    <a:bodyPr/>
                    <a:lstStyle/>
                    <a:p>
                      <a:r>
                        <a:rPr lang="en-US" dirty="0"/>
                        <a:t>Half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Hemi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Hemi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plegia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619">
                <a:tc>
                  <a:txBody>
                    <a:bodyPr/>
                    <a:lstStyle/>
                    <a:p>
                      <a:r>
                        <a:rPr lang="en-US" dirty="0"/>
                        <a:t>First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Primigravida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619">
                <a:tc>
                  <a:txBody>
                    <a:bodyPr/>
                    <a:lstStyle/>
                    <a:p>
                      <a:r>
                        <a:rPr lang="en-US" dirty="0"/>
                        <a:t>Two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Duodenum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7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ELEMENTS OF MEDICAL TERMS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543800" cy="3886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b="1" dirty="0"/>
              <a:t>ROOT</a:t>
            </a:r>
            <a:r>
              <a:rPr lang="en-US" dirty="0"/>
              <a:t> : foundation of the word</a:t>
            </a:r>
          </a:p>
          <a:p>
            <a:r>
              <a:rPr lang="en-US" dirty="0"/>
              <a:t>               </a:t>
            </a:r>
            <a:r>
              <a:rPr lang="en-US" dirty="0" err="1"/>
              <a:t>gastr</a:t>
            </a:r>
            <a:r>
              <a:rPr lang="en-US" dirty="0"/>
              <a:t>/</a:t>
            </a:r>
            <a:r>
              <a:rPr lang="en-US" dirty="0" err="1"/>
              <a:t>ic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Root( stomach)</a:t>
            </a:r>
          </a:p>
          <a:p>
            <a:pPr marL="0" indent="0">
              <a:buNone/>
            </a:pPr>
            <a:r>
              <a:rPr lang="en-US" b="1" dirty="0"/>
              <a:t>SUFFIX</a:t>
            </a:r>
            <a:r>
              <a:rPr lang="en-US" dirty="0"/>
              <a:t>: Word ending </a:t>
            </a:r>
          </a:p>
          <a:p>
            <a:pPr marL="0" indent="0">
              <a:buNone/>
            </a:pPr>
            <a:r>
              <a:rPr lang="en-US" dirty="0"/>
              <a:t>                 </a:t>
            </a:r>
            <a:r>
              <a:rPr lang="en-US" dirty="0" err="1"/>
              <a:t>gastr</a:t>
            </a:r>
            <a:r>
              <a:rPr lang="en-US" dirty="0"/>
              <a:t>/ </a:t>
            </a:r>
            <a:r>
              <a:rPr lang="en-US" u="sng" dirty="0" err="1"/>
              <a:t>itis</a:t>
            </a:r>
            <a:r>
              <a:rPr lang="en-US" u="sng" dirty="0"/>
              <a:t>   </a:t>
            </a:r>
            <a:r>
              <a:rPr lang="en-US" dirty="0"/>
              <a:t>           suffix( inflammation)</a:t>
            </a:r>
          </a:p>
          <a:p>
            <a:pPr marL="0" indent="0">
              <a:buNone/>
            </a:pPr>
            <a:r>
              <a:rPr lang="en-US" b="1" dirty="0"/>
              <a:t>PREFIX</a:t>
            </a:r>
            <a:r>
              <a:rPr lang="en-US" dirty="0"/>
              <a:t>: Word beginning</a:t>
            </a:r>
          </a:p>
          <a:p>
            <a:pPr marL="0" indent="0">
              <a:buNone/>
            </a:pPr>
            <a:r>
              <a:rPr lang="en-US" dirty="0"/>
              <a:t>                  </a:t>
            </a:r>
            <a:r>
              <a:rPr lang="en-US" u="sng" dirty="0" err="1"/>
              <a:t>epi</a:t>
            </a:r>
            <a:r>
              <a:rPr lang="en-US" dirty="0"/>
              <a:t>/</a:t>
            </a:r>
            <a:r>
              <a:rPr lang="en-US" dirty="0" err="1"/>
              <a:t>gastr</a:t>
            </a:r>
            <a:r>
              <a:rPr lang="en-US" dirty="0"/>
              <a:t>/</a:t>
            </a:r>
            <a:r>
              <a:rPr lang="en-US" dirty="0" err="1"/>
              <a:t>ic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          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</a:p>
          <a:p>
            <a:pPr marL="0" indent="0">
              <a:buNone/>
            </a:pPr>
            <a:r>
              <a:rPr lang="en-US" dirty="0"/>
              <a:t>                   prefix( above)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514600" y="12954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971800" y="25146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286000" y="3439236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780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Prefixes</a:t>
            </a:r>
            <a:r>
              <a:rPr lang="en-US" dirty="0"/>
              <a:t> are </a:t>
            </a:r>
            <a:r>
              <a:rPr lang="en-US" b="1" dirty="0"/>
              <a:t>frequently</a:t>
            </a:r>
            <a:r>
              <a:rPr lang="en-US" dirty="0"/>
              <a:t> found in general language (</a:t>
            </a:r>
            <a:r>
              <a:rPr lang="en-US" dirty="0" err="1"/>
              <a:t>ie</a:t>
            </a:r>
            <a:r>
              <a:rPr lang="en-US" dirty="0"/>
              <a:t>, autopilot, submarine, tricycle), as well as in </a:t>
            </a:r>
            <a:r>
              <a:rPr lang="en-US" b="1" dirty="0"/>
              <a:t>medical</a:t>
            </a:r>
            <a:r>
              <a:rPr lang="en-US" dirty="0"/>
              <a:t> and scientific </a:t>
            </a:r>
            <a:r>
              <a:rPr lang="en-US" b="1" dirty="0"/>
              <a:t>terminology</a:t>
            </a:r>
            <a:r>
              <a:rPr lang="en-US" dirty="0"/>
              <a:t>.</a:t>
            </a:r>
          </a:p>
          <a:p>
            <a:r>
              <a:rPr lang="en-US" dirty="0"/>
              <a:t> Not all </a:t>
            </a:r>
            <a:r>
              <a:rPr lang="en-US" b="1" dirty="0"/>
              <a:t>medical</a:t>
            </a:r>
            <a:r>
              <a:rPr lang="en-US" dirty="0"/>
              <a:t> terms have </a:t>
            </a:r>
            <a:r>
              <a:rPr lang="en-US" b="1" dirty="0"/>
              <a:t>prefixes</a:t>
            </a:r>
            <a:r>
              <a:rPr lang="en-US" dirty="0"/>
              <a:t>.</a:t>
            </a:r>
          </a:p>
          <a:p>
            <a:r>
              <a:rPr lang="en-US" dirty="0"/>
              <a:t>A prefix consists of one or two syllables placed before a word to modify its meaning.</a:t>
            </a:r>
          </a:p>
          <a:p>
            <a:r>
              <a:rPr lang="en-US" dirty="0"/>
              <a:t>Syllables are either prepositions or adverbs </a:t>
            </a:r>
          </a:p>
        </p:txBody>
      </p:sp>
    </p:spTree>
    <p:extLst>
      <p:ext uri="{BB962C8B-B14F-4D97-AF65-F5344CB8AC3E}">
        <p14:creationId xmlns:p14="http://schemas.microsoft.com/office/powerpoint/2010/main" val="55985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257800"/>
            <a:ext cx="6781800" cy="1219200"/>
          </a:xfrm>
        </p:spPr>
        <p:txBody>
          <a:bodyPr/>
          <a:lstStyle/>
          <a:p>
            <a:r>
              <a:rPr lang="en-US" dirty="0"/>
              <a:t>Examples of prefixes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359588"/>
              </p:ext>
            </p:extLst>
          </p:nvPr>
        </p:nvGraphicFramePr>
        <p:xfrm>
          <a:off x="914400" y="304803"/>
          <a:ext cx="7391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217"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MEANING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EXAMPLE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Mono-, </a:t>
                      </a:r>
                      <a:r>
                        <a:rPr lang="en-US" dirty="0" err="1"/>
                        <a:t>uni</a:t>
                      </a:r>
                      <a:r>
                        <a:rPr lang="en-US" dirty="0"/>
                        <a:t>-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One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Unilateral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Bi-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Two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Bilateral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Tri-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Three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Triplicate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0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857589"/>
              </p:ext>
            </p:extLst>
          </p:nvPr>
        </p:nvGraphicFramePr>
        <p:xfrm>
          <a:off x="990600" y="2438400"/>
          <a:ext cx="73152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Hyper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Hyperacidity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hypo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Hypoglycemia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Between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Intercostal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177102"/>
              </p:ext>
            </p:extLst>
          </p:nvPr>
        </p:nvGraphicFramePr>
        <p:xfrm>
          <a:off x="990599" y="3581401"/>
          <a:ext cx="7315201" cy="205739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438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Ab</a:t>
                      </a: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Away from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Abduction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Ecto</a:t>
                      </a:r>
                      <a:r>
                        <a:rPr lang="en-US" dirty="0"/>
                        <a:t>-, </a:t>
                      </a:r>
                      <a:r>
                        <a:rPr lang="en-US" dirty="0" err="1"/>
                        <a:t>exo</a:t>
                      </a:r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Outside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Ectoparasite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Endo-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Endoderm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Epi-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Upon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Epicondrium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852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410200"/>
            <a:ext cx="6858000" cy="762000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Exercise for prefix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392768"/>
              </p:ext>
            </p:extLst>
          </p:nvPr>
        </p:nvGraphicFramePr>
        <p:xfrm>
          <a:off x="762000" y="457198"/>
          <a:ext cx="7467599" cy="480060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297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277">
                <a:tc>
                  <a:txBody>
                    <a:bodyPr/>
                    <a:lstStyle/>
                    <a:p>
                      <a:r>
                        <a:rPr lang="en-US" sz="2000" dirty="0"/>
                        <a:t>Infra-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Below or beneath</a:t>
                      </a:r>
                      <a:endParaRPr lang="en-US" sz="200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 dirty="0"/>
                        <a:t>Inter-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Between</a:t>
                      </a:r>
                      <a:endParaRPr lang="en-US" sz="200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 dirty="0"/>
                        <a:t>Intra-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Within, inside</a:t>
                      </a:r>
                      <a:endParaRPr lang="en-US" sz="200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 dirty="0"/>
                        <a:t>Intro-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Into, or within</a:t>
                      </a:r>
                      <a:endParaRPr lang="en-US" sz="200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 dirty="0"/>
                        <a:t>Macro-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Large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/>
                        <a:t>Micro-, micr-</a:t>
                      </a:r>
                      <a:endParaRPr lang="en-US" sz="200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Tiny, small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 dirty="0"/>
                        <a:t>Post-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After, or following, behind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 dirty="0"/>
                        <a:t>Pre-, pro-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 front of, before, preceding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 dirty="0"/>
                        <a:t>Retro-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Behind, backward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/>
                        <a:t>Semi-</a:t>
                      </a:r>
                      <a:endParaRPr lang="en-US" sz="200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Half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 dirty="0"/>
                        <a:t>Trans-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Through or across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/>
                        <a:t>Tri-</a:t>
                      </a:r>
                      <a:endParaRPr lang="en-US" sz="200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Three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r>
                        <a:rPr lang="en-US" sz="2000" dirty="0"/>
                        <a:t>Ultra-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Excessive, beyond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47145" marR="47145" marT="23573" marB="23573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807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953000"/>
            <a:ext cx="7239000" cy="1219200"/>
          </a:xfrm>
        </p:spPr>
        <p:txBody>
          <a:bodyPr/>
          <a:lstStyle/>
          <a:p>
            <a:r>
              <a:rPr lang="en-US" dirty="0"/>
              <a:t>SUFFIXES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7696200" cy="4343400"/>
          </a:xfrm>
        </p:spPr>
        <p:txBody>
          <a:bodyPr/>
          <a:lstStyle/>
          <a:p>
            <a:r>
              <a:rPr lang="en-US" dirty="0"/>
              <a:t>Suffixes refer to a syllable denoting a preposition or adverb attached to the end of a word, root, to modify its meaning.</a:t>
            </a:r>
          </a:p>
          <a:p>
            <a:r>
              <a:rPr lang="en-US" dirty="0"/>
              <a:t>Many endings are adjectives or nouns</a:t>
            </a:r>
          </a:p>
          <a:p>
            <a:r>
              <a:rPr lang="en-US" dirty="0"/>
              <a:t>They may be combining forms or pseudo –suffixes </a:t>
            </a:r>
          </a:p>
          <a:p>
            <a:r>
              <a:rPr lang="en-US" dirty="0"/>
              <a:t>It have been classified according to their meanings into diagnostic , </a:t>
            </a:r>
            <a:r>
              <a:rPr lang="en-US" dirty="0" err="1"/>
              <a:t>oerative</a:t>
            </a:r>
            <a:r>
              <a:rPr lang="en-US" dirty="0"/>
              <a:t> and symptomatic suffixes and compounding elements </a:t>
            </a:r>
          </a:p>
        </p:txBody>
      </p:sp>
    </p:spTree>
    <p:extLst>
      <p:ext uri="{BB962C8B-B14F-4D97-AF65-F5344CB8AC3E}">
        <p14:creationId xmlns:p14="http://schemas.microsoft.com/office/powerpoint/2010/main" val="2959950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76800"/>
            <a:ext cx="8077200" cy="1295400"/>
          </a:xfrm>
        </p:spPr>
        <p:txBody>
          <a:bodyPr>
            <a:noAutofit/>
          </a:bodyPr>
          <a:lstStyle/>
          <a:p>
            <a:r>
              <a:rPr lang="en-US" sz="4400" dirty="0"/>
              <a:t>EXAMPLES OF SUFFIXES( operative ) 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978639"/>
              </p:ext>
            </p:extLst>
          </p:nvPr>
        </p:nvGraphicFramePr>
        <p:xfrm>
          <a:off x="685800" y="685800"/>
          <a:ext cx="8153400" cy="418322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02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latin typeface="+mn-lt"/>
                        </a:rPr>
                        <a:t>Suffix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latin typeface="+mn-lt"/>
                        </a:rPr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latin typeface="+mn-lt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r>
                        <a:rPr lang="en-US" dirty="0" err="1"/>
                        <a:t>centesis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Puncture a cavity to remove fluid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Amniocentesis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0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-ectomy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Surgical removal or excision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Hysterectomy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0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-ostomy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new permanent opening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Tracheostomy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r>
                        <a:rPr lang="en-US" dirty="0" err="1"/>
                        <a:t>otomy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Cutting into, incision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Gastrotomy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0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-orrhaphy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Surgical repair or suture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Gastrorrhaphy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40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-opexy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Surgical fixation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Nephropexy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40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-oplasty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Surgical repair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Rhinoplasty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4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r>
                        <a:rPr lang="en-US" dirty="0" err="1"/>
                        <a:t>otripsy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Crushing or destroying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Lithotripsy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672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029200"/>
            <a:ext cx="7543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Examples of SUFFIXES (symptomatic 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180127"/>
              </p:ext>
            </p:extLst>
          </p:nvPr>
        </p:nvGraphicFramePr>
        <p:xfrm>
          <a:off x="609600" y="762000"/>
          <a:ext cx="8229600" cy="365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50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4393"/>
              </p:ext>
            </p:extLst>
          </p:nvPr>
        </p:nvGraphicFramePr>
        <p:xfrm>
          <a:off x="838200" y="457200"/>
          <a:ext cx="7467600" cy="390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315">
                <a:tc>
                  <a:txBody>
                    <a:bodyPr/>
                    <a:lstStyle/>
                    <a:p>
                      <a:r>
                        <a:rPr lang="en-US" dirty="0"/>
                        <a:t>Suffix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r>
                        <a:rPr lang="en-US" dirty="0"/>
                        <a:t>Spasm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Contraction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Chirospasm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r>
                        <a:rPr lang="en-US" dirty="0" err="1"/>
                        <a:t>Rrhage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Escape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Hemorrhage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r>
                        <a:rPr lang="en-US" dirty="0" err="1"/>
                        <a:t>Lysis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Breaking down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Hemolysis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r>
                        <a:rPr lang="en-US" dirty="0" err="1"/>
                        <a:t>Osis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Increase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Cytosis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r>
                        <a:rPr lang="en-US" dirty="0" err="1"/>
                        <a:t>Penia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Decrease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Neutropenia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r>
                        <a:rPr lang="en-US" dirty="0"/>
                        <a:t>genic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Pathogenic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r>
                        <a:rPr lang="en-US" dirty="0" err="1"/>
                        <a:t>Algia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Gastralgia</a:t>
                      </a:r>
                      <a:r>
                        <a:rPr lang="en-US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784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root stem or main body of a word indicates the organ or part of which is modified by prefix or suffix or both.</a:t>
            </a:r>
          </a:p>
          <a:p>
            <a:r>
              <a:rPr lang="en-US" dirty="0"/>
              <a:t>Greek combining roots should be used only with </a:t>
            </a:r>
            <a:r>
              <a:rPr lang="en-US" dirty="0" err="1"/>
              <a:t>greek</a:t>
            </a:r>
            <a:r>
              <a:rPr lang="en-US" dirty="0"/>
              <a:t> prefixes or suffixes , </a:t>
            </a:r>
            <a:r>
              <a:rPr lang="en-US" dirty="0" err="1"/>
              <a:t>latin</a:t>
            </a:r>
            <a:r>
              <a:rPr lang="en-US" dirty="0"/>
              <a:t> with </a:t>
            </a:r>
            <a:r>
              <a:rPr lang="en-US" dirty="0" err="1"/>
              <a:t>latin</a:t>
            </a:r>
            <a:endParaRPr lang="en-US" dirty="0"/>
          </a:p>
          <a:p>
            <a:r>
              <a:rPr lang="en-US" b="1" dirty="0"/>
              <a:t>COMBINING </a:t>
            </a:r>
            <a:r>
              <a:rPr lang="en-US" dirty="0"/>
              <a:t>VOWEL:A vowel , usually a, I, or o is often inserted between the combining forms.</a:t>
            </a:r>
          </a:p>
          <a:p>
            <a:r>
              <a:rPr lang="en-US" b="1" dirty="0" err="1"/>
              <a:t>Cardi</a:t>
            </a:r>
            <a:r>
              <a:rPr lang="en-US" b="1" dirty="0"/>
              <a:t> /o/ gram, </a:t>
            </a:r>
          </a:p>
          <a:p>
            <a:r>
              <a:rPr lang="en-US" b="1" dirty="0" err="1"/>
              <a:t>Electr</a:t>
            </a:r>
            <a:r>
              <a:rPr lang="en-US" b="1" dirty="0"/>
              <a:t>/o/ </a:t>
            </a:r>
            <a:r>
              <a:rPr lang="en-US" b="1" dirty="0" err="1"/>
              <a:t>cardi</a:t>
            </a:r>
            <a:r>
              <a:rPr lang="en-US" b="1" dirty="0"/>
              <a:t>/ o/ gram </a:t>
            </a:r>
          </a:p>
        </p:txBody>
      </p:sp>
    </p:spTree>
    <p:extLst>
      <p:ext uri="{BB962C8B-B14F-4D97-AF65-F5344CB8AC3E}">
        <p14:creationId xmlns:p14="http://schemas.microsoft.com/office/powerpoint/2010/main" val="19487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554766067"/>
              </p:ext>
            </p:extLst>
          </p:nvPr>
        </p:nvGraphicFramePr>
        <p:xfrm>
          <a:off x="1219200" y="762000"/>
          <a:ext cx="6324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9370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46073"/>
            <a:ext cx="6781800" cy="541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047770"/>
              </p:ext>
            </p:extLst>
          </p:nvPr>
        </p:nvGraphicFramePr>
        <p:xfrm>
          <a:off x="1447800" y="60960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OSTE(O)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OSTEOMA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BONY TUMOR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039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admin\Desktop\IMG-20190820-WA0001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3657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dmin\Desktop\IMG-20190820-WA0004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752600"/>
            <a:ext cx="4038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747487"/>
              </p:ext>
            </p:extLst>
          </p:nvPr>
        </p:nvGraphicFramePr>
        <p:xfrm>
          <a:off x="1447800" y="609600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lang="en-US" dirty="0"/>
                        <a:t>SKIN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EPIDERMIS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dirty="0"/>
                        <a:t>BLOOD VESSELS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ANGI(O)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ANGIOPLASTY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26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7931001"/>
              </p:ext>
            </p:extLst>
          </p:nvPr>
        </p:nvGraphicFramePr>
        <p:xfrm>
          <a:off x="1966984" y="457200"/>
          <a:ext cx="5181600" cy="1124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891">
                <a:tc>
                  <a:txBody>
                    <a:bodyPr/>
                    <a:lstStyle/>
                    <a:p>
                      <a:r>
                        <a:rPr lang="en-US" dirty="0"/>
                        <a:t>NERVE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NEUR(O)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r>
                        <a:rPr lang="en-US" dirty="0"/>
                        <a:t>NEURON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NERALGIA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01200" y="1066800"/>
            <a:ext cx="3657600" cy="376732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 descr="C:\Users\admin\Desktop\IMG-20190820-WA000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3" r="47305"/>
          <a:stretch/>
        </p:blipFill>
        <p:spPr bwMode="auto">
          <a:xfrm>
            <a:off x="785884" y="1676399"/>
            <a:ext cx="7543800" cy="4454643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467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admin\Desktop\IMG-20190820-WA0002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37" y="1981200"/>
            <a:ext cx="411246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admin\Desktop\IMG-20190820-WA000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919344"/>
            <a:ext cx="3887020" cy="425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882534"/>
              </p:ext>
            </p:extLst>
          </p:nvPr>
        </p:nvGraphicFramePr>
        <p:xfrm>
          <a:off x="1524000" y="609600"/>
          <a:ext cx="609600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en-US" dirty="0"/>
                        <a:t>HERAT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VESSELS / VEIN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PHLEBO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546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210</TotalTime>
  <Words>676</Words>
  <Application>Microsoft Office PowerPoint</Application>
  <PresentationFormat>On-screen Show (4:3)</PresentationFormat>
  <Paragraphs>214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Impact</vt:lpstr>
      <vt:lpstr>Times New Roman</vt:lpstr>
      <vt:lpstr>NewsPrint</vt:lpstr>
      <vt:lpstr>MEDICAL TERMINOLOGY </vt:lpstr>
      <vt:lpstr>DEFINATION </vt:lpstr>
      <vt:lpstr>OBJECTIVE </vt:lpstr>
      <vt:lpstr>Sources </vt:lpstr>
      <vt:lpstr>Sources </vt:lpstr>
      <vt:lpstr>ELEMENTS OF MEDICAL TERMS </vt:lpstr>
      <vt:lpstr>PREFIXES</vt:lpstr>
      <vt:lpstr>Examples of prefixes </vt:lpstr>
      <vt:lpstr>Exercise for prefix </vt:lpstr>
      <vt:lpstr>SUFFIXES </vt:lpstr>
      <vt:lpstr>EXAMPLES OF SUFFIXES( operative ) </vt:lpstr>
      <vt:lpstr>Examples of SUFFIXES (symptomatic )</vt:lpstr>
      <vt:lpstr>ROOTS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debjani mukherjee</cp:lastModifiedBy>
  <cp:revision>37</cp:revision>
  <dcterms:created xsi:type="dcterms:W3CDTF">2019-08-16T10:13:11Z</dcterms:created>
  <dcterms:modified xsi:type="dcterms:W3CDTF">2020-12-10T15:42:58Z</dcterms:modified>
</cp:coreProperties>
</file>