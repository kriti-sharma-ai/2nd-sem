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6" r:id="rId3"/>
    <p:sldId id="257" r:id="rId4"/>
    <p:sldId id="258" r:id="rId5"/>
    <p:sldId id="259" r:id="rId6"/>
    <p:sldId id="261" r:id="rId7"/>
    <p:sldId id="263" r:id="rId8"/>
    <p:sldId id="262"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5/4/2021</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5/4/2021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5/4/2021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5/4/2021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5/4/2021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5/4/2021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5/4/2021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5/4/2021</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5/4/2021</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C4A44-6D22-4F60-9FD5-D64157337059}"/>
              </a:ext>
            </a:extLst>
          </p:cNvPr>
          <p:cNvSpPr>
            <a:spLocks noGrp="1"/>
          </p:cNvSpPr>
          <p:nvPr>
            <p:ph type="ctrTitle"/>
          </p:nvPr>
        </p:nvSpPr>
        <p:spPr>
          <a:xfrm>
            <a:off x="1749287" y="802298"/>
            <a:ext cx="9305565" cy="2541431"/>
          </a:xfrm>
        </p:spPr>
        <p:txBody>
          <a:bodyPr>
            <a:normAutofit fontScale="90000"/>
          </a:bodyPr>
          <a:lstStyle/>
          <a:p>
            <a:r>
              <a:rPr lang="en-IN" dirty="0"/>
              <a:t>Latin terms used in prescription writing </a:t>
            </a:r>
          </a:p>
        </p:txBody>
      </p:sp>
      <p:sp>
        <p:nvSpPr>
          <p:cNvPr id="3" name="Subtitle 2">
            <a:extLst>
              <a:ext uri="{FF2B5EF4-FFF2-40B4-BE49-F238E27FC236}">
                <a16:creationId xmlns:a16="http://schemas.microsoft.com/office/drawing/2014/main" id="{A79D6D95-23FB-4C07-8B95-26B771A4F564}"/>
              </a:ext>
            </a:extLst>
          </p:cNvPr>
          <p:cNvSpPr>
            <a:spLocks noGrp="1"/>
          </p:cNvSpPr>
          <p:nvPr>
            <p:ph type="subTitle" idx="1"/>
          </p:nvPr>
        </p:nvSpPr>
        <p:spPr>
          <a:xfrm>
            <a:off x="662609" y="3531204"/>
            <a:ext cx="10392243" cy="977621"/>
          </a:xfrm>
        </p:spPr>
        <p:txBody>
          <a:bodyPr/>
          <a:lstStyle/>
          <a:p>
            <a:r>
              <a:rPr lang="en-IN" dirty="0"/>
              <a:t>Debjani mukherjee </a:t>
            </a:r>
          </a:p>
          <a:p>
            <a:r>
              <a:rPr lang="en-IN" dirty="0" err="1"/>
              <a:t>Asst.prof</a:t>
            </a:r>
            <a:r>
              <a:rPr lang="en-IN" dirty="0"/>
              <a:t>(</a:t>
            </a:r>
            <a:r>
              <a:rPr lang="en-IN" dirty="0" err="1"/>
              <a:t>bbahm</a:t>
            </a:r>
            <a:r>
              <a:rPr lang="en-IN" dirty="0"/>
              <a:t> )</a:t>
            </a:r>
          </a:p>
        </p:txBody>
      </p:sp>
    </p:spTree>
    <p:extLst>
      <p:ext uri="{BB962C8B-B14F-4D97-AF65-F5344CB8AC3E}">
        <p14:creationId xmlns:p14="http://schemas.microsoft.com/office/powerpoint/2010/main" val="2667766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85D98-CE07-4C23-93DF-5EE21A42FB22}"/>
              </a:ext>
            </a:extLst>
          </p:cNvPr>
          <p:cNvSpPr>
            <a:spLocks noGrp="1"/>
          </p:cNvSpPr>
          <p:nvPr>
            <p:ph type="title"/>
          </p:nvPr>
        </p:nvSpPr>
        <p:spPr/>
        <p:txBody>
          <a:bodyPr/>
          <a:lstStyle/>
          <a:p>
            <a:r>
              <a:rPr lang="en-IN" dirty="0"/>
              <a:t>INTRODUCTON </a:t>
            </a:r>
          </a:p>
        </p:txBody>
      </p:sp>
      <p:sp>
        <p:nvSpPr>
          <p:cNvPr id="3" name="Content Placeholder 2">
            <a:extLst>
              <a:ext uri="{FF2B5EF4-FFF2-40B4-BE49-F238E27FC236}">
                <a16:creationId xmlns:a16="http://schemas.microsoft.com/office/drawing/2014/main" id="{8135B417-B063-49DD-9B20-C7029AB21D76}"/>
              </a:ext>
            </a:extLst>
          </p:cNvPr>
          <p:cNvSpPr>
            <a:spLocks noGrp="1"/>
          </p:cNvSpPr>
          <p:nvPr>
            <p:ph idx="1"/>
          </p:nvPr>
        </p:nvSpPr>
        <p:spPr/>
        <p:txBody>
          <a:bodyPr/>
          <a:lstStyle/>
          <a:p>
            <a:r>
              <a:rPr lang="en-US" dirty="0"/>
              <a:t>You may have seen abbreviations on prescriptions such as </a:t>
            </a:r>
            <a:r>
              <a:rPr lang="en-US" dirty="0" err="1"/>
              <a:t>q.i.d</a:t>
            </a:r>
            <a:r>
              <a:rPr lang="en-US" dirty="0"/>
              <a:t>. or b.i.d. and wondered what that meant. These and other instructions are written in abbreviations for Latin phrases. Centuries ago, all prescriptions were written in Latin. Now, only the directions for taking the drug have kept that trait.</a:t>
            </a:r>
          </a:p>
          <a:p>
            <a:r>
              <a:rPr lang="en-US" dirty="0">
                <a:solidFill>
                  <a:srgbClr val="FF0000"/>
                </a:solidFill>
                <a:latin typeface="Arial Black" panose="020B0A04020102020204" pitchFamily="34" charset="0"/>
              </a:rPr>
              <a:t>WHAT IS LATIN ABBREVIATION ???</a:t>
            </a:r>
            <a:endParaRPr lang="en-IN" dirty="0">
              <a:solidFill>
                <a:srgbClr val="FF0000"/>
              </a:solidFill>
              <a:latin typeface="Arial Black" panose="020B0A04020102020204" pitchFamily="34" charset="0"/>
            </a:endParaRPr>
          </a:p>
        </p:txBody>
      </p:sp>
    </p:spTree>
    <p:extLst>
      <p:ext uri="{BB962C8B-B14F-4D97-AF65-F5344CB8AC3E}">
        <p14:creationId xmlns:p14="http://schemas.microsoft.com/office/powerpoint/2010/main" val="3590725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DE304D2-ED93-4A67-939B-844712CDA327}"/>
              </a:ext>
            </a:extLst>
          </p:cNvPr>
          <p:cNvPicPr>
            <a:picLocks noChangeAspect="1"/>
          </p:cNvPicPr>
          <p:nvPr/>
        </p:nvPicPr>
        <p:blipFill rotWithShape="1">
          <a:blip r:embed="rId2"/>
          <a:srcRect l="6327" t="8904" r="5448" b="14939"/>
          <a:stretch/>
        </p:blipFill>
        <p:spPr>
          <a:xfrm>
            <a:off x="1550504" y="463826"/>
            <a:ext cx="8984974" cy="5658677"/>
          </a:xfrm>
          <a:prstGeom prst="rect">
            <a:avLst/>
          </a:prstGeom>
        </p:spPr>
      </p:pic>
    </p:spTree>
    <p:extLst>
      <p:ext uri="{BB962C8B-B14F-4D97-AF65-F5344CB8AC3E}">
        <p14:creationId xmlns:p14="http://schemas.microsoft.com/office/powerpoint/2010/main" val="4205529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8933436-F0DC-46EE-BFC8-0F978CBB6B6E}"/>
              </a:ext>
            </a:extLst>
          </p:cNvPr>
          <p:cNvPicPr>
            <a:picLocks noChangeAspect="1"/>
          </p:cNvPicPr>
          <p:nvPr/>
        </p:nvPicPr>
        <p:blipFill rotWithShape="1">
          <a:blip r:embed="rId2"/>
          <a:srcRect l="6378" t="8695" r="4637" b="4927"/>
          <a:stretch/>
        </p:blipFill>
        <p:spPr>
          <a:xfrm>
            <a:off x="1046922" y="0"/>
            <a:ext cx="10124661" cy="6135758"/>
          </a:xfrm>
          <a:prstGeom prst="rect">
            <a:avLst/>
          </a:prstGeom>
        </p:spPr>
      </p:pic>
    </p:spTree>
    <p:extLst>
      <p:ext uri="{BB962C8B-B14F-4D97-AF65-F5344CB8AC3E}">
        <p14:creationId xmlns:p14="http://schemas.microsoft.com/office/powerpoint/2010/main" val="24823454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0101934-508A-478D-8E59-4B35C4395F01}"/>
              </a:ext>
            </a:extLst>
          </p:cNvPr>
          <p:cNvPicPr>
            <a:picLocks noChangeAspect="1"/>
          </p:cNvPicPr>
          <p:nvPr/>
        </p:nvPicPr>
        <p:blipFill rotWithShape="1">
          <a:blip r:embed="rId2"/>
          <a:srcRect l="6377" t="8888" r="4781" b="3768"/>
          <a:stretch/>
        </p:blipFill>
        <p:spPr>
          <a:xfrm>
            <a:off x="993913" y="145774"/>
            <a:ext cx="10230678" cy="5989983"/>
          </a:xfrm>
          <a:prstGeom prst="rect">
            <a:avLst/>
          </a:prstGeom>
        </p:spPr>
      </p:pic>
    </p:spTree>
    <p:extLst>
      <p:ext uri="{BB962C8B-B14F-4D97-AF65-F5344CB8AC3E}">
        <p14:creationId xmlns:p14="http://schemas.microsoft.com/office/powerpoint/2010/main" val="3317666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7ABE592-2580-4111-961F-6A017DA99C1E}"/>
              </a:ext>
            </a:extLst>
          </p:cNvPr>
          <p:cNvPicPr>
            <a:picLocks noChangeAspect="1"/>
          </p:cNvPicPr>
          <p:nvPr/>
        </p:nvPicPr>
        <p:blipFill rotWithShape="1">
          <a:blip r:embed="rId2"/>
          <a:srcRect l="6232" t="8309" r="4493" b="14783"/>
          <a:stretch/>
        </p:blipFill>
        <p:spPr>
          <a:xfrm>
            <a:off x="1219200" y="0"/>
            <a:ext cx="9886122" cy="6175513"/>
          </a:xfrm>
          <a:prstGeom prst="rect">
            <a:avLst/>
          </a:prstGeom>
        </p:spPr>
      </p:pic>
    </p:spTree>
    <p:extLst>
      <p:ext uri="{BB962C8B-B14F-4D97-AF65-F5344CB8AC3E}">
        <p14:creationId xmlns:p14="http://schemas.microsoft.com/office/powerpoint/2010/main" val="2947591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D9A6AF7-2FD4-4D6B-A321-F6B866621B02}"/>
              </a:ext>
            </a:extLst>
          </p:cNvPr>
          <p:cNvPicPr>
            <a:picLocks noChangeAspect="1"/>
          </p:cNvPicPr>
          <p:nvPr/>
        </p:nvPicPr>
        <p:blipFill rotWithShape="1">
          <a:blip r:embed="rId2"/>
          <a:srcRect l="6812" t="9854" r="4348" b="35266"/>
          <a:stretch/>
        </p:blipFill>
        <p:spPr>
          <a:xfrm>
            <a:off x="1311965" y="609600"/>
            <a:ext cx="9647583" cy="5499653"/>
          </a:xfrm>
          <a:prstGeom prst="rect">
            <a:avLst/>
          </a:prstGeom>
        </p:spPr>
      </p:pic>
    </p:spTree>
    <p:extLst>
      <p:ext uri="{BB962C8B-B14F-4D97-AF65-F5344CB8AC3E}">
        <p14:creationId xmlns:p14="http://schemas.microsoft.com/office/powerpoint/2010/main" val="3136642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3BC0231-AD5A-4D60-9C1C-42B820181909}"/>
              </a:ext>
            </a:extLst>
          </p:cNvPr>
          <p:cNvPicPr>
            <a:picLocks noChangeAspect="1"/>
          </p:cNvPicPr>
          <p:nvPr/>
        </p:nvPicPr>
        <p:blipFill rotWithShape="1">
          <a:blip r:embed="rId2"/>
          <a:srcRect l="6378" t="8697" r="4637" b="26183"/>
          <a:stretch/>
        </p:blipFill>
        <p:spPr>
          <a:xfrm>
            <a:off x="993912" y="265043"/>
            <a:ext cx="10164417" cy="5844210"/>
          </a:xfrm>
          <a:prstGeom prst="rect">
            <a:avLst/>
          </a:prstGeom>
        </p:spPr>
      </p:pic>
    </p:spTree>
    <p:extLst>
      <p:ext uri="{BB962C8B-B14F-4D97-AF65-F5344CB8AC3E}">
        <p14:creationId xmlns:p14="http://schemas.microsoft.com/office/powerpoint/2010/main" val="30069000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28FCF-52A8-422F-A71E-F368F14CF9E1}"/>
              </a:ext>
            </a:extLst>
          </p:cNvPr>
          <p:cNvSpPr>
            <a:spLocks noGrp="1"/>
          </p:cNvSpPr>
          <p:nvPr>
            <p:ph type="title"/>
          </p:nvPr>
        </p:nvSpPr>
        <p:spPr/>
        <p:txBody>
          <a:bodyPr/>
          <a:lstStyle/>
          <a:p>
            <a:r>
              <a:rPr lang="en-IN" dirty="0"/>
              <a:t>THANK YOU </a:t>
            </a:r>
          </a:p>
        </p:txBody>
      </p:sp>
      <p:pic>
        <p:nvPicPr>
          <p:cNvPr id="5" name="Picture Placeholder 4">
            <a:extLst>
              <a:ext uri="{FF2B5EF4-FFF2-40B4-BE49-F238E27FC236}">
                <a16:creationId xmlns:a16="http://schemas.microsoft.com/office/drawing/2014/main" id="{12A9AC90-7C95-4D52-97D9-B87D6FEEFA5B}"/>
              </a:ext>
            </a:extLst>
          </p:cNvPr>
          <p:cNvPicPr>
            <a:picLocks noGrp="1" noChangeAspect="1"/>
          </p:cNvPicPr>
          <p:nvPr>
            <p:ph type="pic" idx="1"/>
          </p:nvPr>
        </p:nvPicPr>
        <p:blipFill>
          <a:blip r:embed="rId2"/>
          <a:srcRect l="1807" r="1807"/>
          <a:stretch>
            <a:fillRect/>
          </a:stretch>
        </p:blipFill>
        <p:spPr>
          <a:xfrm>
            <a:off x="8124825" y="1130300"/>
            <a:ext cx="2790825" cy="3865563"/>
          </a:xfrm>
          <a:prstGeom prst="rect">
            <a:avLst/>
          </a:prstGeom>
        </p:spPr>
      </p:pic>
      <p:sp>
        <p:nvSpPr>
          <p:cNvPr id="4" name="Text Placeholder 3">
            <a:extLst>
              <a:ext uri="{FF2B5EF4-FFF2-40B4-BE49-F238E27FC236}">
                <a16:creationId xmlns:a16="http://schemas.microsoft.com/office/drawing/2014/main" id="{6DCEAE28-0F90-406B-BE11-1B576CB5EE98}"/>
              </a:ext>
            </a:extLst>
          </p:cNvPr>
          <p:cNvSpPr>
            <a:spLocks noGrp="1"/>
          </p:cNvSpPr>
          <p:nvPr>
            <p:ph type="body" sz="half" idx="2"/>
          </p:nvPr>
        </p:nvSpPr>
        <p:spPr/>
        <p:txBody>
          <a:bodyPr/>
          <a:lstStyle/>
          <a:p>
            <a:endParaRPr lang="en-IN" dirty="0"/>
          </a:p>
        </p:txBody>
      </p:sp>
    </p:spTree>
    <p:extLst>
      <p:ext uri="{BB962C8B-B14F-4D97-AF65-F5344CB8AC3E}">
        <p14:creationId xmlns:p14="http://schemas.microsoft.com/office/powerpoint/2010/main" val="2445840692"/>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46</TotalTime>
  <Words>86</Words>
  <Application>Microsoft Office PowerPoint</Application>
  <PresentationFormat>Widescreen</PresentationFormat>
  <Paragraphs>7</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Arial Black</vt:lpstr>
      <vt:lpstr>Gill Sans MT</vt:lpstr>
      <vt:lpstr>Gallery</vt:lpstr>
      <vt:lpstr>Latin terms used in prescription writing </vt:lpstr>
      <vt:lpstr>INTRODUCTON </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Latin terms used in prescription writing </dc:title>
  <dc:creator>debjani mukherjee</dc:creator>
  <cp:lastModifiedBy>debjani mukherjee</cp:lastModifiedBy>
  <cp:revision>5</cp:revision>
  <dcterms:created xsi:type="dcterms:W3CDTF">2021-05-04T11:58:47Z</dcterms:created>
  <dcterms:modified xsi:type="dcterms:W3CDTF">2021-05-04T12:44:49Z</dcterms:modified>
</cp:coreProperties>
</file>