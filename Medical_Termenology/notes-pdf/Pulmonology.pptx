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CDB3D-448B-7258-4BC5-1F2CB8AC2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78596-DAF0-8E55-89E8-6F0F620FC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10B12-61E7-B14B-E94B-E5391182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A0181-CC09-E29E-BC54-6588EF69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B1937-CB37-5706-89DD-701AA621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604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F737-1D62-5C79-BC76-06ABDE6A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0B6F1-60D7-CC83-C341-671825A21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25D22-C976-D051-66D3-1BE2C36E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C6BA8-4149-C247-8FCC-E16919445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DA888-6FC3-1503-A845-12A3FAC8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77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ACA2-88DC-472D-0D52-ECBA78A3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4CA5C-6728-0D21-958E-B9F7FB7F3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1AA81-5892-0F69-F19E-DCAAD4AF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4E9A-ABD5-4064-FB71-0D713C54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9EC-2806-F053-D281-075C26B0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03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7BE9-2D09-9BBD-4F52-8750C6AE5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B69C-CB95-3160-3983-F1A23F7AA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98997-435C-EBA0-69CE-ACCE3F6CC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ADA649-1D31-DE22-B7F8-EFB3C0A6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66D04-4A69-0DB7-ED40-11B18224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82771-6FCE-648F-E109-99AFD262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59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51A1-F29D-6752-215A-22C77366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D5F1E-FD96-2722-A10E-F9939DD36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EE90-C45F-6A75-3C42-478806056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173806-11F7-3B9F-DA2C-EB650FA6EF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63E4D-98D6-CA10-5EE8-FA6C581B5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8E493-C786-8A01-A6D1-9FF1D4B5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C6048E-80E0-CAFE-F4BB-FBDDC866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CE5113-B1A1-85F8-9A2C-1E720CA2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56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572B-A5A5-6036-DCF1-D630B780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2251D-9072-E356-CC22-0C8AB10B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4CD4E3-1C6C-76CB-D7B5-86CD1761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96ECC-C943-2670-3BC6-AF104DF9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900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AFB407-8288-1DC4-125E-1E8F891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36A0B0-1B3A-1D71-BBB4-B8DA3B4E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43309-27F5-00D9-B9B2-06EA33CF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223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4A53-BB9B-0362-B190-7645DFB0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496EF-5985-A811-F94A-00EFA06C7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E7CE8-36C0-A68D-860A-4B55F3B41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1663-AEBD-A964-82B4-75FDD3EE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45E-8AF5-08FE-1962-E03C12E5F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FCBB-A81C-6B7F-67D8-06B445EB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298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1FEE-B9D2-B974-9CAB-6D117DB2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9E9C72-9027-028A-BB1D-4A9A09706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2ACC84-38CC-0EF2-CFEF-2853535AD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D2A61-8004-F87E-41DF-B3E1F4270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5CDF1-5DB6-B5D4-E990-6DEF098A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66360-A41C-39EA-E1EA-0B3917E0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35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D9FE-0347-BB0B-497F-45116684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1E9D9-D0D8-F0BB-7C2D-454DC9517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4ED3-995D-E9FE-ED10-8EE38279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406E7-4C08-B6BF-62B1-033EFF74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E03C1-A6EF-D9C0-D390-2925E7E0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19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673D1-424B-5736-E39F-C7B8A89519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F3C09-2C49-4BBA-85ED-DB99039C6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124F-657D-1722-3B85-B23F437A5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7F68C-429B-30BE-BDBA-EA511479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D61A4-49DF-EE43-73FC-52F89A4B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3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6C9CD-D785-3FAB-F0A5-658A8822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257C6-09D5-AA98-838E-79CB9EB7D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7F88F-6892-72EF-BED4-C83CBFE56E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072C7-7D47-4D77-B0B8-4E45124334C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C55A2-3EBD-F355-11A1-F26CB86DC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0160B-F386-6C0D-0A88-2251F7D7C1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34DC9-C539-4534-BFA6-1091E310F2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6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4100-81A5-5245-CE6D-132E32820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Pulmonology Department – Diagnostic Tests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8B5A3-AE3C-9318-080A-5E220207B5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Debjani Mukherjee</a:t>
            </a:r>
          </a:p>
        </p:txBody>
      </p:sp>
    </p:spTree>
    <p:extLst>
      <p:ext uri="{BB962C8B-B14F-4D97-AF65-F5344CB8AC3E}">
        <p14:creationId xmlns:p14="http://schemas.microsoft.com/office/powerpoint/2010/main" val="1250946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6F57-E673-8082-3AB4-E0E356D48FB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/>
              <a:t> </a:t>
            </a:r>
            <a:r>
              <a:rPr lang="en-IN" b="1" dirty="0"/>
              <a:t>Nuclear Lung Scanning (Ventilation-Perfusion Scan / V/Q Scan)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F8BAC-A431-4948-5B72-B93247781ECD}"/>
              </a:ext>
            </a:extLst>
          </p:cNvPr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IN" b="1" dirty="0"/>
              <a:t>Definition</a:t>
            </a:r>
          </a:p>
          <a:p>
            <a:pPr algn="just"/>
            <a:r>
              <a:rPr lang="en-IN" dirty="0"/>
              <a:t>Nuclear Lung Scanning, commonly known as a </a:t>
            </a:r>
            <a:r>
              <a:rPr lang="en-IN" b="1" dirty="0"/>
              <a:t>Ventilation-Perfusion (V/Q) Scan</a:t>
            </a:r>
            <a:r>
              <a:rPr lang="en-IN" dirty="0"/>
              <a:t>, is a nuclear medicine imaging procedure used to evaluate the distribution of air and blood flow within the lungs. The test uses small amounts of radioactive substances (radiotracers) and a gamma camera to create images of lung function.</a:t>
            </a:r>
          </a:p>
          <a:p>
            <a:r>
              <a:rPr lang="en-IN" b="1" dirty="0"/>
              <a:t>Objectives</a:t>
            </a:r>
          </a:p>
          <a:p>
            <a:r>
              <a:rPr lang="en-IN" dirty="0"/>
              <a:t>Detect pulmonary embolism (blood clot in the lungs) </a:t>
            </a:r>
          </a:p>
          <a:p>
            <a:r>
              <a:rPr lang="en-IN" dirty="0"/>
              <a:t>Assess regional lung function </a:t>
            </a:r>
          </a:p>
          <a:p>
            <a:r>
              <a:rPr lang="en-IN" dirty="0"/>
              <a:t>Evaluate chronic lung diseases </a:t>
            </a:r>
          </a:p>
          <a:p>
            <a:r>
              <a:rPr lang="en-IN" dirty="0"/>
              <a:t>Determine lung function before lung surgery </a:t>
            </a:r>
          </a:p>
          <a:p>
            <a:r>
              <a:rPr lang="en-IN" dirty="0"/>
              <a:t>Investigate unexplained shortness of breath </a:t>
            </a:r>
          </a:p>
          <a:p>
            <a:r>
              <a:rPr lang="en-IN" dirty="0"/>
              <a:t>Assess congenital and vascular lung disorders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8B5F5-1813-7F14-4CF4-553BF7402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120" y="3805881"/>
            <a:ext cx="3729680" cy="237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9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A517-4F96-C370-BF62-7DA1C1AE3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5837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Types of V/Q Scan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B8FCF-D74D-8D4E-F258-29B0EEE53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063"/>
            <a:ext cx="6971270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b="1" dirty="0"/>
              <a:t>A</a:t>
            </a:r>
            <a:r>
              <a:rPr lang="en-IN" b="1" dirty="0">
                <a:highlight>
                  <a:srgbClr val="FFFF00"/>
                </a:highlight>
              </a:rPr>
              <a:t>. Ventilation Scan</a:t>
            </a:r>
          </a:p>
          <a:p>
            <a:r>
              <a:rPr lang="en-IN" dirty="0"/>
              <a:t>Evaluates how well air reaches different parts of the lungs.</a:t>
            </a:r>
          </a:p>
          <a:p>
            <a:r>
              <a:rPr lang="en-IN" b="1" dirty="0"/>
              <a:t>Procedure:</a:t>
            </a:r>
            <a:endParaRPr lang="en-IN" dirty="0"/>
          </a:p>
          <a:p>
            <a:r>
              <a:rPr lang="en-IN" dirty="0"/>
              <a:t>The patient inhales a radioactive gas or aerosol through a mask or mouthpiece. </a:t>
            </a:r>
          </a:p>
          <a:p>
            <a:r>
              <a:rPr lang="en-IN" dirty="0"/>
              <a:t>The radiotracer spreads throughout the airways. </a:t>
            </a:r>
          </a:p>
          <a:p>
            <a:r>
              <a:rPr lang="en-IN" dirty="0"/>
              <a:t>A gamma camera records images showing airflow distribution.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0E5DE-D068-5783-A1C5-63F7E8E5F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469" y="1643449"/>
            <a:ext cx="3707027" cy="399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28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DC068-1FCA-6583-2ABE-DDCC2AD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5837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b="1" dirty="0"/>
              <a:t>Types of V/Q Scan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B6672-3837-A47D-7F65-A77890CB0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7008341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/>
              <a:t>B. Perfusion Scan</a:t>
            </a:r>
          </a:p>
          <a:p>
            <a:r>
              <a:rPr lang="en-IN" dirty="0"/>
              <a:t>Evaluates blood flow through the lungs.</a:t>
            </a:r>
          </a:p>
          <a:p>
            <a:r>
              <a:rPr lang="en-IN" b="1" dirty="0"/>
              <a:t>Procedure:</a:t>
            </a:r>
            <a:endParaRPr lang="en-IN" dirty="0"/>
          </a:p>
          <a:p>
            <a:r>
              <a:rPr lang="en-IN" dirty="0"/>
              <a:t>A radioactive tracer is injected into a vein. </a:t>
            </a:r>
          </a:p>
          <a:p>
            <a:r>
              <a:rPr lang="en-IN" dirty="0"/>
              <a:t>The tracer travels through the bloodstream and reaches the pulmonary capillaries. </a:t>
            </a:r>
          </a:p>
          <a:p>
            <a:r>
              <a:rPr lang="en-IN" dirty="0"/>
              <a:t>Images are obtained using a gamma camera to assess blood flow patterns.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E67CE-6182-E984-D6C6-D5D5DACC1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0108" y="1647589"/>
            <a:ext cx="3383692" cy="338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3B4E-A911-18F2-4EE1-51C54AB2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9978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u="sng" dirty="0"/>
              <a:t>Indications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06214-8118-9028-2C76-F38D375D0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050"/>
            <a:ext cx="10665941" cy="43513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Suspected pulmonary embolism</a:t>
            </a:r>
          </a:p>
          <a:p>
            <a:r>
              <a:rPr lang="en-IN" dirty="0"/>
              <a:t> Chronic obstructive pulmonary disease (COPD)</a:t>
            </a:r>
          </a:p>
          <a:p>
            <a:r>
              <a:rPr lang="en-IN" dirty="0"/>
              <a:t> Pulmonary hypertension</a:t>
            </a:r>
          </a:p>
          <a:p>
            <a:r>
              <a:rPr lang="en-IN" dirty="0"/>
              <a:t> Preoperative lung assessment </a:t>
            </a:r>
          </a:p>
          <a:p>
            <a:r>
              <a:rPr lang="en-IN" dirty="0"/>
              <a:t>Congenital heart and lung diseases</a:t>
            </a:r>
          </a:p>
          <a:p>
            <a:r>
              <a:rPr lang="en-IN" dirty="0"/>
              <a:t> Evaluation of lung transplantation candidates</a:t>
            </a:r>
          </a:p>
        </p:txBody>
      </p:sp>
    </p:spTree>
    <p:extLst>
      <p:ext uri="{BB962C8B-B14F-4D97-AF65-F5344CB8AC3E}">
        <p14:creationId xmlns:p14="http://schemas.microsoft.com/office/powerpoint/2010/main" val="270449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7F7D-FBF0-A2A3-F2DA-C9CD5AFB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49097" cy="907621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dirty="0"/>
              <a:t>Interpretation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6748E-A050-BC5D-1C69-70D78759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384"/>
            <a:ext cx="5451389" cy="474357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b="1" dirty="0"/>
              <a:t>Normal Scan:</a:t>
            </a:r>
            <a:r>
              <a:rPr lang="en-IN" dirty="0"/>
              <a:t> Uniform ventilation and perfusion throughout both lungs. </a:t>
            </a:r>
          </a:p>
          <a:p>
            <a:r>
              <a:rPr lang="en-IN" b="1" dirty="0"/>
              <a:t>Matched Defect:</a:t>
            </a:r>
            <a:r>
              <a:rPr lang="en-IN" dirty="0"/>
              <a:t> Both airflow and blood flow are reduced in the same area, suggesting lung disease. </a:t>
            </a:r>
          </a:p>
          <a:p>
            <a:r>
              <a:rPr lang="en-IN" b="1" dirty="0"/>
              <a:t>Mismatched Defect:</a:t>
            </a:r>
            <a:r>
              <a:rPr lang="en-IN" dirty="0"/>
              <a:t> Normal ventilation but reduced perfusion, indicating pulmonary embolism. 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C56C8B-1131-D6FF-20FF-AE256FF802F3}"/>
              </a:ext>
            </a:extLst>
          </p:cNvPr>
          <p:cNvSpPr/>
          <p:nvPr/>
        </p:nvSpPr>
        <p:spPr>
          <a:xfrm>
            <a:off x="6870355" y="649330"/>
            <a:ext cx="4275438" cy="9076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Advantages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5CC23F-DFD6-6D4A-BAE9-1BB1D2262453}"/>
              </a:ext>
            </a:extLst>
          </p:cNvPr>
          <p:cNvSpPr/>
          <p:nvPr/>
        </p:nvSpPr>
        <p:spPr>
          <a:xfrm>
            <a:off x="6487296" y="1841157"/>
            <a:ext cx="5041557" cy="43358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14350" indent="-514350">
              <a:buFont typeface="+mj-lt"/>
              <a:buAutoNum type="arabicPeriod"/>
            </a:pPr>
            <a:r>
              <a:rPr lang="en-IN" sz="2800" dirty="0"/>
              <a:t>Non-invasive procedure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Low radiation exposure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 Highly sensitive for pulmonary embolism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Provides functional assessment of the lungs</a:t>
            </a:r>
          </a:p>
        </p:txBody>
      </p:sp>
    </p:spTree>
    <p:extLst>
      <p:ext uri="{BB962C8B-B14F-4D97-AF65-F5344CB8AC3E}">
        <p14:creationId xmlns:p14="http://schemas.microsoft.com/office/powerpoint/2010/main" val="1715265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BBA14-D75C-D5F9-6EF3-C5A299241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668337"/>
            <a:ext cx="5157787" cy="823912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Limitations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E0293-230D-20E9-4D64-9295A1C1F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1681163"/>
            <a:ext cx="5157787" cy="3684588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Less specific than CT pulmonary angiography </a:t>
            </a:r>
          </a:p>
          <a:p>
            <a:r>
              <a:rPr lang="en-IN" dirty="0"/>
              <a:t>Results may be affected by pre-existing lung diseases</a:t>
            </a:r>
          </a:p>
          <a:p>
            <a:r>
              <a:rPr lang="en-IN" dirty="0"/>
              <a:t> Limited anatomical detail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99A6A6-C1FB-B496-2D61-6BD504BB1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2838" y="668337"/>
            <a:ext cx="5183188" cy="823912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Risks and Complications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78A03D-2473-5ECA-8ADD-A973D37164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8190" y="1681163"/>
            <a:ext cx="4735597" cy="3684588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Minimal radiation exposure </a:t>
            </a:r>
          </a:p>
          <a:p>
            <a:r>
              <a:rPr lang="en-IN" dirty="0"/>
              <a:t>Rare allergic reaction to radiotracers </a:t>
            </a:r>
          </a:p>
          <a:p>
            <a:r>
              <a:rPr lang="en-IN" dirty="0"/>
              <a:t>Mild discomfort during injection</a:t>
            </a:r>
          </a:p>
        </p:txBody>
      </p:sp>
    </p:spTree>
    <p:extLst>
      <p:ext uri="{BB962C8B-B14F-4D97-AF65-F5344CB8AC3E}">
        <p14:creationId xmlns:p14="http://schemas.microsoft.com/office/powerpoint/2010/main" val="215709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37BF465-740E-849E-34AC-4224A71DB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0076"/>
            <a:ext cx="10515600" cy="2165264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dirty="0"/>
              <a:t>Pulmonary Artery Angiography (Pulmonary Angiography)</a:t>
            </a:r>
          </a:p>
        </p:txBody>
      </p:sp>
    </p:spTree>
    <p:extLst>
      <p:ext uri="{BB962C8B-B14F-4D97-AF65-F5344CB8AC3E}">
        <p14:creationId xmlns:p14="http://schemas.microsoft.com/office/powerpoint/2010/main" val="2437553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DAE70A-9B1F-144F-C64D-FA1A3D43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Definition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B0D97F-8639-BAC6-D997-11DDAED2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384"/>
            <a:ext cx="10515600" cy="474357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IN" dirty="0"/>
              <a:t>Pulmonary Artery Angiography is an invasive diagnostic imaging procedure that visualizes the pulmonary arteries by injecting a contrast dye and obtaining X-ray images. It is considered the </a:t>
            </a:r>
            <a:r>
              <a:rPr lang="en-IN" b="1" dirty="0"/>
              <a:t>gold standard</a:t>
            </a:r>
            <a:r>
              <a:rPr lang="en-IN" dirty="0"/>
              <a:t> for diagnosing pulmonary vascular abnormalities.</a:t>
            </a:r>
          </a:p>
          <a:p>
            <a:r>
              <a:rPr lang="en-IN" b="1" dirty="0"/>
              <a:t>Objectives</a:t>
            </a:r>
          </a:p>
          <a:p>
            <a:r>
              <a:rPr lang="en-IN" dirty="0"/>
              <a:t>Diagnose pulmonary embolism </a:t>
            </a:r>
          </a:p>
          <a:p>
            <a:r>
              <a:rPr lang="en-IN" dirty="0"/>
              <a:t>Assess pulmonary artery anatomy </a:t>
            </a:r>
          </a:p>
          <a:p>
            <a:r>
              <a:rPr lang="en-IN" dirty="0"/>
              <a:t>Detect vascular obstructions </a:t>
            </a:r>
          </a:p>
          <a:p>
            <a:r>
              <a:rPr lang="en-IN" dirty="0"/>
              <a:t>Evaluate pulmonary hypertension </a:t>
            </a:r>
          </a:p>
          <a:p>
            <a:r>
              <a:rPr lang="en-IN" dirty="0"/>
              <a:t>Identify congenital vascular abnormalities </a:t>
            </a:r>
          </a:p>
          <a:p>
            <a:r>
              <a:rPr lang="en-IN" dirty="0"/>
              <a:t>Plan interventional procedures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60E577-0639-75E6-B125-F9C2352F8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9211" y="2792627"/>
            <a:ext cx="4102443" cy="312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00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ACAA2-366B-F8E1-82C8-D874BACC1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37968"/>
            <a:ext cx="10579443" cy="513899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IN" b="1" dirty="0"/>
              <a:t>Principle</a:t>
            </a:r>
          </a:p>
          <a:p>
            <a:r>
              <a:rPr lang="en-IN" dirty="0"/>
              <a:t>The procedure involves introducing contrast material directly into the pulmonary arteries through a catheter. The contrast outlines the blood vessels, allowing detailed visualization under fluoroscopy.</a:t>
            </a:r>
          </a:p>
          <a:p>
            <a:r>
              <a:rPr lang="en-IN" b="1" dirty="0"/>
              <a:t>Preparation</a:t>
            </a:r>
          </a:p>
          <a:p>
            <a:r>
              <a:rPr lang="en-IN" dirty="0"/>
              <a:t>Patient should fast for 6–8 hours before the procedure. </a:t>
            </a:r>
          </a:p>
          <a:p>
            <a:r>
              <a:rPr lang="en-IN" dirty="0"/>
              <a:t>Blood tests are performed to assess kidney function and clotting status. </a:t>
            </a:r>
          </a:p>
          <a:p>
            <a:r>
              <a:rPr lang="en-IN" dirty="0"/>
              <a:t>Informed consent is obtained. </a:t>
            </a:r>
          </a:p>
          <a:p>
            <a:r>
              <a:rPr lang="en-IN" dirty="0"/>
              <a:t>Allergies to contrast dye should be reported. </a:t>
            </a:r>
          </a:p>
          <a:p>
            <a:r>
              <a:rPr lang="en-IN" dirty="0"/>
              <a:t>Intravenous access is established.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61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194A-54E3-E42D-1ECF-EBDB8050D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05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Procedure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6AB3C-8CA1-1942-AC9E-31B84B35C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4530"/>
            <a:ext cx="10515600" cy="484243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IN" b="1" dirty="0"/>
              <a:t>Step 1: Catheter Insertion</a:t>
            </a:r>
          </a:p>
          <a:p>
            <a:r>
              <a:rPr lang="en-IN" dirty="0"/>
              <a:t>Local </a:t>
            </a:r>
            <a:r>
              <a:rPr lang="en-IN" dirty="0" err="1"/>
              <a:t>anesthesia</a:t>
            </a:r>
            <a:r>
              <a:rPr lang="en-IN" dirty="0"/>
              <a:t> is administered. </a:t>
            </a:r>
          </a:p>
          <a:p>
            <a:r>
              <a:rPr lang="en-IN" dirty="0"/>
              <a:t>A catheter is inserted into a large vein, usually the femoral vein (groin) or jugular vein (neck). </a:t>
            </a:r>
          </a:p>
          <a:p>
            <a:r>
              <a:rPr lang="en-IN" b="1" dirty="0"/>
              <a:t>Step 2: Catheter Navigation</a:t>
            </a:r>
          </a:p>
          <a:p>
            <a:r>
              <a:rPr lang="en-IN" dirty="0"/>
              <a:t>Under fluoroscopic guidance, the catheter is advanced through the right side of the heart into the pulmonary artery. </a:t>
            </a:r>
          </a:p>
          <a:p>
            <a:r>
              <a:rPr lang="en-IN" b="1" dirty="0"/>
              <a:t>Step 3: Contrast Injection</a:t>
            </a:r>
          </a:p>
          <a:p>
            <a:r>
              <a:rPr lang="en-IN" dirty="0"/>
              <a:t>Contrast dye is injected into the pulmonary artery. </a:t>
            </a:r>
          </a:p>
          <a:p>
            <a:r>
              <a:rPr lang="en-IN" dirty="0"/>
              <a:t>The patient may experience a temporary warm sensation. </a:t>
            </a:r>
          </a:p>
          <a:p>
            <a:r>
              <a:rPr lang="en-IN" b="1" dirty="0"/>
              <a:t>Step 4: Imaging</a:t>
            </a:r>
          </a:p>
          <a:p>
            <a:r>
              <a:rPr lang="en-IN" dirty="0"/>
              <a:t>Multiple X-ray images are obtained as the contrast flows through the pulmonary arteries. </a:t>
            </a:r>
          </a:p>
          <a:p>
            <a:r>
              <a:rPr lang="en-IN" dirty="0"/>
              <a:t>Areas of blockage, narrowing, or abnormal blood flow are identified.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0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35EF-E560-CDC7-A97D-DCDF6512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983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/>
              <a:t>Indications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E5371-123B-66F0-C0E5-B421FFDC2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802" y="1253331"/>
            <a:ext cx="9850395" cy="43513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Suspected pulmonary embolism when other tests are inconclusive</a:t>
            </a:r>
          </a:p>
          <a:p>
            <a:r>
              <a:rPr lang="en-IN" dirty="0"/>
              <a:t> Pulmonary hypertension evaluation</a:t>
            </a:r>
          </a:p>
          <a:p>
            <a:r>
              <a:rPr lang="en-IN" dirty="0"/>
              <a:t> Pulmonary arteriovenous malformations</a:t>
            </a:r>
          </a:p>
          <a:p>
            <a:r>
              <a:rPr lang="en-IN" dirty="0"/>
              <a:t> Congenital pulmonary vascular disorders </a:t>
            </a:r>
          </a:p>
          <a:p>
            <a:r>
              <a:rPr lang="en-IN" dirty="0"/>
              <a:t>Pulmonary artery stenosis</a:t>
            </a:r>
          </a:p>
          <a:p>
            <a:r>
              <a:rPr lang="en-IN" dirty="0"/>
              <a:t> Pre-surgical vascular assessment</a:t>
            </a:r>
          </a:p>
        </p:txBody>
      </p:sp>
    </p:spTree>
    <p:extLst>
      <p:ext uri="{BB962C8B-B14F-4D97-AF65-F5344CB8AC3E}">
        <p14:creationId xmlns:p14="http://schemas.microsoft.com/office/powerpoint/2010/main" val="130978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0E352-3DA5-4175-A5A4-9BBDFDDE1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5837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6C6B6-CA2C-D46B-FC49-B5B2DEBB5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b="1" dirty="0"/>
              <a:t>Normal Result:</a:t>
            </a:r>
            <a:r>
              <a:rPr lang="en-IN" dirty="0"/>
              <a:t> Smooth and unobstructed flow of contrast through pulmonary arteries.</a:t>
            </a:r>
          </a:p>
          <a:p>
            <a:r>
              <a:rPr lang="en-IN" dirty="0"/>
              <a:t> </a:t>
            </a:r>
            <a:r>
              <a:rPr lang="en-IN" b="1" dirty="0"/>
              <a:t>Abnormal Result:</a:t>
            </a:r>
            <a:r>
              <a:rPr lang="en-IN" dirty="0"/>
              <a:t> Filling defects indicating emboli </a:t>
            </a:r>
          </a:p>
          <a:p>
            <a:r>
              <a:rPr lang="en-IN" dirty="0"/>
              <a:t>Vessel narrowing or stenosis </a:t>
            </a:r>
          </a:p>
          <a:p>
            <a:r>
              <a:rPr lang="en-IN" dirty="0"/>
              <a:t>Abnormal vascular communications </a:t>
            </a:r>
          </a:p>
          <a:p>
            <a:r>
              <a:rPr lang="en-IN" dirty="0"/>
              <a:t>Pulmonary artery enlargement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86123-1596-7FA5-4C8C-C83F42786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843" y="4670855"/>
            <a:ext cx="6215449" cy="160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7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6E63-B145-653B-7141-29DEF520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5264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15D97-6E83-A3E0-08F1-1A52A5930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222"/>
            <a:ext cx="10515600" cy="209146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Provides highly detailed vascular images</a:t>
            </a:r>
          </a:p>
          <a:p>
            <a:r>
              <a:rPr lang="en-IN" dirty="0"/>
              <a:t> Gold standard for pulmonary embolism diagnosis </a:t>
            </a:r>
          </a:p>
          <a:p>
            <a:r>
              <a:rPr lang="en-IN" dirty="0"/>
              <a:t>Allows simultaneous therapeutic interventions </a:t>
            </a:r>
          </a:p>
          <a:p>
            <a:r>
              <a:rPr lang="en-IN" dirty="0"/>
              <a:t>Accurate assessment of pulmonary circulation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92F901-496A-318F-14DB-B7B5D6A047F8}"/>
              </a:ext>
            </a:extLst>
          </p:cNvPr>
          <p:cNvSpPr txBox="1"/>
          <p:nvPr/>
        </p:nvSpPr>
        <p:spPr>
          <a:xfrm>
            <a:off x="948382" y="3683521"/>
            <a:ext cx="609805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sz="3600" dirty="0"/>
              <a:t>Limitations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DE8B5F-23AB-EE74-D359-6BBE6CE17BD5}"/>
              </a:ext>
            </a:extLst>
          </p:cNvPr>
          <p:cNvSpPr/>
          <p:nvPr/>
        </p:nvSpPr>
        <p:spPr>
          <a:xfrm>
            <a:off x="948382" y="4670854"/>
            <a:ext cx="9900850" cy="14951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Invasive procedure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Requires contrast dye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More expensive than non-invasive imaging tests</a:t>
            </a:r>
          </a:p>
        </p:txBody>
      </p:sp>
    </p:spTree>
    <p:extLst>
      <p:ext uri="{BB962C8B-B14F-4D97-AF65-F5344CB8AC3E}">
        <p14:creationId xmlns:p14="http://schemas.microsoft.com/office/powerpoint/2010/main" val="385911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1BCD-49DB-920C-C447-D846AE8F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8194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dirty="0"/>
              <a:t>Risks and 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BA30A-B5AA-92BF-34CA-302D72E51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007"/>
            <a:ext cx="5883876" cy="3771986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Bleeding at catheter insertion site</a:t>
            </a:r>
          </a:p>
          <a:p>
            <a:r>
              <a:rPr lang="en-IN" dirty="0"/>
              <a:t> Infection </a:t>
            </a:r>
          </a:p>
          <a:p>
            <a:r>
              <a:rPr lang="en-IN" dirty="0"/>
              <a:t>Allergic reaction to contrast dye </a:t>
            </a:r>
          </a:p>
          <a:p>
            <a:r>
              <a:rPr lang="en-IN" dirty="0"/>
              <a:t>Cardiac arrhythmias</a:t>
            </a:r>
          </a:p>
          <a:p>
            <a:r>
              <a:rPr lang="en-IN" dirty="0"/>
              <a:t> Blood vessel injury </a:t>
            </a:r>
          </a:p>
          <a:p>
            <a:r>
              <a:rPr lang="en-IN" dirty="0"/>
              <a:t>Contrast-induced kidney damage</a:t>
            </a:r>
          </a:p>
          <a:p>
            <a:r>
              <a:rPr lang="en-IN" dirty="0"/>
              <a:t> Rare pulmonary artery rupture</a:t>
            </a:r>
          </a:p>
        </p:txBody>
      </p:sp>
    </p:spTree>
    <p:extLst>
      <p:ext uri="{BB962C8B-B14F-4D97-AF65-F5344CB8AC3E}">
        <p14:creationId xmlns:p14="http://schemas.microsoft.com/office/powerpoint/2010/main" val="2805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723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Pulmonology Department – Diagnostic Tests</vt:lpstr>
      <vt:lpstr> Nuclear Lung Scanning (Ventilation-Perfusion Scan / V/Q Scan)</vt:lpstr>
      <vt:lpstr>Types of V/Q Scan</vt:lpstr>
      <vt:lpstr>Types of V/Q Scan</vt:lpstr>
      <vt:lpstr>Indications</vt:lpstr>
      <vt:lpstr>Interpretation of Results</vt:lpstr>
      <vt:lpstr>PowerPoint Presentation</vt:lpstr>
      <vt:lpstr>Pulmonary Artery Angiography (Pulmonary Angiography)</vt:lpstr>
      <vt:lpstr>Definition </vt:lpstr>
      <vt:lpstr>PowerPoint Presentation</vt:lpstr>
      <vt:lpstr> Procedure </vt:lpstr>
      <vt:lpstr>Indications</vt:lpstr>
      <vt:lpstr>Findings</vt:lpstr>
      <vt:lpstr>Advantages</vt:lpstr>
      <vt:lpstr>Risks and Complications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debjani mukherjee</dc:creator>
  <cp:lastModifiedBy>debjani mukherjee</cp:lastModifiedBy>
  <cp:revision>2</cp:revision>
  <dcterms:created xsi:type="dcterms:W3CDTF">2026-06-11T11:16:14Z</dcterms:created>
  <dcterms:modified xsi:type="dcterms:W3CDTF">2026-06-12T05:27:43Z</dcterms:modified>
</cp:coreProperties>
</file>