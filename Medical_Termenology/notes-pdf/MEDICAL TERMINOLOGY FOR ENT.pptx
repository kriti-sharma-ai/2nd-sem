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563421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43000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356112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9EC7A3-DC1D-4C48-9904-F905A7ADFD60}" type="datetimeFigureOut">
              <a:rPr lang="en-IN" smtClean="0"/>
              <a:t>15-05-2023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818444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9EC7A3-DC1D-4C48-9904-F905A7ADFD60}" type="datetimeFigureOut">
              <a:rPr lang="en-IN" smtClean="0"/>
              <a:t>15-05-2023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513898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9EC7A3-DC1D-4C48-9904-F905A7ADFD60}" type="datetimeFigureOut">
              <a:rPr lang="en-IN" smtClean="0"/>
              <a:t>15-05-2023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3487536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9EC7A3-DC1D-4C48-9904-F905A7ADFD60}" type="datetimeFigureOut">
              <a:rPr lang="en-IN" smtClean="0"/>
              <a:t>15-05-2023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1449183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9EC7A3-DC1D-4C48-9904-F905A7ADFD60}" type="datetimeFigureOut">
              <a:rPr lang="en-IN" smtClean="0"/>
              <a:t>15-05-2023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353081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DA7B14-5FAB-42B8-9EF1-00ACF65D1404}" type="slidenum">
              <a:rPr lang="en-IN" smtClean="0"/>
              <a:t>‹#›</a:t>
            </a:fld>
            <a:endParaRPr lang="en-IN"/>
          </a:p>
        </p:txBody>
      </p:sp>
      <p:sp>
        <p:nvSpPr>
          <p:cNvPr id="5" name="Date Placeholder 4"/>
          <p:cNvSpPr>
            <a:spLocks noGrp="1"/>
          </p:cNvSpPr>
          <p:nvPr>
            <p:ph type="dt" sz="half" idx="10"/>
          </p:nvPr>
        </p:nvSpPr>
        <p:spPr/>
        <p:txBody>
          <a:bodyPr/>
          <a:lstStyle/>
          <a:p>
            <a:fld id="{399EC7A3-DC1D-4C48-9904-F905A7ADFD60}" type="datetimeFigureOut">
              <a:rPr lang="en-IN" smtClean="0"/>
              <a:t>15-05-2023</a:t>
            </a:fld>
            <a:endParaRPr lang="en-IN"/>
          </a:p>
        </p:txBody>
      </p:sp>
    </p:spTree>
    <p:extLst>
      <p:ext uri="{BB962C8B-B14F-4D97-AF65-F5344CB8AC3E}">
        <p14:creationId xmlns:p14="http://schemas.microsoft.com/office/powerpoint/2010/main" val="1113339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283665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49343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4020830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06158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2818703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312845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9EC7A3-DC1D-4C48-9904-F905A7ADFD60}" type="datetimeFigureOut">
              <a:rPr lang="en-IN" smtClean="0"/>
              <a:t>15-05-2023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DA7B14-5FAB-42B8-9EF1-00ACF65D1404}" type="slidenum">
              <a:rPr lang="en-IN" smtClean="0"/>
              <a:t>‹#›</a:t>
            </a:fld>
            <a:endParaRPr lang="en-IN"/>
          </a:p>
        </p:txBody>
      </p:sp>
    </p:spTree>
    <p:extLst>
      <p:ext uri="{BB962C8B-B14F-4D97-AF65-F5344CB8AC3E}">
        <p14:creationId xmlns:p14="http://schemas.microsoft.com/office/powerpoint/2010/main" val="1072445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99EC7A3-DC1D-4C48-9904-F905A7ADFD60}" type="datetimeFigureOut">
              <a:rPr lang="en-IN" smtClean="0"/>
              <a:t>15-05-2023</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DA7B14-5FAB-42B8-9EF1-00ACF65D1404}" type="slidenum">
              <a:rPr lang="en-IN" smtClean="0"/>
              <a:t>‹#›</a:t>
            </a:fld>
            <a:endParaRPr lang="en-IN"/>
          </a:p>
        </p:txBody>
      </p:sp>
    </p:spTree>
    <p:extLst>
      <p:ext uri="{BB962C8B-B14F-4D97-AF65-F5344CB8AC3E}">
        <p14:creationId xmlns:p14="http://schemas.microsoft.com/office/powerpoint/2010/main" val="79552405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8EBF5-7675-A64E-D652-1360A9E205E6}"/>
              </a:ext>
            </a:extLst>
          </p:cNvPr>
          <p:cNvSpPr>
            <a:spLocks noGrp="1"/>
          </p:cNvSpPr>
          <p:nvPr>
            <p:ph type="ctrTitle"/>
          </p:nvPr>
        </p:nvSpPr>
        <p:spPr/>
        <p:txBody>
          <a:bodyPr/>
          <a:lstStyle/>
          <a:p>
            <a:r>
              <a:rPr lang="en-IN" dirty="0"/>
              <a:t>MEDICAL TERMINOLOGY FOR ENT </a:t>
            </a:r>
          </a:p>
        </p:txBody>
      </p:sp>
      <p:sp>
        <p:nvSpPr>
          <p:cNvPr id="3" name="Subtitle 2">
            <a:extLst>
              <a:ext uri="{FF2B5EF4-FFF2-40B4-BE49-F238E27FC236}">
                <a16:creationId xmlns:a16="http://schemas.microsoft.com/office/drawing/2014/main" id="{A824E945-187A-CDB7-D479-75E220B3BAF9}"/>
              </a:ext>
            </a:extLst>
          </p:cNvPr>
          <p:cNvSpPr>
            <a:spLocks noGrp="1"/>
          </p:cNvSpPr>
          <p:nvPr>
            <p:ph type="subTitle" idx="1"/>
          </p:nvPr>
        </p:nvSpPr>
        <p:spPr>
          <a:xfrm>
            <a:off x="1507067" y="4050836"/>
            <a:ext cx="7766936" cy="1096899"/>
          </a:xfrm>
        </p:spPr>
        <p:txBody>
          <a:bodyPr/>
          <a:lstStyle/>
          <a:p>
            <a:endParaRPr lang="en-IN"/>
          </a:p>
        </p:txBody>
      </p:sp>
      <p:pic>
        <p:nvPicPr>
          <p:cNvPr id="4" name="Picture 3">
            <a:extLst>
              <a:ext uri="{FF2B5EF4-FFF2-40B4-BE49-F238E27FC236}">
                <a16:creationId xmlns:a16="http://schemas.microsoft.com/office/drawing/2014/main" id="{0403F4A6-838D-02EF-6B65-029546066D99}"/>
              </a:ext>
            </a:extLst>
          </p:cNvPr>
          <p:cNvPicPr>
            <a:picLocks noChangeAspect="1"/>
          </p:cNvPicPr>
          <p:nvPr/>
        </p:nvPicPr>
        <p:blipFill>
          <a:blip r:embed="rId2"/>
          <a:stretch>
            <a:fillRect/>
          </a:stretch>
        </p:blipFill>
        <p:spPr>
          <a:xfrm>
            <a:off x="1271588" y="3557589"/>
            <a:ext cx="5272087" cy="3157536"/>
          </a:xfrm>
          <a:prstGeom prst="rect">
            <a:avLst/>
          </a:prstGeom>
        </p:spPr>
      </p:pic>
      <p:pic>
        <p:nvPicPr>
          <p:cNvPr id="5" name="Picture 4">
            <a:extLst>
              <a:ext uri="{FF2B5EF4-FFF2-40B4-BE49-F238E27FC236}">
                <a16:creationId xmlns:a16="http://schemas.microsoft.com/office/drawing/2014/main" id="{7211C7C7-1C8C-CC51-A9A5-4AF271115A25}"/>
              </a:ext>
            </a:extLst>
          </p:cNvPr>
          <p:cNvPicPr>
            <a:picLocks noChangeAspect="1"/>
          </p:cNvPicPr>
          <p:nvPr/>
        </p:nvPicPr>
        <p:blipFill>
          <a:blip r:embed="rId3"/>
          <a:stretch>
            <a:fillRect/>
          </a:stretch>
        </p:blipFill>
        <p:spPr>
          <a:xfrm>
            <a:off x="2271714" y="399256"/>
            <a:ext cx="7002290" cy="2005277"/>
          </a:xfrm>
          <a:prstGeom prst="rect">
            <a:avLst/>
          </a:prstGeom>
        </p:spPr>
      </p:pic>
    </p:spTree>
    <p:extLst>
      <p:ext uri="{BB962C8B-B14F-4D97-AF65-F5344CB8AC3E}">
        <p14:creationId xmlns:p14="http://schemas.microsoft.com/office/powerpoint/2010/main" val="2959330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12EC02-7568-4177-7A2F-6EAE3DBDBE18}"/>
              </a:ext>
            </a:extLst>
          </p:cNvPr>
          <p:cNvSpPr>
            <a:spLocks noGrp="1"/>
          </p:cNvSpPr>
          <p:nvPr>
            <p:ph idx="4294967295"/>
          </p:nvPr>
        </p:nvSpPr>
        <p:spPr>
          <a:xfrm>
            <a:off x="0" y="1400175"/>
            <a:ext cx="11787188" cy="4776788"/>
          </a:xfrm>
        </p:spPr>
        <p:txBody>
          <a:bodyPr>
            <a:normAutofit/>
          </a:bodyPr>
          <a:lstStyle/>
          <a:p>
            <a:r>
              <a:rPr lang="en-US" sz="2400" dirty="0">
                <a:latin typeface="Arial" panose="020B0604020202020204" pitchFamily="34" charset="0"/>
                <a:cs typeface="Arial" panose="020B0604020202020204" pitchFamily="34" charset="0"/>
              </a:rPr>
              <a:t>Acoustic neuroma: A tumor, usually benign, which may develop on the hearing and balance nerves and can cause gradual hearing loss, tinnitus, and/or dizziness.</a:t>
            </a:r>
          </a:p>
          <a:p>
            <a:pPr algn="l" fontAlgn="base"/>
            <a:r>
              <a:rPr lang="en-US" sz="2400" b="1" i="0" dirty="0">
                <a:solidFill>
                  <a:srgbClr val="232323"/>
                </a:solidFill>
                <a:effectLst/>
                <a:latin typeface="Arial" panose="020B0604020202020204" pitchFamily="34" charset="0"/>
                <a:cs typeface="Arial" panose="020B0604020202020204" pitchFamily="34" charset="0"/>
              </a:rPr>
              <a:t>Acquired deafness</a:t>
            </a:r>
            <a:r>
              <a:rPr lang="en-US" sz="2400" b="0" i="0" dirty="0">
                <a:solidFill>
                  <a:srgbClr val="232323"/>
                </a:solidFill>
                <a:effectLst/>
                <a:latin typeface="Arial" panose="020B0604020202020204" pitchFamily="34" charset="0"/>
                <a:cs typeface="Arial" panose="020B0604020202020204" pitchFamily="34" charset="0"/>
              </a:rPr>
              <a:t>: loss of hearing that occurs or develops some time during the lifespan but is not present at birth.</a:t>
            </a:r>
          </a:p>
          <a:p>
            <a:pPr algn="l" fontAlgn="base"/>
            <a:r>
              <a:rPr lang="en-US" sz="2400" b="1" i="0" dirty="0">
                <a:solidFill>
                  <a:srgbClr val="232323"/>
                </a:solidFill>
                <a:effectLst/>
                <a:latin typeface="Arial" panose="020B0604020202020204" pitchFamily="34" charset="0"/>
                <a:cs typeface="Arial" panose="020B0604020202020204" pitchFamily="34" charset="0"/>
              </a:rPr>
              <a:t>Adenoid</a:t>
            </a:r>
            <a:r>
              <a:rPr lang="en-US" sz="2400" b="0" i="0" dirty="0">
                <a:solidFill>
                  <a:srgbClr val="232323"/>
                </a:solidFill>
                <a:effectLst/>
                <a:latin typeface="Arial" panose="020B0604020202020204" pitchFamily="34" charset="0"/>
                <a:cs typeface="Arial" panose="020B0604020202020204" pitchFamily="34" charset="0"/>
              </a:rPr>
              <a:t>: Lymphoid tissue located behind the nose.</a:t>
            </a:r>
          </a:p>
          <a:p>
            <a:r>
              <a:rPr lang="en-US" sz="2400" b="1" i="0" dirty="0">
                <a:solidFill>
                  <a:srgbClr val="232323"/>
                </a:solidFill>
                <a:effectLst/>
                <a:latin typeface="Arial" panose="020B0604020202020204" pitchFamily="34" charset="0"/>
                <a:cs typeface="Arial" panose="020B0604020202020204" pitchFamily="34" charset="0"/>
              </a:rPr>
              <a:t>Alport Syndrome</a:t>
            </a:r>
            <a:r>
              <a:rPr lang="en-US" sz="2400" b="0" i="0" dirty="0">
                <a:solidFill>
                  <a:srgbClr val="232323"/>
                </a:solidFill>
                <a:effectLst/>
                <a:latin typeface="Arial" panose="020B0604020202020204" pitchFamily="34" charset="0"/>
                <a:cs typeface="Arial" panose="020B0604020202020204" pitchFamily="34" charset="0"/>
              </a:rPr>
              <a:t>: A hereditary condition characterized by kidney disease, sensorineural hearing loss, and sometimes eye defects.</a:t>
            </a:r>
          </a:p>
          <a:p>
            <a:r>
              <a:rPr lang="en-US" sz="2400" b="1" i="0" dirty="0">
                <a:solidFill>
                  <a:srgbClr val="232323"/>
                </a:solidFill>
                <a:effectLst/>
                <a:latin typeface="Arial" panose="020B0604020202020204" pitchFamily="34" charset="0"/>
                <a:cs typeface="Arial" panose="020B0604020202020204" pitchFamily="34" charset="0"/>
              </a:rPr>
              <a:t>Ankyloglossia</a:t>
            </a:r>
            <a:r>
              <a:rPr lang="en-US" sz="2400" b="0" i="0" dirty="0">
                <a:solidFill>
                  <a:srgbClr val="232323"/>
                </a:solidFill>
                <a:effectLst/>
                <a:latin typeface="Arial" panose="020B0604020202020204" pitchFamily="34" charset="0"/>
                <a:cs typeface="Arial" panose="020B0604020202020204" pitchFamily="34" charset="0"/>
              </a:rPr>
              <a:t>: A foreshortened or tethered lingual frenulum commonly known as "tongue-tie" in which the tongue is tethered to the floor of mouth</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9550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52D91A-5AF8-311A-D2CE-AA1B5CF08798}"/>
              </a:ext>
            </a:extLst>
          </p:cNvPr>
          <p:cNvSpPr>
            <a:spLocks noGrp="1"/>
          </p:cNvSpPr>
          <p:nvPr>
            <p:ph idx="4294967295"/>
          </p:nvPr>
        </p:nvSpPr>
        <p:spPr>
          <a:xfrm>
            <a:off x="0" y="1825625"/>
            <a:ext cx="10515600" cy="4351338"/>
          </a:xfrm>
        </p:spPr>
        <p:txBody>
          <a:bodyPr/>
          <a:lstStyle/>
          <a:p>
            <a:pPr algn="l" fontAlgn="base"/>
            <a:r>
              <a:rPr lang="en-US" sz="2400" b="1" i="0" dirty="0">
                <a:solidFill>
                  <a:srgbClr val="232323"/>
                </a:solidFill>
                <a:effectLst/>
                <a:latin typeface="Arial" panose="020B0604020202020204" pitchFamily="34" charset="0"/>
                <a:cs typeface="Arial" panose="020B0604020202020204" pitchFamily="34" charset="0"/>
              </a:rPr>
              <a:t>Aphasia</a:t>
            </a:r>
            <a:r>
              <a:rPr lang="en-US" sz="2400" b="0" i="0" dirty="0">
                <a:solidFill>
                  <a:srgbClr val="232323"/>
                </a:solidFill>
                <a:effectLst/>
                <a:latin typeface="Arial" panose="020B0604020202020204" pitchFamily="34" charset="0"/>
                <a:cs typeface="Arial" panose="020B0604020202020204" pitchFamily="34" charset="0"/>
              </a:rPr>
              <a:t>: The total or partial loss of the ability to use or understand language; usually caused by stroke (Read about "Stroke") brain disease, or injury.</a:t>
            </a:r>
          </a:p>
          <a:p>
            <a:pPr algn="l" fontAlgn="base"/>
            <a:r>
              <a:rPr lang="en-US" sz="2400" b="1" i="0" dirty="0">
                <a:solidFill>
                  <a:srgbClr val="232323"/>
                </a:solidFill>
                <a:effectLst/>
                <a:latin typeface="Arial" panose="020B0604020202020204" pitchFamily="34" charset="0"/>
                <a:cs typeface="Arial" panose="020B0604020202020204" pitchFamily="34" charset="0"/>
              </a:rPr>
              <a:t>Aphonia</a:t>
            </a:r>
            <a:r>
              <a:rPr lang="en-US" sz="2400" b="0" i="0" dirty="0">
                <a:solidFill>
                  <a:srgbClr val="232323"/>
                </a:solidFill>
                <a:effectLst/>
                <a:latin typeface="Arial" panose="020B0604020202020204" pitchFamily="34" charset="0"/>
                <a:cs typeface="Arial" panose="020B0604020202020204" pitchFamily="34" charset="0"/>
              </a:rPr>
              <a:t>: The complete loss of voice.</a:t>
            </a:r>
          </a:p>
          <a:p>
            <a:pPr algn="l" fontAlgn="base"/>
            <a:r>
              <a:rPr lang="en-US" sz="2400" b="1" i="0" dirty="0">
                <a:solidFill>
                  <a:srgbClr val="232323"/>
                </a:solidFill>
                <a:effectLst/>
                <a:latin typeface="Arial" panose="020B0604020202020204" pitchFamily="34" charset="0"/>
                <a:cs typeface="Arial" panose="020B0604020202020204" pitchFamily="34" charset="0"/>
              </a:rPr>
              <a:t>Apraxia</a:t>
            </a:r>
            <a:r>
              <a:rPr lang="en-US" sz="2400" b="0" i="0" dirty="0">
                <a:solidFill>
                  <a:srgbClr val="232323"/>
                </a:solidFill>
                <a:effectLst/>
                <a:latin typeface="Arial" panose="020B0604020202020204" pitchFamily="34" charset="0"/>
                <a:cs typeface="Arial" panose="020B0604020202020204" pitchFamily="34" charset="0"/>
              </a:rPr>
              <a:t>: The inability to execute a voluntary movement despite being able to demonstrate normal muscle function.</a:t>
            </a:r>
          </a:p>
          <a:p>
            <a:pPr algn="l" fontAlgn="base"/>
            <a:r>
              <a:rPr lang="en-US" sz="2400" b="1" i="0" dirty="0">
                <a:solidFill>
                  <a:srgbClr val="232323"/>
                </a:solidFill>
                <a:effectLst/>
                <a:latin typeface="Arial" panose="020B0604020202020204" pitchFamily="34" charset="0"/>
                <a:cs typeface="Arial" panose="020B0604020202020204" pitchFamily="34" charset="0"/>
              </a:rPr>
              <a:t>Articulation disorder</a:t>
            </a:r>
            <a:r>
              <a:rPr lang="en-US" sz="2400" b="0" i="0" dirty="0">
                <a:solidFill>
                  <a:srgbClr val="232323"/>
                </a:solidFill>
                <a:effectLst/>
                <a:latin typeface="Arial" panose="020B0604020202020204" pitchFamily="34" charset="0"/>
                <a:cs typeface="Arial" panose="020B0604020202020204" pitchFamily="34" charset="0"/>
              </a:rPr>
              <a:t>: The inability to correctly produce speech sounds (phonemes) because of imprecise placement, timing, pressure, speed, or flow of movement of the lips, tongue, or throat.</a:t>
            </a:r>
          </a:p>
          <a:p>
            <a:endParaRPr lang="en-IN" dirty="0"/>
          </a:p>
        </p:txBody>
      </p:sp>
    </p:spTree>
    <p:extLst>
      <p:ext uri="{BB962C8B-B14F-4D97-AF65-F5344CB8AC3E}">
        <p14:creationId xmlns:p14="http://schemas.microsoft.com/office/powerpoint/2010/main" val="2654118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A865A4-77D5-3BD2-FDBA-5246A684FFF6}"/>
              </a:ext>
            </a:extLst>
          </p:cNvPr>
          <p:cNvSpPr>
            <a:spLocks noGrp="1"/>
          </p:cNvSpPr>
          <p:nvPr>
            <p:ph idx="4294967295"/>
          </p:nvPr>
        </p:nvSpPr>
        <p:spPr>
          <a:xfrm>
            <a:off x="185737" y="1068387"/>
            <a:ext cx="11101387" cy="5432426"/>
          </a:xfrm>
        </p:spPr>
        <p:txBody>
          <a:bodyPr>
            <a:noAutofit/>
          </a:bodyPr>
          <a:lstStyle/>
          <a:p>
            <a:pPr algn="l" fontAlgn="base"/>
            <a:r>
              <a:rPr lang="en-US" sz="2400" b="1" i="0" dirty="0">
                <a:solidFill>
                  <a:srgbClr val="232323"/>
                </a:solidFill>
                <a:effectLst/>
                <a:latin typeface="Arial" panose="020B0604020202020204" pitchFamily="34" charset="0"/>
                <a:cs typeface="Arial" panose="020B0604020202020204" pitchFamily="34" charset="0"/>
              </a:rPr>
              <a:t>Audiogram</a:t>
            </a:r>
            <a:r>
              <a:rPr lang="en-US" sz="2400" b="0" i="0" dirty="0">
                <a:solidFill>
                  <a:srgbClr val="232323"/>
                </a:solidFill>
                <a:effectLst/>
                <a:latin typeface="Arial" panose="020B0604020202020204" pitchFamily="34" charset="0"/>
                <a:cs typeface="Arial" panose="020B0604020202020204" pitchFamily="34" charset="0"/>
              </a:rPr>
              <a:t>: Hearing test.</a:t>
            </a:r>
          </a:p>
          <a:p>
            <a:pPr algn="l" fontAlgn="base"/>
            <a:r>
              <a:rPr lang="en-US" sz="2400" b="1" i="0" dirty="0">
                <a:solidFill>
                  <a:srgbClr val="232323"/>
                </a:solidFill>
                <a:effectLst/>
                <a:latin typeface="Arial" panose="020B0604020202020204" pitchFamily="34" charset="0"/>
                <a:cs typeface="Arial" panose="020B0604020202020204" pitchFamily="34" charset="0"/>
              </a:rPr>
              <a:t>Audiologist</a:t>
            </a:r>
            <a:r>
              <a:rPr lang="en-US" sz="2400" b="0" i="0" dirty="0">
                <a:solidFill>
                  <a:srgbClr val="232323"/>
                </a:solidFill>
                <a:effectLst/>
                <a:latin typeface="Arial" panose="020B0604020202020204" pitchFamily="34" charset="0"/>
                <a:cs typeface="Arial" panose="020B0604020202020204" pitchFamily="34" charset="0"/>
              </a:rPr>
              <a:t>: A health care professional who is trained to evaluate hearing loss and related disorders, including balance (vestibular) and tinnitus, and to rehabilitate individuals with hearing loss and related disorders. An audiologist uses a variety of tests and procedures to assess hearing and balance function and to fit and dispense hearing aids and other assistive devices for hearing.</a:t>
            </a:r>
          </a:p>
          <a:p>
            <a:pPr algn="l" fontAlgn="base"/>
            <a:r>
              <a:rPr lang="en-US" sz="2400" b="1" i="0" dirty="0">
                <a:solidFill>
                  <a:srgbClr val="232323"/>
                </a:solidFill>
                <a:effectLst/>
                <a:latin typeface="Arial" panose="020B0604020202020204" pitchFamily="34" charset="0"/>
                <a:cs typeface="Arial" panose="020B0604020202020204" pitchFamily="34" charset="0"/>
              </a:rPr>
              <a:t>Auditory Brainstem Response test</a:t>
            </a:r>
            <a:r>
              <a:rPr lang="en-US" sz="2400" b="0" i="0" dirty="0">
                <a:solidFill>
                  <a:srgbClr val="232323"/>
                </a:solidFill>
                <a:effectLst/>
                <a:latin typeface="Arial" panose="020B0604020202020204" pitchFamily="34" charset="0"/>
                <a:cs typeface="Arial" panose="020B0604020202020204" pitchFamily="34" charset="0"/>
              </a:rPr>
              <a:t>: A test for brain functioning in comatose, unresponsive, etc., patients, and for hearing in infants and young children; involves attaching electrodes to the head to record electrical activity from the hearing nerve and other parts of the brain.</a:t>
            </a:r>
          </a:p>
          <a:p>
            <a:pPr algn="l" fontAlgn="base"/>
            <a:r>
              <a:rPr lang="en-US" sz="2400" b="1" i="0" dirty="0">
                <a:solidFill>
                  <a:srgbClr val="232323"/>
                </a:solidFill>
                <a:effectLst/>
                <a:latin typeface="Arial" panose="020B0604020202020204" pitchFamily="34" charset="0"/>
                <a:cs typeface="Arial" panose="020B0604020202020204" pitchFamily="34" charset="0"/>
              </a:rPr>
              <a:t>Auditory nerve</a:t>
            </a:r>
            <a:r>
              <a:rPr lang="en-US" sz="2400" b="0" i="0" dirty="0">
                <a:solidFill>
                  <a:srgbClr val="232323"/>
                </a:solidFill>
                <a:effectLst/>
                <a:latin typeface="Arial" panose="020B0604020202020204" pitchFamily="34" charset="0"/>
                <a:cs typeface="Arial" panose="020B0604020202020204" pitchFamily="34" charset="0"/>
              </a:rPr>
              <a:t>: The eighth cranial nerve that connects the inner ear to the brainstem and is responsible for hearing and balance.</a:t>
            </a:r>
          </a:p>
          <a:p>
            <a:endParaRPr lang="en-IN" sz="2400" dirty="0"/>
          </a:p>
        </p:txBody>
      </p:sp>
    </p:spTree>
    <p:extLst>
      <p:ext uri="{BB962C8B-B14F-4D97-AF65-F5344CB8AC3E}">
        <p14:creationId xmlns:p14="http://schemas.microsoft.com/office/powerpoint/2010/main" val="450771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B8D40F-62C5-80D3-72DD-D2673436FE4B}"/>
              </a:ext>
            </a:extLst>
          </p:cNvPr>
          <p:cNvSpPr>
            <a:spLocks noGrp="1"/>
          </p:cNvSpPr>
          <p:nvPr>
            <p:ph idx="4294967295"/>
          </p:nvPr>
        </p:nvSpPr>
        <p:spPr>
          <a:xfrm>
            <a:off x="0" y="609600"/>
            <a:ext cx="11458575" cy="5476875"/>
          </a:xfrm>
        </p:spPr>
        <p:txBody>
          <a:bodyPr>
            <a:noAutofit/>
          </a:bodyPr>
          <a:lstStyle/>
          <a:p>
            <a:pPr algn="l" fontAlgn="base"/>
            <a:r>
              <a:rPr lang="en-US" sz="2400" b="1" i="0" dirty="0">
                <a:solidFill>
                  <a:srgbClr val="232323"/>
                </a:solidFill>
                <a:effectLst/>
                <a:latin typeface="Arial" panose="020B0604020202020204" pitchFamily="34" charset="0"/>
                <a:cs typeface="Arial" panose="020B0604020202020204" pitchFamily="34" charset="0"/>
              </a:rPr>
              <a:t>Auditory perception</a:t>
            </a:r>
            <a:r>
              <a:rPr lang="en-US" sz="2400" b="0" i="0" dirty="0">
                <a:solidFill>
                  <a:srgbClr val="232323"/>
                </a:solidFill>
                <a:effectLst/>
                <a:latin typeface="Arial" panose="020B0604020202020204" pitchFamily="34" charset="0"/>
                <a:cs typeface="Arial" panose="020B0604020202020204" pitchFamily="34" charset="0"/>
              </a:rPr>
              <a:t>: The ability to identify, interpret, and attach meaning to sound.</a:t>
            </a:r>
          </a:p>
          <a:p>
            <a:pPr algn="l" fontAlgn="base"/>
            <a:r>
              <a:rPr lang="en-US" sz="2400" b="1" i="0" dirty="0">
                <a:solidFill>
                  <a:srgbClr val="232323"/>
                </a:solidFill>
                <a:effectLst/>
                <a:latin typeface="Arial" panose="020B0604020202020204" pitchFamily="34" charset="0"/>
                <a:cs typeface="Arial" panose="020B0604020202020204" pitchFamily="34" charset="0"/>
              </a:rPr>
              <a:t>Auditory prosthesis</a:t>
            </a:r>
            <a:r>
              <a:rPr lang="en-US" sz="2400" b="0" i="0" dirty="0">
                <a:solidFill>
                  <a:srgbClr val="232323"/>
                </a:solidFill>
                <a:effectLst/>
                <a:latin typeface="Arial" panose="020B0604020202020204" pitchFamily="34" charset="0"/>
                <a:cs typeface="Arial" panose="020B0604020202020204" pitchFamily="34" charset="0"/>
              </a:rPr>
              <a:t>: A device that substitutes or enhances the ability to hear.</a:t>
            </a:r>
          </a:p>
          <a:p>
            <a:pPr algn="l" fontAlgn="base"/>
            <a:r>
              <a:rPr lang="en-US" sz="2400" b="1" i="0" dirty="0">
                <a:solidFill>
                  <a:srgbClr val="232323"/>
                </a:solidFill>
                <a:effectLst/>
                <a:latin typeface="Arial" panose="020B0604020202020204" pitchFamily="34" charset="0"/>
                <a:cs typeface="Arial" panose="020B0604020202020204" pitchFamily="34" charset="0"/>
              </a:rPr>
              <a:t>Augmentative devices</a:t>
            </a:r>
            <a:r>
              <a:rPr lang="en-US" sz="2400" b="0" i="0" dirty="0">
                <a:solidFill>
                  <a:srgbClr val="232323"/>
                </a:solidFill>
                <a:effectLst/>
                <a:latin typeface="Arial" panose="020B0604020202020204" pitchFamily="34" charset="0"/>
                <a:cs typeface="Arial" panose="020B0604020202020204" pitchFamily="34" charset="0"/>
              </a:rPr>
              <a:t>: Tools that help individuals with limited or absent speech to communicate, such as communication boards, pictographs (symbols that look like the things they represent), or ideographs (symbols representing ideas).</a:t>
            </a:r>
          </a:p>
          <a:p>
            <a:pPr algn="l" fontAlgn="base"/>
            <a:r>
              <a:rPr lang="en-US" sz="2400" b="1" i="0" dirty="0">
                <a:solidFill>
                  <a:srgbClr val="232323"/>
                </a:solidFill>
                <a:effectLst/>
                <a:latin typeface="Arial" panose="020B0604020202020204" pitchFamily="34" charset="0"/>
                <a:cs typeface="Arial" panose="020B0604020202020204" pitchFamily="34" charset="0"/>
              </a:rPr>
              <a:t>Aural rehabilitation</a:t>
            </a:r>
            <a:r>
              <a:rPr lang="en-US" sz="2400" b="0" i="0" dirty="0">
                <a:solidFill>
                  <a:srgbClr val="232323"/>
                </a:solidFill>
                <a:effectLst/>
                <a:latin typeface="Arial" panose="020B0604020202020204" pitchFamily="34" charset="0"/>
                <a:cs typeface="Arial" panose="020B0604020202020204" pitchFamily="34" charset="0"/>
              </a:rPr>
              <a:t>: Techniques used with people who are hearing impaired to improve their ability to speak and communicate.</a:t>
            </a:r>
          </a:p>
          <a:p>
            <a:r>
              <a:rPr lang="en-US" sz="2400" b="1" i="0" dirty="0">
                <a:solidFill>
                  <a:srgbClr val="232323"/>
                </a:solidFill>
                <a:effectLst/>
                <a:latin typeface="Arial" panose="020B0604020202020204" pitchFamily="34" charset="0"/>
                <a:cs typeface="Arial" panose="020B0604020202020204" pitchFamily="34" charset="0"/>
              </a:rPr>
              <a:t>Autism</a:t>
            </a:r>
            <a:r>
              <a:rPr lang="en-US" sz="2400" b="0" i="0" dirty="0">
                <a:solidFill>
                  <a:srgbClr val="232323"/>
                </a:solidFill>
                <a:effectLst/>
                <a:latin typeface="Arial" panose="020B0604020202020204" pitchFamily="34" charset="0"/>
                <a:cs typeface="Arial" panose="020B0604020202020204" pitchFamily="34" charset="0"/>
              </a:rPr>
              <a:t>: A brain disorder that begins in early childhood and persists throughout adulthood; affects three crucial areas of development: communication, social interaction, and creative or imaginative play.</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6982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E388E-1729-E75C-0321-726D61808AB5}"/>
              </a:ext>
            </a:extLst>
          </p:cNvPr>
          <p:cNvSpPr>
            <a:spLocks noGrp="1"/>
          </p:cNvSpPr>
          <p:nvPr>
            <p:ph idx="4294967295"/>
          </p:nvPr>
        </p:nvSpPr>
        <p:spPr>
          <a:xfrm>
            <a:off x="828675" y="1003300"/>
            <a:ext cx="10587038" cy="5440363"/>
          </a:xfrm>
        </p:spPr>
        <p:txBody>
          <a:bodyPr>
            <a:noAutofit/>
          </a:bodyPr>
          <a:lstStyle/>
          <a:p>
            <a:r>
              <a:rPr lang="en-US" sz="2400" b="1" i="0" dirty="0">
                <a:solidFill>
                  <a:srgbClr val="232323"/>
                </a:solidFill>
                <a:effectLst/>
                <a:latin typeface="Arial" panose="020B0604020202020204" pitchFamily="34" charset="0"/>
                <a:cs typeface="Arial" panose="020B0604020202020204" pitchFamily="34" charset="0"/>
              </a:rPr>
              <a:t>Barotrauma</a:t>
            </a:r>
            <a:r>
              <a:rPr lang="en-US" sz="2400" b="0" i="0" dirty="0">
                <a:solidFill>
                  <a:srgbClr val="232323"/>
                </a:solidFill>
                <a:effectLst/>
                <a:latin typeface="Arial" panose="020B0604020202020204" pitchFamily="34" charset="0"/>
                <a:cs typeface="Arial" panose="020B0604020202020204" pitchFamily="34" charset="0"/>
              </a:rPr>
              <a:t>: Injury to the middle ear caused by a reduction of air pressure.</a:t>
            </a:r>
          </a:p>
          <a:p>
            <a:r>
              <a:rPr lang="en-US" sz="2400" b="1" i="0" dirty="0">
                <a:solidFill>
                  <a:srgbClr val="232323"/>
                </a:solidFill>
                <a:effectLst/>
                <a:latin typeface="Arial" panose="020B0604020202020204" pitchFamily="34" charset="0"/>
                <a:cs typeface="Arial" panose="020B0604020202020204" pitchFamily="34" charset="0"/>
              </a:rPr>
              <a:t>Benign paroxysmal positional vertigo</a:t>
            </a:r>
            <a:r>
              <a:rPr lang="en-US" sz="2400" b="0" i="0" dirty="0">
                <a:solidFill>
                  <a:srgbClr val="232323"/>
                </a:solidFill>
                <a:effectLst/>
                <a:latin typeface="Arial" panose="020B0604020202020204" pitchFamily="34" charset="0"/>
                <a:cs typeface="Arial" panose="020B0604020202020204" pitchFamily="34" charset="0"/>
              </a:rPr>
              <a:t>: A balance disorder that results in sudden onset of dizziness, spinning, or vertigo when moving the head.</a:t>
            </a:r>
            <a:endParaRPr lang="en-US" sz="2400" dirty="0">
              <a:solidFill>
                <a:srgbClr val="232323"/>
              </a:solidFill>
              <a:latin typeface="Arial" panose="020B0604020202020204" pitchFamily="34" charset="0"/>
              <a:cs typeface="Arial" panose="020B0604020202020204" pitchFamily="34" charset="0"/>
            </a:endParaRPr>
          </a:p>
          <a:p>
            <a:r>
              <a:rPr lang="en-US" sz="2400" b="1" i="0" dirty="0">
                <a:solidFill>
                  <a:srgbClr val="232323"/>
                </a:solidFill>
                <a:effectLst/>
                <a:latin typeface="Arial" panose="020B0604020202020204" pitchFamily="34" charset="0"/>
                <a:cs typeface="Arial" panose="020B0604020202020204" pitchFamily="34" charset="0"/>
              </a:rPr>
              <a:t>Central auditory processing disorder</a:t>
            </a:r>
            <a:r>
              <a:rPr lang="en-US" sz="2400" b="0" i="0" dirty="0">
                <a:solidFill>
                  <a:srgbClr val="232323"/>
                </a:solidFill>
                <a:effectLst/>
                <a:latin typeface="Arial" panose="020B0604020202020204" pitchFamily="34" charset="0"/>
                <a:cs typeface="Arial" panose="020B0604020202020204" pitchFamily="34" charset="0"/>
              </a:rPr>
              <a:t>: An inability to differentiate, recognize or understand sounds; hearing and intelligence are normal.</a:t>
            </a:r>
          </a:p>
          <a:p>
            <a:pPr algn="l" fontAlgn="base"/>
            <a:r>
              <a:rPr lang="en-US" sz="2400" b="1" i="0" dirty="0">
                <a:solidFill>
                  <a:srgbClr val="232323"/>
                </a:solidFill>
                <a:effectLst/>
                <a:latin typeface="Arial" panose="020B0604020202020204" pitchFamily="34" charset="0"/>
                <a:cs typeface="Arial" panose="020B0604020202020204" pitchFamily="34" charset="0"/>
              </a:rPr>
              <a:t>Chemosensory disorders</a:t>
            </a:r>
            <a:r>
              <a:rPr lang="en-US" sz="2400" b="0" i="0" dirty="0">
                <a:solidFill>
                  <a:srgbClr val="232323"/>
                </a:solidFill>
                <a:effectLst/>
                <a:latin typeface="Arial" panose="020B0604020202020204" pitchFamily="34" charset="0"/>
                <a:cs typeface="Arial" panose="020B0604020202020204" pitchFamily="34" charset="0"/>
              </a:rPr>
              <a:t>: Diseases or problems associated with the sense of smell or the sense of taste.</a:t>
            </a:r>
          </a:p>
          <a:p>
            <a:pPr algn="l" fontAlgn="base"/>
            <a:r>
              <a:rPr lang="en-US" sz="2400" b="1" i="0" dirty="0">
                <a:solidFill>
                  <a:srgbClr val="232323"/>
                </a:solidFill>
                <a:effectLst/>
                <a:latin typeface="Arial" panose="020B0604020202020204" pitchFamily="34" charset="0"/>
                <a:cs typeface="Arial" panose="020B0604020202020204" pitchFamily="34" charset="0"/>
              </a:rPr>
              <a:t>Choanal atresia</a:t>
            </a:r>
            <a:r>
              <a:rPr lang="en-US" sz="2400" b="0" i="0" dirty="0">
                <a:solidFill>
                  <a:srgbClr val="232323"/>
                </a:solidFill>
                <a:effectLst/>
                <a:latin typeface="Arial" panose="020B0604020202020204" pitchFamily="34" charset="0"/>
                <a:cs typeface="Arial" panose="020B0604020202020204" pitchFamily="34" charset="0"/>
              </a:rPr>
              <a:t>: A birth defect in which there is no opening in the back of the nose to connect it to the breathing tube. Babies with this problem are unable to breathe through their noses.</a:t>
            </a:r>
          </a:p>
          <a:p>
            <a:r>
              <a:rPr lang="en-US" sz="2400" b="1" i="0" dirty="0">
                <a:solidFill>
                  <a:srgbClr val="232323"/>
                </a:solidFill>
                <a:effectLst/>
                <a:latin typeface="Arial" panose="020B0604020202020204" pitchFamily="34" charset="0"/>
                <a:cs typeface="Arial" panose="020B0604020202020204" pitchFamily="34" charset="0"/>
              </a:rPr>
              <a:t>Cleft palate</a:t>
            </a:r>
            <a:r>
              <a:rPr lang="en-US" sz="2400" b="0" i="0" dirty="0">
                <a:solidFill>
                  <a:srgbClr val="232323"/>
                </a:solidFill>
                <a:effectLst/>
                <a:latin typeface="Arial" panose="020B0604020202020204" pitchFamily="34" charset="0"/>
                <a:cs typeface="Arial" panose="020B0604020202020204" pitchFamily="34" charset="0"/>
              </a:rPr>
              <a:t>: A birth defect resulting in opening in the roof of the mouth that may or may not involve the upper lip and/or nose.</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8075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FBD75-5E01-F1B9-D9E7-B9DB3291C02E}"/>
              </a:ext>
            </a:extLst>
          </p:cNvPr>
          <p:cNvSpPr>
            <a:spLocks noGrp="1"/>
          </p:cNvSpPr>
          <p:nvPr>
            <p:ph idx="4294967295"/>
          </p:nvPr>
        </p:nvSpPr>
        <p:spPr>
          <a:xfrm>
            <a:off x="614363" y="517525"/>
            <a:ext cx="10044112" cy="5540375"/>
          </a:xfrm>
        </p:spPr>
        <p:txBody>
          <a:bodyPr>
            <a:normAutofit fontScale="92500"/>
          </a:bodyPr>
          <a:lstStyle/>
          <a:p>
            <a:pPr algn="l" fontAlgn="base"/>
            <a:r>
              <a:rPr lang="en-US" sz="2800" b="1" i="0" dirty="0">
                <a:solidFill>
                  <a:srgbClr val="232323"/>
                </a:solidFill>
                <a:effectLst/>
                <a:latin typeface="Arial" panose="020B0604020202020204" pitchFamily="34" charset="0"/>
                <a:cs typeface="Arial" panose="020B0604020202020204" pitchFamily="34" charset="0"/>
              </a:rPr>
              <a:t>Cognition</a:t>
            </a:r>
            <a:r>
              <a:rPr lang="en-US" sz="2800" b="0" i="0" dirty="0">
                <a:solidFill>
                  <a:srgbClr val="232323"/>
                </a:solidFill>
                <a:effectLst/>
                <a:latin typeface="Arial" panose="020B0604020202020204" pitchFamily="34" charset="0"/>
                <a:cs typeface="Arial" panose="020B0604020202020204" pitchFamily="34" charset="0"/>
              </a:rPr>
              <a:t>: Thinking skills that include perception, memory, awareness, reasoning, judgment, intellect, and imagination.</a:t>
            </a:r>
          </a:p>
          <a:p>
            <a:pPr algn="l" fontAlgn="base"/>
            <a:r>
              <a:rPr lang="en-US" sz="2800" b="1" i="0" dirty="0">
                <a:solidFill>
                  <a:srgbClr val="232323"/>
                </a:solidFill>
                <a:effectLst/>
                <a:latin typeface="Arial" panose="020B0604020202020204" pitchFamily="34" charset="0"/>
                <a:cs typeface="Arial" panose="020B0604020202020204" pitchFamily="34" charset="0"/>
              </a:rPr>
              <a:t>Conductive Hearing Impairment</a:t>
            </a:r>
            <a:r>
              <a:rPr lang="en-US" sz="2800" b="0" i="0" dirty="0">
                <a:solidFill>
                  <a:srgbClr val="232323"/>
                </a:solidFill>
                <a:effectLst/>
                <a:latin typeface="Arial" panose="020B0604020202020204" pitchFamily="34" charset="0"/>
                <a:cs typeface="Arial" panose="020B0604020202020204" pitchFamily="34" charset="0"/>
              </a:rPr>
              <a:t>: Hearing loss caused by dysfunction of the outer or middle ear.</a:t>
            </a:r>
          </a:p>
          <a:p>
            <a:r>
              <a:rPr lang="en-US" sz="2800" b="1" i="0" dirty="0">
                <a:solidFill>
                  <a:srgbClr val="232323"/>
                </a:solidFill>
                <a:effectLst/>
                <a:latin typeface="Arial" panose="020B0604020202020204" pitchFamily="34" charset="0"/>
                <a:cs typeface="Arial" panose="020B0604020202020204" pitchFamily="34" charset="0"/>
              </a:rPr>
              <a:t>Deviated septum</a:t>
            </a:r>
            <a:r>
              <a:rPr lang="en-US" sz="2800" b="0" i="0" dirty="0">
                <a:solidFill>
                  <a:srgbClr val="232323"/>
                </a:solidFill>
                <a:effectLst/>
                <a:latin typeface="Arial" panose="020B0604020202020204" pitchFamily="34" charset="0"/>
                <a:cs typeface="Arial" panose="020B0604020202020204" pitchFamily="34" charset="0"/>
              </a:rPr>
              <a:t>: Leaning of the septum to one side or the other of the nose; may create blockage of a nostril.</a:t>
            </a:r>
          </a:p>
          <a:p>
            <a:r>
              <a:rPr lang="en-US" sz="2800" b="1" i="0" dirty="0">
                <a:solidFill>
                  <a:srgbClr val="232323"/>
                </a:solidFill>
                <a:effectLst/>
                <a:latin typeface="Arial" panose="020B0604020202020204" pitchFamily="34" charset="0"/>
                <a:cs typeface="Arial" panose="020B0604020202020204" pitchFamily="34" charset="0"/>
              </a:rPr>
              <a:t>Dysarthria</a:t>
            </a:r>
            <a:r>
              <a:rPr lang="en-US" sz="2800" b="0" i="0" dirty="0">
                <a:solidFill>
                  <a:srgbClr val="232323"/>
                </a:solidFill>
                <a:effectLst/>
                <a:latin typeface="Arial" panose="020B0604020202020204" pitchFamily="34" charset="0"/>
                <a:cs typeface="Arial" panose="020B0604020202020204" pitchFamily="34" charset="0"/>
              </a:rPr>
              <a:t>: A group of speech disorders caused by disturbances in the strength or coordination of the muscles of the speech mechanism as a result of damage to the brain or nerves.</a:t>
            </a:r>
            <a:endParaRPr lang="en-US" sz="2800" dirty="0">
              <a:solidFill>
                <a:srgbClr val="232323"/>
              </a:solidFill>
              <a:latin typeface="Arial" panose="020B0604020202020204" pitchFamily="34" charset="0"/>
              <a:cs typeface="Arial" panose="020B0604020202020204" pitchFamily="34" charset="0"/>
            </a:endParaRPr>
          </a:p>
          <a:p>
            <a:pPr algn="l" fontAlgn="base"/>
            <a:r>
              <a:rPr lang="en-US" sz="2800" b="1" i="0" dirty="0">
                <a:solidFill>
                  <a:srgbClr val="232323"/>
                </a:solidFill>
                <a:effectLst/>
                <a:latin typeface="Arial" panose="020B0604020202020204" pitchFamily="34" charset="0"/>
                <a:cs typeface="Arial" panose="020B0604020202020204" pitchFamily="34" charset="0"/>
              </a:rPr>
              <a:t>Dysfluency</a:t>
            </a:r>
            <a:r>
              <a:rPr lang="en-US" sz="2800" b="0" i="0" dirty="0">
                <a:solidFill>
                  <a:srgbClr val="232323"/>
                </a:solidFill>
                <a:effectLst/>
                <a:latin typeface="Arial" panose="020B0604020202020204" pitchFamily="34" charset="0"/>
                <a:cs typeface="Arial" panose="020B0604020202020204" pitchFamily="34" charset="0"/>
              </a:rPr>
              <a:t>: Disruption in the smooth flow or expression of speech.</a:t>
            </a:r>
          </a:p>
          <a:p>
            <a:pPr algn="l" fontAlgn="base"/>
            <a:r>
              <a:rPr lang="en-US" sz="2800" b="1" i="0" dirty="0">
                <a:solidFill>
                  <a:srgbClr val="232323"/>
                </a:solidFill>
                <a:effectLst/>
                <a:latin typeface="Arial" panose="020B0604020202020204" pitchFamily="34" charset="0"/>
                <a:cs typeface="Arial" panose="020B0604020202020204" pitchFamily="34" charset="0"/>
              </a:rPr>
              <a:t>Dysgeusia</a:t>
            </a:r>
            <a:r>
              <a:rPr lang="en-US" sz="2800" b="0" i="0" dirty="0">
                <a:solidFill>
                  <a:srgbClr val="232323"/>
                </a:solidFill>
                <a:effectLst/>
                <a:latin typeface="Arial" panose="020B0604020202020204" pitchFamily="34" charset="0"/>
                <a:cs typeface="Arial" panose="020B0604020202020204" pitchFamily="34" charset="0"/>
              </a:rPr>
              <a:t>: Distortion or absence of the sense of taste.</a:t>
            </a:r>
          </a:p>
          <a:p>
            <a:endParaRPr lang="en-IN" dirty="0"/>
          </a:p>
        </p:txBody>
      </p:sp>
    </p:spTree>
    <p:extLst>
      <p:ext uri="{BB962C8B-B14F-4D97-AF65-F5344CB8AC3E}">
        <p14:creationId xmlns:p14="http://schemas.microsoft.com/office/powerpoint/2010/main" val="3953201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C28E66-6308-F96F-0375-9E4ABA497DBD}"/>
              </a:ext>
            </a:extLst>
          </p:cNvPr>
          <p:cNvSpPr>
            <a:spLocks noGrp="1"/>
          </p:cNvSpPr>
          <p:nvPr>
            <p:ph idx="4294967295"/>
          </p:nvPr>
        </p:nvSpPr>
        <p:spPr>
          <a:xfrm>
            <a:off x="485775" y="917575"/>
            <a:ext cx="11415713" cy="5626100"/>
          </a:xfrm>
        </p:spPr>
        <p:txBody>
          <a:bodyPr>
            <a:noAutofit/>
          </a:bodyPr>
          <a:lstStyle/>
          <a:p>
            <a:pPr algn="l" fontAlgn="base"/>
            <a:r>
              <a:rPr lang="en-US" sz="2400" b="1" i="0" dirty="0" err="1">
                <a:solidFill>
                  <a:srgbClr val="232323"/>
                </a:solidFill>
                <a:effectLst/>
                <a:latin typeface="Arial" panose="020B0604020202020204" pitchFamily="34" charset="0"/>
                <a:cs typeface="Arial" panose="020B0604020202020204" pitchFamily="34" charset="0"/>
              </a:rPr>
              <a:t>Dysosmia</a:t>
            </a:r>
            <a:r>
              <a:rPr lang="en-US" sz="2400" b="0" i="0" dirty="0">
                <a:solidFill>
                  <a:srgbClr val="232323"/>
                </a:solidFill>
                <a:effectLst/>
                <a:latin typeface="Arial" panose="020B0604020202020204" pitchFamily="34" charset="0"/>
                <a:cs typeface="Arial" panose="020B0604020202020204" pitchFamily="34" charset="0"/>
              </a:rPr>
              <a:t>: Distortion or absence of the sense of smell.</a:t>
            </a:r>
          </a:p>
          <a:p>
            <a:pPr algn="l" fontAlgn="base"/>
            <a:r>
              <a:rPr lang="en-US" sz="2400" b="1" i="0" dirty="0">
                <a:solidFill>
                  <a:srgbClr val="232323"/>
                </a:solidFill>
                <a:effectLst/>
                <a:latin typeface="Arial" panose="020B0604020202020204" pitchFamily="34" charset="0"/>
                <a:cs typeface="Arial" panose="020B0604020202020204" pitchFamily="34" charset="0"/>
              </a:rPr>
              <a:t>Dysphagia</a:t>
            </a:r>
            <a:r>
              <a:rPr lang="en-US" sz="2400" b="0" i="0" dirty="0">
                <a:solidFill>
                  <a:srgbClr val="232323"/>
                </a:solidFill>
                <a:effectLst/>
                <a:latin typeface="Arial" panose="020B0604020202020204" pitchFamily="34" charset="0"/>
                <a:cs typeface="Arial" panose="020B0604020202020204" pitchFamily="34" charset="0"/>
              </a:rPr>
              <a:t>: Difficulty swallowing.</a:t>
            </a:r>
          </a:p>
          <a:p>
            <a:pPr algn="l" fontAlgn="base"/>
            <a:r>
              <a:rPr lang="en-US" sz="2400" b="1" i="0" dirty="0">
                <a:solidFill>
                  <a:srgbClr val="232323"/>
                </a:solidFill>
                <a:effectLst/>
                <a:latin typeface="Arial" panose="020B0604020202020204" pitchFamily="34" charset="0"/>
                <a:cs typeface="Arial" panose="020B0604020202020204" pitchFamily="34" charset="0"/>
              </a:rPr>
              <a:t>Dysphonia</a:t>
            </a:r>
            <a:r>
              <a:rPr lang="en-US" sz="2400" b="0" i="0" dirty="0">
                <a:solidFill>
                  <a:srgbClr val="232323"/>
                </a:solidFill>
                <a:effectLst/>
                <a:latin typeface="Arial" panose="020B0604020202020204" pitchFamily="34" charset="0"/>
                <a:cs typeface="Arial" panose="020B0604020202020204" pitchFamily="34" charset="0"/>
              </a:rPr>
              <a:t> - any impairment of the voice or speaking ability.</a:t>
            </a:r>
          </a:p>
          <a:p>
            <a:r>
              <a:rPr lang="en-US" sz="2400" dirty="0">
                <a:latin typeface="Arial" panose="020B0604020202020204" pitchFamily="34" charset="0"/>
                <a:cs typeface="Arial" panose="020B0604020202020204" pitchFamily="34" charset="0"/>
              </a:rPr>
              <a:t>Ear drum: A translucent, fibrous drum which separates the external ear canal from the middle ear and is directly attached to the ear bones (ossicles). This structure helps conduct sound waves to mechanical energy that results in stimulation of the inner ear.</a:t>
            </a:r>
          </a:p>
          <a:p>
            <a:r>
              <a:rPr lang="en-US" sz="2400" b="1" i="0" dirty="0">
                <a:solidFill>
                  <a:srgbClr val="232323"/>
                </a:solidFill>
                <a:effectLst/>
                <a:latin typeface="Arial" panose="020B0604020202020204" pitchFamily="34" charset="0"/>
                <a:cs typeface="Arial" panose="020B0604020202020204" pitchFamily="34" charset="0"/>
              </a:rPr>
              <a:t>Ear wax</a:t>
            </a:r>
            <a:r>
              <a:rPr lang="en-US" sz="2400" b="0" i="0" dirty="0">
                <a:solidFill>
                  <a:srgbClr val="232323"/>
                </a:solidFill>
                <a:effectLst/>
                <a:latin typeface="Arial" panose="020B0604020202020204" pitchFamily="34" charset="0"/>
                <a:cs typeface="Arial" panose="020B0604020202020204" pitchFamily="34" charset="0"/>
              </a:rPr>
              <a:t>: A yellow secretion from glands in the outer ear (cerumen) that keeps the skin of the ear dry and protected from infection.</a:t>
            </a:r>
          </a:p>
          <a:p>
            <a:r>
              <a:rPr lang="en-US" sz="2400" b="1" i="0" dirty="0" err="1">
                <a:solidFill>
                  <a:srgbClr val="232323"/>
                </a:solidFill>
                <a:effectLst/>
                <a:latin typeface="Arial" panose="020B0604020202020204" pitchFamily="34" charset="0"/>
                <a:cs typeface="Arial" panose="020B0604020202020204" pitchFamily="34" charset="0"/>
              </a:rPr>
              <a:t>Electronystagmogram</a:t>
            </a:r>
            <a:r>
              <a:rPr lang="en-US" sz="2400" b="0" i="0" dirty="0">
                <a:solidFill>
                  <a:srgbClr val="232323"/>
                </a:solidFill>
                <a:effectLst/>
                <a:latin typeface="Arial" panose="020B0604020202020204" pitchFamily="34" charset="0"/>
                <a:cs typeface="Arial" panose="020B0604020202020204" pitchFamily="34" charset="0"/>
              </a:rPr>
              <a:t>: A test of the vestibular system, which is used to help diagnose balance problems.</a:t>
            </a:r>
          </a:p>
          <a:p>
            <a:r>
              <a:rPr lang="en-US" sz="2400" b="1" i="0" dirty="0">
                <a:solidFill>
                  <a:srgbClr val="232323"/>
                </a:solidFill>
                <a:effectLst/>
                <a:latin typeface="Arial" panose="020B0604020202020204" pitchFamily="34" charset="0"/>
                <a:cs typeface="Arial" panose="020B0604020202020204" pitchFamily="34" charset="0"/>
              </a:rPr>
              <a:t>Endoscopic sinus surgery</a:t>
            </a:r>
            <a:r>
              <a:rPr lang="en-US" sz="2400" b="0" i="0" dirty="0">
                <a:solidFill>
                  <a:srgbClr val="232323"/>
                </a:solidFill>
                <a:effectLst/>
                <a:latin typeface="Arial" panose="020B0604020202020204" pitchFamily="34" charset="0"/>
                <a:cs typeface="Arial" panose="020B0604020202020204" pitchFamily="34" charset="0"/>
              </a:rPr>
              <a:t>: Looking into the sinuses and performing procedures on the sinuses by placing flexible telescopes through the nose.</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3577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95FBD-8498-4E8D-536D-95231B2E1E28}"/>
              </a:ext>
            </a:extLst>
          </p:cNvPr>
          <p:cNvSpPr>
            <a:spLocks noGrp="1"/>
          </p:cNvSpPr>
          <p:nvPr>
            <p:ph idx="4294967295"/>
          </p:nvPr>
        </p:nvSpPr>
        <p:spPr>
          <a:xfrm>
            <a:off x="757238" y="428626"/>
            <a:ext cx="10815637" cy="4527550"/>
          </a:xfrm>
        </p:spPr>
        <p:txBody>
          <a:bodyPr>
            <a:noAutofit/>
          </a:bodyPr>
          <a:lstStyle/>
          <a:p>
            <a:r>
              <a:rPr lang="en-IN" sz="2400" b="1" i="0" dirty="0">
                <a:solidFill>
                  <a:srgbClr val="232323"/>
                </a:solidFill>
                <a:effectLst/>
                <a:latin typeface="Arial" panose="020B0604020202020204" pitchFamily="34" charset="0"/>
                <a:cs typeface="Arial" panose="020B0604020202020204" pitchFamily="34" charset="0"/>
              </a:rPr>
              <a:t>Epistaxis</a:t>
            </a:r>
            <a:r>
              <a:rPr lang="en-IN" sz="2400" b="0" i="0" dirty="0">
                <a:solidFill>
                  <a:srgbClr val="232323"/>
                </a:solidFill>
                <a:effectLst/>
                <a:latin typeface="Arial" panose="020B0604020202020204" pitchFamily="34" charset="0"/>
                <a:cs typeface="Arial" panose="020B0604020202020204" pitchFamily="34" charset="0"/>
              </a:rPr>
              <a:t>: Nosebleed.</a:t>
            </a:r>
          </a:p>
          <a:p>
            <a:pPr algn="l" fontAlgn="base"/>
            <a:r>
              <a:rPr lang="en-US" sz="2400" b="1" i="0" dirty="0">
                <a:solidFill>
                  <a:srgbClr val="232323"/>
                </a:solidFill>
                <a:effectLst/>
                <a:latin typeface="Arial" panose="020B0604020202020204" pitchFamily="34" charset="0"/>
                <a:cs typeface="Arial" panose="020B0604020202020204" pitchFamily="34" charset="0"/>
              </a:rPr>
              <a:t>Hearing aid</a:t>
            </a:r>
            <a:r>
              <a:rPr lang="en-US" sz="2400" b="0" i="0" dirty="0">
                <a:solidFill>
                  <a:srgbClr val="232323"/>
                </a:solidFill>
                <a:effectLst/>
                <a:latin typeface="Arial" panose="020B0604020202020204" pitchFamily="34" charset="0"/>
                <a:cs typeface="Arial" panose="020B0604020202020204" pitchFamily="34" charset="0"/>
              </a:rPr>
              <a:t>: An electronic device that brings amplified sound to the ear. A hearing aid usually consists of a microphone, amplifier, and receiver.</a:t>
            </a:r>
          </a:p>
          <a:p>
            <a:pPr algn="l" fontAlgn="base"/>
            <a:r>
              <a:rPr lang="en-US" sz="2400" b="1" i="0" dirty="0">
                <a:solidFill>
                  <a:srgbClr val="232323"/>
                </a:solidFill>
                <a:effectLst/>
                <a:latin typeface="Arial" panose="020B0604020202020204" pitchFamily="34" charset="0"/>
                <a:cs typeface="Arial" panose="020B0604020202020204" pitchFamily="34" charset="0"/>
              </a:rPr>
              <a:t>Hearing disorder</a:t>
            </a:r>
            <a:r>
              <a:rPr lang="en-US" sz="2400" b="0" i="0" dirty="0">
                <a:solidFill>
                  <a:srgbClr val="232323"/>
                </a:solidFill>
                <a:effectLst/>
                <a:latin typeface="Arial" panose="020B0604020202020204" pitchFamily="34" charset="0"/>
                <a:cs typeface="Arial" panose="020B0604020202020204" pitchFamily="34" charset="0"/>
              </a:rPr>
              <a:t>: Disruption in the normal hearing process that may occur in the outer, middle or inner ear, whereby sound waves are not converted to electrical signals and nerve impulses are not transmitted to the brain to be interpreted.</a:t>
            </a:r>
          </a:p>
          <a:p>
            <a:r>
              <a:rPr lang="en-US" sz="2400" b="1" i="0" dirty="0">
                <a:solidFill>
                  <a:srgbClr val="232323"/>
                </a:solidFill>
                <a:effectLst/>
                <a:latin typeface="Arial" panose="020B0604020202020204" pitchFamily="34" charset="0"/>
                <a:cs typeface="Arial" panose="020B0604020202020204" pitchFamily="34" charset="0"/>
              </a:rPr>
              <a:t>Labyrinth</a:t>
            </a:r>
            <a:r>
              <a:rPr lang="en-US" sz="2400" b="0" i="0" dirty="0">
                <a:solidFill>
                  <a:srgbClr val="232323"/>
                </a:solidFill>
                <a:effectLst/>
                <a:latin typeface="Arial" panose="020B0604020202020204" pitchFamily="34" charset="0"/>
                <a:cs typeface="Arial" panose="020B0604020202020204" pitchFamily="34" charset="0"/>
              </a:rPr>
              <a:t>: The organ of balance located in the inner ear. The labyrinth consists of three semicircular canals and the vestibule.</a:t>
            </a:r>
          </a:p>
          <a:p>
            <a:r>
              <a:rPr lang="en-US" sz="2400" b="1" i="0" dirty="0">
                <a:solidFill>
                  <a:srgbClr val="232323"/>
                </a:solidFill>
                <a:effectLst/>
                <a:latin typeface="Arial" panose="020B0604020202020204" pitchFamily="34" charset="0"/>
                <a:cs typeface="Arial" panose="020B0604020202020204" pitchFamily="34" charset="0"/>
              </a:rPr>
              <a:t>Labyrinthitis</a:t>
            </a:r>
            <a:r>
              <a:rPr lang="en-US" sz="2400" b="0" i="0" dirty="0">
                <a:solidFill>
                  <a:srgbClr val="232323"/>
                </a:solidFill>
                <a:effectLst/>
                <a:latin typeface="Arial" panose="020B0604020202020204" pitchFamily="34" charset="0"/>
                <a:cs typeface="Arial" panose="020B0604020202020204" pitchFamily="34" charset="0"/>
              </a:rPr>
              <a:t>: Viral or bacterial infection or inflammation of the inner ear that can cause dizziness, loss of balance, and temporary hearing loss.</a:t>
            </a:r>
          </a:p>
          <a:p>
            <a:r>
              <a:rPr lang="en-US" sz="2400" b="1" i="0" dirty="0">
                <a:solidFill>
                  <a:srgbClr val="232323"/>
                </a:solidFill>
                <a:effectLst/>
                <a:latin typeface="Arial" panose="020B0604020202020204" pitchFamily="34" charset="0"/>
                <a:cs typeface="Arial" panose="020B0604020202020204" pitchFamily="34" charset="0"/>
              </a:rPr>
              <a:t>Laryngeal neoplasms</a:t>
            </a:r>
            <a:r>
              <a:rPr lang="en-US" sz="2400" b="0" i="0" dirty="0">
                <a:solidFill>
                  <a:srgbClr val="232323"/>
                </a:solidFill>
                <a:effectLst/>
                <a:latin typeface="Arial" panose="020B0604020202020204" pitchFamily="34" charset="0"/>
                <a:cs typeface="Arial" panose="020B0604020202020204" pitchFamily="34" charset="0"/>
              </a:rPr>
              <a:t>: Abnormal growths in the larynx (voice box) that can be cancerous or noncancerous.</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5650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3E9AA-6086-639E-4D15-75A2E24B05FC}"/>
              </a:ext>
            </a:extLst>
          </p:cNvPr>
          <p:cNvSpPr>
            <a:spLocks noGrp="1"/>
          </p:cNvSpPr>
          <p:nvPr>
            <p:ph idx="4294967295"/>
          </p:nvPr>
        </p:nvSpPr>
        <p:spPr>
          <a:xfrm>
            <a:off x="642938" y="403225"/>
            <a:ext cx="10572750" cy="5868988"/>
          </a:xfrm>
        </p:spPr>
        <p:txBody>
          <a:bodyPr>
            <a:noAutofit/>
          </a:bodyPr>
          <a:lstStyle/>
          <a:p>
            <a:r>
              <a:rPr lang="en-US" sz="2400" dirty="0">
                <a:latin typeface="Arial" panose="020B0604020202020204" pitchFamily="34" charset="0"/>
                <a:cs typeface="Arial" panose="020B0604020202020204" pitchFamily="34" charset="0"/>
              </a:rPr>
              <a:t>Lymph node dissection: Removal of the lymph glands in the area near a tumor in order to determine if they are involved with cancer and to remove any cancer located within them.</a:t>
            </a:r>
          </a:p>
          <a:p>
            <a:pPr algn="l" fontAlgn="base"/>
            <a:r>
              <a:rPr lang="en-US" sz="2400" b="1" i="0" dirty="0">
                <a:solidFill>
                  <a:srgbClr val="232323"/>
                </a:solidFill>
                <a:effectLst/>
                <a:latin typeface="Arial" panose="020B0604020202020204" pitchFamily="34" charset="0"/>
                <a:cs typeface="Arial" panose="020B0604020202020204" pitchFamily="34" charset="0"/>
              </a:rPr>
              <a:t>Mastoid</a:t>
            </a:r>
            <a:r>
              <a:rPr lang="en-US" sz="2400" b="0" i="0" dirty="0">
                <a:solidFill>
                  <a:srgbClr val="232323"/>
                </a:solidFill>
                <a:effectLst/>
                <a:latin typeface="Arial" panose="020B0604020202020204" pitchFamily="34" charset="0"/>
                <a:cs typeface="Arial" panose="020B0604020202020204" pitchFamily="34" charset="0"/>
              </a:rPr>
              <a:t>: The skull bone behind the ear.</a:t>
            </a:r>
          </a:p>
          <a:p>
            <a:pPr algn="l" fontAlgn="base"/>
            <a:r>
              <a:rPr lang="en-US" sz="2400" b="1" i="0" dirty="0">
                <a:solidFill>
                  <a:srgbClr val="232323"/>
                </a:solidFill>
                <a:effectLst/>
                <a:latin typeface="Arial" panose="020B0604020202020204" pitchFamily="34" charset="0"/>
                <a:cs typeface="Arial" panose="020B0604020202020204" pitchFamily="34" charset="0"/>
              </a:rPr>
              <a:t>Mastoidectomy</a:t>
            </a:r>
            <a:r>
              <a:rPr lang="en-US" sz="2400" b="0" i="0" dirty="0">
                <a:solidFill>
                  <a:srgbClr val="232323"/>
                </a:solidFill>
                <a:effectLst/>
                <a:latin typeface="Arial" panose="020B0604020202020204" pitchFamily="34" charset="0"/>
                <a:cs typeface="Arial" panose="020B0604020202020204" pitchFamily="34" charset="0"/>
              </a:rPr>
              <a:t>: Creating an opening and removing infected bone caused by severe, advanced ear infection.</a:t>
            </a:r>
          </a:p>
          <a:p>
            <a:pPr algn="l" fontAlgn="base"/>
            <a:r>
              <a:rPr lang="en-US" sz="2400" b="1" i="0" dirty="0">
                <a:solidFill>
                  <a:srgbClr val="232323"/>
                </a:solidFill>
                <a:effectLst/>
                <a:latin typeface="Arial" panose="020B0604020202020204" pitchFamily="34" charset="0"/>
                <a:cs typeface="Arial" panose="020B0604020202020204" pitchFamily="34" charset="0"/>
              </a:rPr>
              <a:t>Mastoiditis</a:t>
            </a:r>
            <a:r>
              <a:rPr lang="en-US" sz="2400" b="0" i="0" dirty="0">
                <a:solidFill>
                  <a:srgbClr val="232323"/>
                </a:solidFill>
                <a:effectLst/>
                <a:latin typeface="Arial" panose="020B0604020202020204" pitchFamily="34" charset="0"/>
                <a:cs typeface="Arial" panose="020B0604020202020204" pitchFamily="34" charset="0"/>
              </a:rPr>
              <a:t>: Infection of the mastoid bone due to severe, advanced ear infection.</a:t>
            </a:r>
          </a:p>
          <a:p>
            <a:r>
              <a:rPr lang="en-US" sz="2400" b="1" i="0" dirty="0">
                <a:solidFill>
                  <a:srgbClr val="232323"/>
                </a:solidFill>
                <a:effectLst/>
                <a:latin typeface="Arial" panose="020B0604020202020204" pitchFamily="34" charset="0"/>
                <a:cs typeface="Arial" panose="020B0604020202020204" pitchFamily="34" charset="0"/>
              </a:rPr>
              <a:t>Nasopharyngoscopy</a:t>
            </a:r>
            <a:r>
              <a:rPr lang="en-US" sz="2400" b="0" i="0" dirty="0">
                <a:solidFill>
                  <a:srgbClr val="232323"/>
                </a:solidFill>
                <a:effectLst/>
                <a:latin typeface="Arial" panose="020B0604020202020204" pitchFamily="34" charset="0"/>
                <a:cs typeface="Arial" panose="020B0604020202020204" pitchFamily="34" charset="0"/>
              </a:rPr>
              <a:t>: Looking into the nose and throat and inspecting the vocal cords using a flexible telescope.’’</a:t>
            </a:r>
          </a:p>
          <a:p>
            <a:r>
              <a:rPr lang="en-US" sz="2400" b="1" i="0" dirty="0">
                <a:solidFill>
                  <a:srgbClr val="232323"/>
                </a:solidFill>
                <a:effectLst/>
                <a:latin typeface="Arial" panose="020B0604020202020204" pitchFamily="34" charset="0"/>
                <a:cs typeface="Arial" panose="020B0604020202020204" pitchFamily="34" charset="0"/>
              </a:rPr>
              <a:t>Obstructive sleep apnea</a:t>
            </a:r>
            <a:r>
              <a:rPr lang="en-US" sz="2400" b="0" i="0" dirty="0">
                <a:solidFill>
                  <a:srgbClr val="232323"/>
                </a:solidFill>
                <a:effectLst/>
                <a:latin typeface="Arial" panose="020B0604020202020204" pitchFamily="34" charset="0"/>
                <a:cs typeface="Arial" panose="020B0604020202020204" pitchFamily="34" charset="0"/>
              </a:rPr>
              <a:t>: Obstruction of breathing by the palate, tongue and/or nose during sleep.</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0892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969B81-1E6B-7E5A-EC38-81F5491EDFB7}"/>
              </a:ext>
            </a:extLst>
          </p:cNvPr>
          <p:cNvSpPr>
            <a:spLocks noGrp="1"/>
          </p:cNvSpPr>
          <p:nvPr>
            <p:ph idx="4294967295"/>
          </p:nvPr>
        </p:nvSpPr>
        <p:spPr>
          <a:xfrm>
            <a:off x="328613" y="688976"/>
            <a:ext cx="10429875" cy="5283199"/>
          </a:xfrm>
        </p:spPr>
        <p:txBody>
          <a:bodyPr>
            <a:normAutofit/>
          </a:bodyPr>
          <a:lstStyle/>
          <a:p>
            <a:r>
              <a:rPr lang="en-US" sz="2600" dirty="0">
                <a:latin typeface="Arial" panose="020B0604020202020204" pitchFamily="34" charset="0"/>
                <a:cs typeface="Arial" panose="020B0604020202020204" pitchFamily="34" charset="0"/>
              </a:rPr>
              <a:t>Otitis media: Infection of the middle ear, the area behind the eardrums.</a:t>
            </a:r>
            <a:r>
              <a:rPr lang="en-US" sz="2600" b="1" i="0" dirty="0">
                <a:solidFill>
                  <a:srgbClr val="232323"/>
                </a:solidFill>
                <a:effectLst/>
                <a:latin typeface="Arial" panose="020B0604020202020204" pitchFamily="34" charset="0"/>
                <a:cs typeface="Arial" panose="020B0604020202020204" pitchFamily="34" charset="0"/>
              </a:rPr>
              <a:t> </a:t>
            </a:r>
          </a:p>
          <a:p>
            <a:r>
              <a:rPr lang="en-US" sz="2600" b="1" i="0" dirty="0">
                <a:solidFill>
                  <a:srgbClr val="232323"/>
                </a:solidFill>
                <a:effectLst/>
                <a:latin typeface="Arial" panose="020B0604020202020204" pitchFamily="34" charset="0"/>
                <a:cs typeface="Arial" panose="020B0604020202020204" pitchFamily="34" charset="0"/>
              </a:rPr>
              <a:t>Otolaryngologist</a:t>
            </a:r>
            <a:r>
              <a:rPr lang="en-US" sz="2600" b="0" i="0" dirty="0">
                <a:solidFill>
                  <a:srgbClr val="232323"/>
                </a:solidFill>
                <a:effectLst/>
                <a:latin typeface="Arial" panose="020B0604020202020204" pitchFamily="34" charset="0"/>
                <a:cs typeface="Arial" panose="020B0604020202020204" pitchFamily="34" charset="0"/>
              </a:rPr>
              <a:t>: A physician/surgeon who specializes in diseases of the ears, nose, throat, and head and neck.</a:t>
            </a:r>
            <a:endParaRPr lang="en-US" sz="26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Otitis externa: Inflammation of the outer part of the ear extending to the auditory canal, commonly called “swimmer's ear.”</a:t>
            </a:r>
          </a:p>
          <a:p>
            <a:r>
              <a:rPr lang="en-US" sz="2600" b="1" i="0" dirty="0">
                <a:solidFill>
                  <a:srgbClr val="232323"/>
                </a:solidFill>
                <a:effectLst/>
                <a:latin typeface="Arial" panose="020B0604020202020204" pitchFamily="34" charset="0"/>
                <a:cs typeface="Arial" panose="020B0604020202020204" pitchFamily="34" charset="0"/>
              </a:rPr>
              <a:t>Phonology</a:t>
            </a:r>
            <a:r>
              <a:rPr lang="en-US" sz="2600" b="0" i="0" dirty="0">
                <a:solidFill>
                  <a:srgbClr val="232323"/>
                </a:solidFill>
                <a:effectLst/>
                <a:latin typeface="Arial" panose="020B0604020202020204" pitchFamily="34" charset="0"/>
                <a:cs typeface="Arial" panose="020B0604020202020204" pitchFamily="34" charset="0"/>
              </a:rPr>
              <a:t>: The study of speech sounds.</a:t>
            </a:r>
          </a:p>
          <a:p>
            <a:pPr algn="l" fontAlgn="base"/>
            <a:r>
              <a:rPr lang="en-US" sz="2600" b="1" i="0" dirty="0">
                <a:solidFill>
                  <a:srgbClr val="232323"/>
                </a:solidFill>
                <a:effectLst/>
                <a:latin typeface="Arial" panose="020B0604020202020204" pitchFamily="34" charset="0"/>
                <a:cs typeface="Arial" panose="020B0604020202020204" pitchFamily="34" charset="0"/>
              </a:rPr>
              <a:t>Rhinitis</a:t>
            </a:r>
            <a:r>
              <a:rPr lang="en-US" sz="2600" b="0" i="0" dirty="0">
                <a:solidFill>
                  <a:srgbClr val="232323"/>
                </a:solidFill>
                <a:effectLst/>
                <a:latin typeface="Arial" panose="020B0604020202020204" pitchFamily="34" charset="0"/>
                <a:cs typeface="Arial" panose="020B0604020202020204" pitchFamily="34" charset="0"/>
              </a:rPr>
              <a:t>: Inflammation of the nasal lining which can be caused by infection, allergies, foreign body, abnormal nerve input, or other inflammatory agents.</a:t>
            </a:r>
          </a:p>
          <a:p>
            <a:pPr algn="l" fontAlgn="base"/>
            <a:r>
              <a:rPr lang="en-US" sz="2600" b="1" i="0" dirty="0">
                <a:solidFill>
                  <a:srgbClr val="232323"/>
                </a:solidFill>
                <a:effectLst/>
                <a:latin typeface="Arial" panose="020B0604020202020204" pitchFamily="34" charset="0"/>
                <a:cs typeface="Arial" panose="020B0604020202020204" pitchFamily="34" charset="0"/>
              </a:rPr>
              <a:t>Rhinoplasty</a:t>
            </a:r>
            <a:r>
              <a:rPr lang="en-US" sz="2600" b="0" i="0" dirty="0">
                <a:solidFill>
                  <a:srgbClr val="232323"/>
                </a:solidFill>
                <a:effectLst/>
                <a:latin typeface="Arial" panose="020B0604020202020204" pitchFamily="34" charset="0"/>
                <a:cs typeface="Arial" panose="020B0604020202020204" pitchFamily="34" charset="0"/>
              </a:rPr>
              <a:t>: Surgery to improve the appearance of the nose.</a:t>
            </a:r>
          </a:p>
          <a:p>
            <a:endParaRPr lang="en-IN" dirty="0"/>
          </a:p>
        </p:txBody>
      </p:sp>
    </p:spTree>
    <p:extLst>
      <p:ext uri="{BB962C8B-B14F-4D97-AF65-F5344CB8AC3E}">
        <p14:creationId xmlns:p14="http://schemas.microsoft.com/office/powerpoint/2010/main" val="4099394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819F8-70AA-E08A-C8B8-BDCE357ED578}"/>
              </a:ext>
            </a:extLst>
          </p:cNvPr>
          <p:cNvSpPr>
            <a:spLocks noGrp="1"/>
          </p:cNvSpPr>
          <p:nvPr>
            <p:ph idx="4294967295"/>
          </p:nvPr>
        </p:nvSpPr>
        <p:spPr>
          <a:xfrm>
            <a:off x="542925" y="774701"/>
            <a:ext cx="10815638" cy="5640387"/>
          </a:xfrm>
        </p:spPr>
        <p:txBody>
          <a:bodyPr>
            <a:normAutofit fontScale="92500" lnSpcReduction="20000"/>
          </a:bodyPr>
          <a:lstStyle/>
          <a:p>
            <a:r>
              <a:rPr lang="en-US" sz="2600" dirty="0">
                <a:latin typeface="Arial" panose="020B0604020202020204" pitchFamily="34" charset="0"/>
                <a:cs typeface="Arial" panose="020B0604020202020204" pitchFamily="34" charset="0"/>
              </a:rPr>
              <a:t>Septal deviation: Leaning of the septum to one side or the other of the nose; may create blockage of a nostril.</a:t>
            </a:r>
          </a:p>
          <a:p>
            <a:r>
              <a:rPr lang="en-US" sz="2600" b="1" i="0" dirty="0">
                <a:solidFill>
                  <a:srgbClr val="232323"/>
                </a:solidFill>
                <a:effectLst/>
                <a:latin typeface="Arial" panose="020B0604020202020204" pitchFamily="34" charset="0"/>
                <a:cs typeface="Arial" panose="020B0604020202020204" pitchFamily="34" charset="0"/>
              </a:rPr>
              <a:t>Septoplasty</a:t>
            </a:r>
            <a:r>
              <a:rPr lang="en-US" sz="2600" b="0" i="0" dirty="0">
                <a:solidFill>
                  <a:srgbClr val="232323"/>
                </a:solidFill>
                <a:effectLst/>
                <a:latin typeface="Arial" panose="020B0604020202020204" pitchFamily="34" charset="0"/>
                <a:cs typeface="Arial" panose="020B0604020202020204" pitchFamily="34" charset="0"/>
              </a:rPr>
              <a:t>: Reconstruction of the septum to correct septal deviation.</a:t>
            </a:r>
          </a:p>
          <a:p>
            <a:r>
              <a:rPr lang="en-US" sz="2600" b="1" i="0" dirty="0">
                <a:solidFill>
                  <a:srgbClr val="232323"/>
                </a:solidFill>
                <a:effectLst/>
                <a:latin typeface="Arial" panose="020B0604020202020204" pitchFamily="34" charset="0"/>
                <a:cs typeface="Arial" panose="020B0604020202020204" pitchFamily="34" charset="0"/>
              </a:rPr>
              <a:t>Sleep apnea</a:t>
            </a:r>
            <a:r>
              <a:rPr lang="en-US" sz="2600" b="0" i="0" dirty="0">
                <a:solidFill>
                  <a:srgbClr val="232323"/>
                </a:solidFill>
                <a:effectLst/>
                <a:latin typeface="Arial" panose="020B0604020202020204" pitchFamily="34" charset="0"/>
                <a:cs typeface="Arial" panose="020B0604020202020204" pitchFamily="34" charset="0"/>
              </a:rPr>
              <a:t>: Obstruction of breathing by the palate, tongue and/or nose during sleep; also called obstructive sleep apnea.</a:t>
            </a:r>
          </a:p>
          <a:p>
            <a:r>
              <a:rPr lang="en-US" sz="2600" b="1" i="0" dirty="0">
                <a:solidFill>
                  <a:srgbClr val="232323"/>
                </a:solidFill>
                <a:effectLst/>
                <a:latin typeface="Arial" panose="020B0604020202020204" pitchFamily="34" charset="0"/>
                <a:cs typeface="Arial" panose="020B0604020202020204" pitchFamily="34" charset="0"/>
              </a:rPr>
              <a:t>Thyroid</a:t>
            </a:r>
            <a:r>
              <a:rPr lang="en-US" sz="2600" b="0" i="0" dirty="0">
                <a:solidFill>
                  <a:srgbClr val="232323"/>
                </a:solidFill>
                <a:effectLst/>
                <a:latin typeface="Arial" panose="020B0604020202020204" pitchFamily="34" charset="0"/>
                <a:cs typeface="Arial" panose="020B0604020202020204" pitchFamily="34" charset="0"/>
              </a:rPr>
              <a:t>: Organ in the neck surrounding the area of the windpipe where the voice box is located. This organ helps regulate metabolism. This gland requires iodine for production of hormones, thyroxine and Triiodothyronine. This gland also secretes calcitonin.</a:t>
            </a:r>
            <a:br>
              <a:rPr lang="en-IN" sz="2600" dirty="0">
                <a:latin typeface="Arial" panose="020B0604020202020204" pitchFamily="34" charset="0"/>
                <a:cs typeface="Arial" panose="020B0604020202020204" pitchFamily="34" charset="0"/>
              </a:rPr>
            </a:br>
            <a:endParaRPr lang="en-IN" sz="2600" dirty="0">
              <a:latin typeface="Arial" panose="020B0604020202020204" pitchFamily="34" charset="0"/>
              <a:cs typeface="Arial" panose="020B0604020202020204" pitchFamily="34" charset="0"/>
            </a:endParaRPr>
          </a:p>
          <a:p>
            <a:r>
              <a:rPr lang="en-US" sz="2600" b="1" i="0" dirty="0">
                <a:solidFill>
                  <a:srgbClr val="232323"/>
                </a:solidFill>
                <a:effectLst/>
                <a:latin typeface="Arial" panose="020B0604020202020204" pitchFamily="34" charset="0"/>
                <a:cs typeface="Arial" panose="020B0604020202020204" pitchFamily="34" charset="0"/>
              </a:rPr>
              <a:t>Thyroidectomy</a:t>
            </a:r>
            <a:r>
              <a:rPr lang="en-US" sz="2600" b="0" i="0" dirty="0">
                <a:solidFill>
                  <a:srgbClr val="232323"/>
                </a:solidFill>
                <a:effectLst/>
                <a:latin typeface="Arial" panose="020B0604020202020204" pitchFamily="34" charset="0"/>
                <a:cs typeface="Arial" panose="020B0604020202020204" pitchFamily="34" charset="0"/>
              </a:rPr>
              <a:t>: Removal of the thyroid gland.</a:t>
            </a:r>
          </a:p>
          <a:p>
            <a:pPr algn="l" fontAlgn="base"/>
            <a:r>
              <a:rPr lang="en-US" sz="2600" b="1" i="0" dirty="0" err="1">
                <a:solidFill>
                  <a:srgbClr val="232323"/>
                </a:solidFill>
                <a:effectLst/>
                <a:latin typeface="Arial" panose="020B0604020202020204" pitchFamily="34" charset="0"/>
                <a:cs typeface="Arial" panose="020B0604020202020204" pitchFamily="34" charset="0"/>
              </a:rPr>
              <a:t>Thyroplasty</a:t>
            </a:r>
            <a:r>
              <a:rPr lang="en-US" sz="2600" b="0" i="0" dirty="0">
                <a:solidFill>
                  <a:srgbClr val="232323"/>
                </a:solidFill>
                <a:effectLst/>
                <a:latin typeface="Arial" panose="020B0604020202020204" pitchFamily="34" charset="0"/>
                <a:cs typeface="Arial" panose="020B0604020202020204" pitchFamily="34" charset="0"/>
              </a:rPr>
              <a:t>: A surgical technique to improve voice by altering the cartilages of the larynx, which houses the vocal folds (vocal cords), in order to change the position or length of the vocal folds. Also known as laryngeal framework surgery.</a:t>
            </a:r>
          </a:p>
          <a:p>
            <a:endParaRPr lang="en-IN" dirty="0"/>
          </a:p>
        </p:txBody>
      </p:sp>
    </p:spTree>
    <p:extLst>
      <p:ext uri="{BB962C8B-B14F-4D97-AF65-F5344CB8AC3E}">
        <p14:creationId xmlns:p14="http://schemas.microsoft.com/office/powerpoint/2010/main" val="1388901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4FFD18-092F-548D-E144-6A5135043F78}"/>
              </a:ext>
            </a:extLst>
          </p:cNvPr>
          <p:cNvSpPr>
            <a:spLocks noGrp="1"/>
          </p:cNvSpPr>
          <p:nvPr>
            <p:ph idx="4294967295"/>
          </p:nvPr>
        </p:nvSpPr>
        <p:spPr>
          <a:xfrm>
            <a:off x="857250" y="1203326"/>
            <a:ext cx="8596313" cy="3881437"/>
          </a:xfrm>
        </p:spPr>
        <p:txBody>
          <a:bodyPr>
            <a:noAutofit/>
          </a:bodyPr>
          <a:lstStyle/>
          <a:p>
            <a:pPr algn="l" fontAlgn="base"/>
            <a:r>
              <a:rPr lang="en-US" sz="2400" b="1" i="0" dirty="0">
                <a:solidFill>
                  <a:srgbClr val="232323"/>
                </a:solidFill>
                <a:effectLst/>
                <a:latin typeface="Arial" panose="020B0604020202020204" pitchFamily="34" charset="0"/>
                <a:cs typeface="Arial" panose="020B0604020202020204" pitchFamily="34" charset="0"/>
              </a:rPr>
              <a:t>Tonsil</a:t>
            </a:r>
            <a:r>
              <a:rPr lang="en-US" sz="2400" b="0" i="0" dirty="0">
                <a:solidFill>
                  <a:srgbClr val="232323"/>
                </a:solidFill>
                <a:effectLst/>
                <a:latin typeface="Arial" panose="020B0604020202020204" pitchFamily="34" charset="0"/>
                <a:cs typeface="Arial" panose="020B0604020202020204" pitchFamily="34" charset="0"/>
              </a:rPr>
              <a:t>: Lymphoid tissue located in the back of the mouth.</a:t>
            </a:r>
          </a:p>
          <a:p>
            <a:pPr algn="l" fontAlgn="base"/>
            <a:r>
              <a:rPr lang="en-US" sz="2400" b="1" i="0" dirty="0">
                <a:solidFill>
                  <a:srgbClr val="232323"/>
                </a:solidFill>
                <a:effectLst/>
                <a:latin typeface="Arial" panose="020B0604020202020204" pitchFamily="34" charset="0"/>
                <a:cs typeface="Arial" panose="020B0604020202020204" pitchFamily="34" charset="0"/>
              </a:rPr>
              <a:t>Tonsillitis</a:t>
            </a:r>
            <a:r>
              <a:rPr lang="en-US" sz="2400" b="0" i="0" dirty="0">
                <a:solidFill>
                  <a:srgbClr val="232323"/>
                </a:solidFill>
                <a:effectLst/>
                <a:latin typeface="Arial" panose="020B0604020202020204" pitchFamily="34" charset="0"/>
                <a:cs typeface="Arial" panose="020B0604020202020204" pitchFamily="34" charset="0"/>
              </a:rPr>
              <a:t>: Infection of the tonsils.</a:t>
            </a:r>
          </a:p>
          <a:p>
            <a:pPr algn="l" fontAlgn="base"/>
            <a:r>
              <a:rPr lang="en-US" sz="2400" b="1" i="0" dirty="0">
                <a:solidFill>
                  <a:srgbClr val="232323"/>
                </a:solidFill>
                <a:effectLst/>
                <a:latin typeface="Arial" panose="020B0604020202020204" pitchFamily="34" charset="0"/>
                <a:cs typeface="Arial" panose="020B0604020202020204" pitchFamily="34" charset="0"/>
              </a:rPr>
              <a:t>Tonsillectomy</a:t>
            </a:r>
            <a:r>
              <a:rPr lang="en-US" sz="2400" b="0" i="0" dirty="0">
                <a:solidFill>
                  <a:srgbClr val="232323"/>
                </a:solidFill>
                <a:effectLst/>
                <a:latin typeface="Arial" panose="020B0604020202020204" pitchFamily="34" charset="0"/>
                <a:cs typeface="Arial" panose="020B0604020202020204" pitchFamily="34" charset="0"/>
              </a:rPr>
              <a:t>: Removal of one or both tonsils.</a:t>
            </a:r>
          </a:p>
          <a:p>
            <a:r>
              <a:rPr lang="en-US" sz="2400" b="1" i="0" dirty="0">
                <a:solidFill>
                  <a:srgbClr val="232323"/>
                </a:solidFill>
                <a:effectLst/>
                <a:latin typeface="Arial" panose="020B0604020202020204" pitchFamily="34" charset="0"/>
                <a:cs typeface="Arial" panose="020B0604020202020204" pitchFamily="34" charset="0"/>
              </a:rPr>
              <a:t>Tympanoplasty</a:t>
            </a:r>
            <a:r>
              <a:rPr lang="en-US" sz="2400" b="0" i="0" dirty="0">
                <a:solidFill>
                  <a:srgbClr val="232323"/>
                </a:solidFill>
                <a:effectLst/>
                <a:latin typeface="Arial" panose="020B0604020202020204" pitchFamily="34" charset="0"/>
                <a:cs typeface="Arial" panose="020B0604020202020204" pitchFamily="34" charset="0"/>
              </a:rPr>
              <a:t>: Repair of the ear drum using a patch usually made up of tissue taken from a nearby muscle.</a:t>
            </a:r>
          </a:p>
          <a:p>
            <a:r>
              <a:rPr lang="en-US" sz="2400" b="1" i="0" dirty="0">
                <a:solidFill>
                  <a:srgbClr val="232323"/>
                </a:solidFill>
                <a:effectLst/>
                <a:latin typeface="Arial" panose="020B0604020202020204" pitchFamily="34" charset="0"/>
                <a:cs typeface="Arial" panose="020B0604020202020204" pitchFamily="34" charset="0"/>
              </a:rPr>
              <a:t>Vertigo</a:t>
            </a:r>
            <a:r>
              <a:rPr lang="en-US" sz="2400" b="0" i="0" dirty="0">
                <a:solidFill>
                  <a:srgbClr val="232323"/>
                </a:solidFill>
                <a:effectLst/>
                <a:latin typeface="Arial" panose="020B0604020202020204" pitchFamily="34" charset="0"/>
                <a:cs typeface="Arial" panose="020B0604020202020204" pitchFamily="34" charset="0"/>
              </a:rPr>
              <a:t>: The illusion of movement; a sensation as if the external world were revolving around an individual (objective vertigo) or as if the individual were revolving in space (subjective vertigo).</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4453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5CF6542-69C9-6648-928C-EBEBA447EF82}"/>
              </a:ext>
            </a:extLst>
          </p:cNvPr>
          <p:cNvSpPr>
            <a:spLocks noGrp="1"/>
          </p:cNvSpPr>
          <p:nvPr>
            <p:ph type="body" sz="half" idx="2"/>
          </p:nvPr>
        </p:nvSpPr>
        <p:spPr>
          <a:xfrm>
            <a:off x="377297" y="3028951"/>
            <a:ext cx="4351866" cy="3013074"/>
          </a:xfrm>
        </p:spPr>
        <p:txBody>
          <a:bodyPr>
            <a:normAutofit/>
          </a:bodyPr>
          <a:lstStyle/>
          <a:p>
            <a:r>
              <a:rPr lang="en-IN" sz="6600">
                <a:latin typeface="Algerian" panose="04020705040A02060702" pitchFamily="82" charset="0"/>
              </a:rPr>
              <a:t>THANK YOU</a:t>
            </a:r>
            <a:endParaRPr lang="en-IN" sz="6600" dirty="0">
              <a:latin typeface="Algerian" panose="04020705040A02060702" pitchFamily="82" charset="0"/>
            </a:endParaRPr>
          </a:p>
        </p:txBody>
      </p:sp>
      <p:pic>
        <p:nvPicPr>
          <p:cNvPr id="8" name="Content Placeholder 7">
            <a:extLst>
              <a:ext uri="{FF2B5EF4-FFF2-40B4-BE49-F238E27FC236}">
                <a16:creationId xmlns:a16="http://schemas.microsoft.com/office/drawing/2014/main" id="{AEC0D8DE-88E0-4A81-B5C4-26E46A32595F}"/>
              </a:ext>
            </a:extLst>
          </p:cNvPr>
          <p:cNvPicPr>
            <a:picLocks noGrp="1" noChangeAspect="1"/>
          </p:cNvPicPr>
          <p:nvPr>
            <p:ph idx="1"/>
          </p:nvPr>
        </p:nvPicPr>
        <p:blipFill>
          <a:blip r:embed="rId2"/>
          <a:stretch>
            <a:fillRect/>
          </a:stretch>
        </p:blipFill>
        <p:spPr>
          <a:xfrm>
            <a:off x="4229100" y="1471613"/>
            <a:ext cx="5227712" cy="3714750"/>
          </a:xfrm>
          <a:prstGeom prst="rect">
            <a:avLst/>
          </a:prstGeom>
        </p:spPr>
      </p:pic>
    </p:spTree>
    <p:extLst>
      <p:ext uri="{BB962C8B-B14F-4D97-AF65-F5344CB8AC3E}">
        <p14:creationId xmlns:p14="http://schemas.microsoft.com/office/powerpoint/2010/main" val="396724676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135</TotalTime>
  <Words>1482</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Algerian</vt:lpstr>
      <vt:lpstr>Arial</vt:lpstr>
      <vt:lpstr>Trebuchet MS</vt:lpstr>
      <vt:lpstr>Wingdings 3</vt:lpstr>
      <vt:lpstr>Facet</vt:lpstr>
      <vt:lpstr>MEDICAL TERMINOLOGY FOR 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TERMINOLOGY FOR ENT </dc:title>
  <dc:creator>debjani mukherjee</dc:creator>
  <cp:lastModifiedBy>debjani mukherjee</cp:lastModifiedBy>
  <cp:revision>2</cp:revision>
  <dcterms:created xsi:type="dcterms:W3CDTF">2023-05-15T04:52:36Z</dcterms:created>
  <dcterms:modified xsi:type="dcterms:W3CDTF">2023-05-15T07:07:57Z</dcterms:modified>
</cp:coreProperties>
</file>