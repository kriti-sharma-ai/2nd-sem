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83" r:id="rId16"/>
    <p:sldId id="285" r:id="rId17"/>
    <p:sldId id="270" r:id="rId18"/>
    <p:sldId id="271" r:id="rId19"/>
    <p:sldId id="272" r:id="rId20"/>
    <p:sldId id="275" r:id="rId21"/>
    <p:sldId id="276" r:id="rId22"/>
    <p:sldId id="277" r:id="rId23"/>
    <p:sldId id="273" r:id="rId24"/>
    <p:sldId id="274" r:id="rId25"/>
    <p:sldId id="278" r:id="rId26"/>
    <p:sldId id="279" r:id="rId27"/>
    <p:sldId id="280" r:id="rId28"/>
    <p:sldId id="281" r:id="rId29"/>
    <p:sldId id="286" r:id="rId30"/>
    <p:sldId id="282" r:id="rId31"/>
    <p:sldId id="287" r:id="rId32"/>
    <p:sldId id="288" r:id="rId33"/>
    <p:sldId id="284" r:id="rId34"/>
    <p:sldId id="289" r:id="rId35"/>
    <p:sldId id="290" r:id="rId36"/>
    <p:sldId id="291" r:id="rId37"/>
    <p:sldId id="292" r:id="rId38"/>
    <p:sldId id="293"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cSldViewPr>
  </p:slideViewPr>
  <p:notesTextViewPr>
    <p:cViewPr>
      <p:scale>
        <a:sx n="1" d="1"/>
        <a:sy n="1" d="1"/>
      </p:scale>
      <p:origin x="0" y="0"/>
    </p:cViewPr>
  </p:notesTextViewPr>
  <p:sorterViewPr>
    <p:cViewPr>
      <p:scale>
        <a:sx n="100" d="100"/>
        <a:sy n="100" d="100"/>
      </p:scale>
      <p:origin x="0" y="-5502"/>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96DFF08F-DC6B-4601-B491-B0F83F6DD2DA}" type="datetimeFigureOut">
              <a:rPr lang="en-US" smtClean="0"/>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8765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18651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643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325047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72614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666685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314453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52126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408641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566173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03011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6DFF08F-DC6B-4601-B491-B0F83F6DD2DA}" type="datetimeFigureOut">
              <a:rPr lang="en-US" smtClean="0"/>
              <a:pPr/>
              <a:t>9/15/2023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813380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F66B7-3602-4954-86FB-FB69C00AFB8A}"/>
              </a:ext>
            </a:extLst>
          </p:cNvPr>
          <p:cNvSpPr>
            <a:spLocks noGrp="1"/>
          </p:cNvSpPr>
          <p:nvPr>
            <p:ph type="ctrTitle"/>
          </p:nvPr>
        </p:nvSpPr>
        <p:spPr/>
        <p:txBody>
          <a:bodyPr/>
          <a:lstStyle/>
          <a:p>
            <a:r>
              <a:rPr lang="en-IN" dirty="0"/>
              <a:t>MEDICAL AUDIT </a:t>
            </a:r>
          </a:p>
        </p:txBody>
      </p:sp>
      <p:sp>
        <p:nvSpPr>
          <p:cNvPr id="3" name="Subtitle 2">
            <a:extLst>
              <a:ext uri="{FF2B5EF4-FFF2-40B4-BE49-F238E27FC236}">
                <a16:creationId xmlns:a16="http://schemas.microsoft.com/office/drawing/2014/main" id="{7FFC0E49-A499-4774-BD73-46D2B7BBA200}"/>
              </a:ext>
            </a:extLst>
          </p:cNvPr>
          <p:cNvSpPr>
            <a:spLocks noGrp="1"/>
          </p:cNvSpPr>
          <p:nvPr>
            <p:ph type="subTitle" idx="1"/>
          </p:nvPr>
        </p:nvSpPr>
        <p:spPr/>
        <p:txBody>
          <a:bodyPr/>
          <a:lstStyle/>
          <a:p>
            <a:r>
              <a:rPr lang="en-IN" dirty="0"/>
              <a:t>ADUIT CYCLE</a:t>
            </a:r>
          </a:p>
          <a:p>
            <a:r>
              <a:rPr lang="en-IN" dirty="0"/>
              <a:t>TYPES </a:t>
            </a:r>
          </a:p>
        </p:txBody>
      </p:sp>
    </p:spTree>
    <p:extLst>
      <p:ext uri="{BB962C8B-B14F-4D97-AF65-F5344CB8AC3E}">
        <p14:creationId xmlns:p14="http://schemas.microsoft.com/office/powerpoint/2010/main" val="854721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748B1D6-E228-4E3C-BE79-7BA8565E5026}"/>
              </a:ext>
            </a:extLst>
          </p:cNvPr>
          <p:cNvPicPr>
            <a:picLocks noChangeAspect="1"/>
          </p:cNvPicPr>
          <p:nvPr/>
        </p:nvPicPr>
        <p:blipFill>
          <a:blip r:embed="rId2"/>
          <a:stretch>
            <a:fillRect/>
          </a:stretch>
        </p:blipFill>
        <p:spPr>
          <a:xfrm>
            <a:off x="360218" y="346364"/>
            <a:ext cx="11720946" cy="6289963"/>
          </a:xfrm>
          <a:prstGeom prst="rect">
            <a:avLst/>
          </a:prstGeom>
        </p:spPr>
      </p:pic>
    </p:spTree>
    <p:extLst>
      <p:ext uri="{BB962C8B-B14F-4D97-AF65-F5344CB8AC3E}">
        <p14:creationId xmlns:p14="http://schemas.microsoft.com/office/powerpoint/2010/main" val="22612465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78B0751-F310-4704-8DD2-9C10765B6DB5}"/>
              </a:ext>
            </a:extLst>
          </p:cNvPr>
          <p:cNvPicPr>
            <a:picLocks noChangeAspect="1"/>
          </p:cNvPicPr>
          <p:nvPr/>
        </p:nvPicPr>
        <p:blipFill>
          <a:blip r:embed="rId2"/>
          <a:stretch>
            <a:fillRect/>
          </a:stretch>
        </p:blipFill>
        <p:spPr>
          <a:xfrm>
            <a:off x="678873" y="443345"/>
            <a:ext cx="10820400" cy="6289963"/>
          </a:xfrm>
          <a:prstGeom prst="rect">
            <a:avLst/>
          </a:prstGeom>
        </p:spPr>
      </p:pic>
    </p:spTree>
    <p:extLst>
      <p:ext uri="{BB962C8B-B14F-4D97-AF65-F5344CB8AC3E}">
        <p14:creationId xmlns:p14="http://schemas.microsoft.com/office/powerpoint/2010/main" val="11645096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FE861B-EFB9-42BA-B97F-9478050545E3}"/>
              </a:ext>
            </a:extLst>
          </p:cNvPr>
          <p:cNvPicPr>
            <a:picLocks noChangeAspect="1"/>
          </p:cNvPicPr>
          <p:nvPr/>
        </p:nvPicPr>
        <p:blipFill>
          <a:blip r:embed="rId2"/>
          <a:stretch>
            <a:fillRect/>
          </a:stretch>
        </p:blipFill>
        <p:spPr>
          <a:xfrm>
            <a:off x="720436" y="346364"/>
            <a:ext cx="10280073" cy="6511636"/>
          </a:xfrm>
          <a:prstGeom prst="rect">
            <a:avLst/>
          </a:prstGeom>
        </p:spPr>
      </p:pic>
    </p:spTree>
    <p:extLst>
      <p:ext uri="{BB962C8B-B14F-4D97-AF65-F5344CB8AC3E}">
        <p14:creationId xmlns:p14="http://schemas.microsoft.com/office/powerpoint/2010/main" val="1743719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BBB2963-B89B-4DBD-BC60-9A710CCFFC0A}"/>
              </a:ext>
            </a:extLst>
          </p:cNvPr>
          <p:cNvPicPr>
            <a:picLocks noChangeAspect="1"/>
          </p:cNvPicPr>
          <p:nvPr/>
        </p:nvPicPr>
        <p:blipFill>
          <a:blip r:embed="rId2"/>
          <a:stretch>
            <a:fillRect/>
          </a:stretch>
        </p:blipFill>
        <p:spPr>
          <a:xfrm>
            <a:off x="651164" y="235528"/>
            <a:ext cx="11194472" cy="6622472"/>
          </a:xfrm>
          <a:prstGeom prst="rect">
            <a:avLst/>
          </a:prstGeom>
        </p:spPr>
      </p:pic>
    </p:spTree>
    <p:extLst>
      <p:ext uri="{BB962C8B-B14F-4D97-AF65-F5344CB8AC3E}">
        <p14:creationId xmlns:p14="http://schemas.microsoft.com/office/powerpoint/2010/main" val="5036560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E8A965B-975F-4DE9-82B7-DF922164F9AB}"/>
              </a:ext>
            </a:extLst>
          </p:cNvPr>
          <p:cNvPicPr>
            <a:picLocks noChangeAspect="1"/>
          </p:cNvPicPr>
          <p:nvPr/>
        </p:nvPicPr>
        <p:blipFill>
          <a:blip r:embed="rId2"/>
          <a:stretch>
            <a:fillRect/>
          </a:stretch>
        </p:blipFill>
        <p:spPr>
          <a:xfrm>
            <a:off x="401782" y="304800"/>
            <a:ext cx="11402291" cy="6553200"/>
          </a:xfrm>
          <a:prstGeom prst="rect">
            <a:avLst/>
          </a:prstGeom>
        </p:spPr>
      </p:pic>
    </p:spTree>
    <p:extLst>
      <p:ext uri="{BB962C8B-B14F-4D97-AF65-F5344CB8AC3E}">
        <p14:creationId xmlns:p14="http://schemas.microsoft.com/office/powerpoint/2010/main" val="19424836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6406E54-B338-46B2-BA16-866D3EE4C223}"/>
              </a:ext>
            </a:extLst>
          </p:cNvPr>
          <p:cNvPicPr>
            <a:picLocks noChangeAspect="1"/>
          </p:cNvPicPr>
          <p:nvPr/>
        </p:nvPicPr>
        <p:blipFill>
          <a:blip r:embed="rId2"/>
          <a:stretch>
            <a:fillRect/>
          </a:stretch>
        </p:blipFill>
        <p:spPr>
          <a:xfrm>
            <a:off x="554182" y="263236"/>
            <a:ext cx="11333017" cy="6497782"/>
          </a:xfrm>
          <a:prstGeom prst="rect">
            <a:avLst/>
          </a:prstGeom>
        </p:spPr>
      </p:pic>
    </p:spTree>
    <p:extLst>
      <p:ext uri="{BB962C8B-B14F-4D97-AF65-F5344CB8AC3E}">
        <p14:creationId xmlns:p14="http://schemas.microsoft.com/office/powerpoint/2010/main" val="25820632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0F64F0-CBE9-4EC7-8992-0709786271F2}"/>
              </a:ext>
            </a:extLst>
          </p:cNvPr>
          <p:cNvPicPr>
            <a:picLocks noChangeAspect="1"/>
          </p:cNvPicPr>
          <p:nvPr/>
        </p:nvPicPr>
        <p:blipFill>
          <a:blip r:embed="rId2"/>
          <a:stretch>
            <a:fillRect/>
          </a:stretch>
        </p:blipFill>
        <p:spPr>
          <a:xfrm>
            <a:off x="332510" y="360218"/>
            <a:ext cx="11513126" cy="6497782"/>
          </a:xfrm>
          <a:prstGeom prst="rect">
            <a:avLst/>
          </a:prstGeom>
        </p:spPr>
      </p:pic>
    </p:spTree>
    <p:extLst>
      <p:ext uri="{BB962C8B-B14F-4D97-AF65-F5344CB8AC3E}">
        <p14:creationId xmlns:p14="http://schemas.microsoft.com/office/powerpoint/2010/main" val="21153649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9AF16D-F528-4716-B507-5F0BB1AE0182}"/>
              </a:ext>
            </a:extLst>
          </p:cNvPr>
          <p:cNvPicPr>
            <a:picLocks noChangeAspect="1"/>
          </p:cNvPicPr>
          <p:nvPr/>
        </p:nvPicPr>
        <p:blipFill>
          <a:blip r:embed="rId2"/>
          <a:stretch>
            <a:fillRect/>
          </a:stretch>
        </p:blipFill>
        <p:spPr>
          <a:xfrm>
            <a:off x="443346" y="290946"/>
            <a:ext cx="11236036" cy="6567054"/>
          </a:xfrm>
          <a:prstGeom prst="rect">
            <a:avLst/>
          </a:prstGeom>
        </p:spPr>
      </p:pic>
    </p:spTree>
    <p:extLst>
      <p:ext uri="{BB962C8B-B14F-4D97-AF65-F5344CB8AC3E}">
        <p14:creationId xmlns:p14="http://schemas.microsoft.com/office/powerpoint/2010/main" val="8512572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004E3E6-D55E-44D1-BC5D-63BAF7F0927B}"/>
              </a:ext>
            </a:extLst>
          </p:cNvPr>
          <p:cNvPicPr>
            <a:picLocks noChangeAspect="1"/>
          </p:cNvPicPr>
          <p:nvPr/>
        </p:nvPicPr>
        <p:blipFill>
          <a:blip r:embed="rId2"/>
          <a:stretch>
            <a:fillRect/>
          </a:stretch>
        </p:blipFill>
        <p:spPr>
          <a:xfrm>
            <a:off x="471055" y="346364"/>
            <a:ext cx="11277600" cy="6179127"/>
          </a:xfrm>
          <a:prstGeom prst="rect">
            <a:avLst/>
          </a:prstGeom>
        </p:spPr>
      </p:pic>
    </p:spTree>
    <p:extLst>
      <p:ext uri="{BB962C8B-B14F-4D97-AF65-F5344CB8AC3E}">
        <p14:creationId xmlns:p14="http://schemas.microsoft.com/office/powerpoint/2010/main" val="37566383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1EEC856-BE3A-4558-854F-0D2DDC62DE63}"/>
              </a:ext>
            </a:extLst>
          </p:cNvPr>
          <p:cNvPicPr>
            <a:picLocks noChangeAspect="1"/>
          </p:cNvPicPr>
          <p:nvPr/>
        </p:nvPicPr>
        <p:blipFill>
          <a:blip r:embed="rId2"/>
          <a:stretch>
            <a:fillRect/>
          </a:stretch>
        </p:blipFill>
        <p:spPr>
          <a:xfrm>
            <a:off x="540327" y="152401"/>
            <a:ext cx="10861964" cy="6580908"/>
          </a:xfrm>
          <a:prstGeom prst="rect">
            <a:avLst/>
          </a:prstGeom>
        </p:spPr>
      </p:pic>
    </p:spTree>
    <p:extLst>
      <p:ext uri="{BB962C8B-B14F-4D97-AF65-F5344CB8AC3E}">
        <p14:creationId xmlns:p14="http://schemas.microsoft.com/office/powerpoint/2010/main" val="3725046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15BCDD-875E-41C4-A0D1-8411D6525455}"/>
              </a:ext>
            </a:extLst>
          </p:cNvPr>
          <p:cNvPicPr>
            <a:picLocks noChangeAspect="1"/>
          </p:cNvPicPr>
          <p:nvPr/>
        </p:nvPicPr>
        <p:blipFill>
          <a:blip r:embed="rId2"/>
          <a:stretch>
            <a:fillRect/>
          </a:stretch>
        </p:blipFill>
        <p:spPr>
          <a:xfrm>
            <a:off x="429491" y="207818"/>
            <a:ext cx="10986654" cy="6428509"/>
          </a:xfrm>
          <a:prstGeom prst="rect">
            <a:avLst/>
          </a:prstGeom>
        </p:spPr>
      </p:pic>
    </p:spTree>
    <p:extLst>
      <p:ext uri="{BB962C8B-B14F-4D97-AF65-F5344CB8AC3E}">
        <p14:creationId xmlns:p14="http://schemas.microsoft.com/office/powerpoint/2010/main" val="37281783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58B7799-31C9-4A3D-B13C-88415DF98A9B}"/>
              </a:ext>
            </a:extLst>
          </p:cNvPr>
          <p:cNvPicPr>
            <a:picLocks noChangeAspect="1"/>
          </p:cNvPicPr>
          <p:nvPr/>
        </p:nvPicPr>
        <p:blipFill>
          <a:blip r:embed="rId2"/>
          <a:stretch>
            <a:fillRect/>
          </a:stretch>
        </p:blipFill>
        <p:spPr>
          <a:xfrm>
            <a:off x="512618" y="471055"/>
            <a:ext cx="11069781" cy="6012871"/>
          </a:xfrm>
          <a:prstGeom prst="rect">
            <a:avLst/>
          </a:prstGeom>
        </p:spPr>
      </p:pic>
    </p:spTree>
    <p:extLst>
      <p:ext uri="{BB962C8B-B14F-4D97-AF65-F5344CB8AC3E}">
        <p14:creationId xmlns:p14="http://schemas.microsoft.com/office/powerpoint/2010/main" val="1751773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40C72D-8BAE-460D-A40D-D521D30F038A}"/>
              </a:ext>
            </a:extLst>
          </p:cNvPr>
          <p:cNvPicPr>
            <a:picLocks noChangeAspect="1"/>
          </p:cNvPicPr>
          <p:nvPr/>
        </p:nvPicPr>
        <p:blipFill>
          <a:blip r:embed="rId2"/>
          <a:stretch>
            <a:fillRect/>
          </a:stretch>
        </p:blipFill>
        <p:spPr>
          <a:xfrm>
            <a:off x="1108364" y="554182"/>
            <a:ext cx="10044545" cy="5638800"/>
          </a:xfrm>
          <a:prstGeom prst="rect">
            <a:avLst/>
          </a:prstGeom>
        </p:spPr>
      </p:pic>
    </p:spTree>
    <p:extLst>
      <p:ext uri="{BB962C8B-B14F-4D97-AF65-F5344CB8AC3E}">
        <p14:creationId xmlns:p14="http://schemas.microsoft.com/office/powerpoint/2010/main" val="1500724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3F536-D71C-41A4-B981-06C92E0DFD43}"/>
              </a:ext>
            </a:extLst>
          </p:cNvPr>
          <p:cNvSpPr>
            <a:spLocks noGrp="1"/>
          </p:cNvSpPr>
          <p:nvPr>
            <p:ph type="title"/>
          </p:nvPr>
        </p:nvSpPr>
        <p:spPr>
          <a:xfrm>
            <a:off x="1024128" y="585216"/>
            <a:ext cx="9720072" cy="1008057"/>
          </a:xfrm>
          <a:solidFill>
            <a:schemeClr val="accent1"/>
          </a:solidFill>
        </p:spPr>
        <p:txBody>
          <a:bodyPr/>
          <a:lstStyle/>
          <a:p>
            <a:r>
              <a:rPr lang="en-IN" dirty="0"/>
              <a:t>DIFFERENT AUDITS</a:t>
            </a:r>
          </a:p>
        </p:txBody>
      </p:sp>
      <p:pic>
        <p:nvPicPr>
          <p:cNvPr id="3" name="Picture 2">
            <a:extLst>
              <a:ext uri="{FF2B5EF4-FFF2-40B4-BE49-F238E27FC236}">
                <a16:creationId xmlns:a16="http://schemas.microsoft.com/office/drawing/2014/main" id="{E6EB3121-3E33-4F9D-8479-2EA36AE8916D}"/>
              </a:ext>
            </a:extLst>
          </p:cNvPr>
          <p:cNvPicPr>
            <a:picLocks noChangeAspect="1"/>
          </p:cNvPicPr>
          <p:nvPr/>
        </p:nvPicPr>
        <p:blipFill rotWithShape="1">
          <a:blip r:embed="rId2"/>
          <a:srcRect t="18166" b="7509"/>
          <a:stretch/>
        </p:blipFill>
        <p:spPr>
          <a:xfrm>
            <a:off x="855518" y="1884217"/>
            <a:ext cx="10312353" cy="4388567"/>
          </a:xfrm>
          <a:prstGeom prst="rect">
            <a:avLst/>
          </a:prstGeom>
        </p:spPr>
      </p:pic>
    </p:spTree>
    <p:extLst>
      <p:ext uri="{BB962C8B-B14F-4D97-AF65-F5344CB8AC3E}">
        <p14:creationId xmlns:p14="http://schemas.microsoft.com/office/powerpoint/2010/main" val="11798700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303E7-BB99-447E-A7C7-3913763CF471}"/>
              </a:ext>
            </a:extLst>
          </p:cNvPr>
          <p:cNvSpPr>
            <a:spLocks noGrp="1"/>
          </p:cNvSpPr>
          <p:nvPr>
            <p:ph type="title"/>
          </p:nvPr>
        </p:nvSpPr>
        <p:spPr>
          <a:xfrm>
            <a:off x="706581" y="585216"/>
            <a:ext cx="10037619" cy="1499616"/>
          </a:xfrm>
          <a:solidFill>
            <a:schemeClr val="accent2">
              <a:lumMod val="60000"/>
              <a:lumOff val="40000"/>
            </a:schemeClr>
          </a:solidFill>
        </p:spPr>
        <p:txBody>
          <a:bodyPr/>
          <a:lstStyle/>
          <a:p>
            <a:r>
              <a:rPr lang="en-IN" dirty="0"/>
              <a:t>TYPES OF CLINICAL AUDIT </a:t>
            </a:r>
          </a:p>
        </p:txBody>
      </p:sp>
      <p:pic>
        <p:nvPicPr>
          <p:cNvPr id="3" name="Picture 2">
            <a:extLst>
              <a:ext uri="{FF2B5EF4-FFF2-40B4-BE49-F238E27FC236}">
                <a16:creationId xmlns:a16="http://schemas.microsoft.com/office/drawing/2014/main" id="{0BBAB536-51E1-4C73-A0CF-72117F4F8F8D}"/>
              </a:ext>
            </a:extLst>
          </p:cNvPr>
          <p:cNvPicPr>
            <a:picLocks noChangeAspect="1"/>
          </p:cNvPicPr>
          <p:nvPr/>
        </p:nvPicPr>
        <p:blipFill rotWithShape="1">
          <a:blip r:embed="rId2"/>
          <a:srcRect t="20906" b="13062"/>
          <a:stretch/>
        </p:blipFill>
        <p:spPr>
          <a:xfrm>
            <a:off x="706581" y="2084832"/>
            <a:ext cx="10141527" cy="4187952"/>
          </a:xfrm>
          <a:prstGeom prst="rect">
            <a:avLst/>
          </a:prstGeom>
        </p:spPr>
      </p:pic>
    </p:spTree>
    <p:extLst>
      <p:ext uri="{BB962C8B-B14F-4D97-AF65-F5344CB8AC3E}">
        <p14:creationId xmlns:p14="http://schemas.microsoft.com/office/powerpoint/2010/main" val="1407589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B2481A-BB2B-419F-83A6-566D7C3283E3}"/>
              </a:ext>
            </a:extLst>
          </p:cNvPr>
          <p:cNvPicPr>
            <a:picLocks noChangeAspect="1"/>
          </p:cNvPicPr>
          <p:nvPr/>
        </p:nvPicPr>
        <p:blipFill>
          <a:blip r:embed="rId2"/>
          <a:stretch>
            <a:fillRect/>
          </a:stretch>
        </p:blipFill>
        <p:spPr>
          <a:xfrm>
            <a:off x="983673" y="484909"/>
            <a:ext cx="10266218" cy="5735781"/>
          </a:xfrm>
          <a:prstGeom prst="rect">
            <a:avLst/>
          </a:prstGeom>
        </p:spPr>
      </p:pic>
    </p:spTree>
    <p:extLst>
      <p:ext uri="{BB962C8B-B14F-4D97-AF65-F5344CB8AC3E}">
        <p14:creationId xmlns:p14="http://schemas.microsoft.com/office/powerpoint/2010/main" val="706647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DD0472-F072-494F-BCDF-6D1429A1854E}"/>
              </a:ext>
            </a:extLst>
          </p:cNvPr>
          <p:cNvPicPr>
            <a:picLocks noChangeAspect="1"/>
          </p:cNvPicPr>
          <p:nvPr/>
        </p:nvPicPr>
        <p:blipFill>
          <a:blip r:embed="rId2"/>
          <a:stretch>
            <a:fillRect/>
          </a:stretch>
        </p:blipFill>
        <p:spPr>
          <a:xfrm>
            <a:off x="665018" y="429492"/>
            <a:ext cx="10972800" cy="5860472"/>
          </a:xfrm>
          <a:prstGeom prst="rect">
            <a:avLst/>
          </a:prstGeom>
        </p:spPr>
      </p:pic>
    </p:spTree>
    <p:extLst>
      <p:ext uri="{BB962C8B-B14F-4D97-AF65-F5344CB8AC3E}">
        <p14:creationId xmlns:p14="http://schemas.microsoft.com/office/powerpoint/2010/main" val="2485783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5B30C12-A3A6-490A-A999-12329D32C906}"/>
              </a:ext>
            </a:extLst>
          </p:cNvPr>
          <p:cNvPicPr>
            <a:picLocks noChangeAspect="1"/>
          </p:cNvPicPr>
          <p:nvPr/>
        </p:nvPicPr>
        <p:blipFill>
          <a:blip r:embed="rId2"/>
          <a:stretch>
            <a:fillRect/>
          </a:stretch>
        </p:blipFill>
        <p:spPr>
          <a:xfrm>
            <a:off x="817418" y="360218"/>
            <a:ext cx="10806545" cy="6206837"/>
          </a:xfrm>
          <a:prstGeom prst="rect">
            <a:avLst/>
          </a:prstGeom>
        </p:spPr>
      </p:pic>
    </p:spTree>
    <p:extLst>
      <p:ext uri="{BB962C8B-B14F-4D97-AF65-F5344CB8AC3E}">
        <p14:creationId xmlns:p14="http://schemas.microsoft.com/office/powerpoint/2010/main" val="4074374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4856A-042A-4E9F-82FE-F7A370F20E5B}"/>
              </a:ext>
            </a:extLst>
          </p:cNvPr>
          <p:cNvSpPr>
            <a:spLocks noGrp="1"/>
          </p:cNvSpPr>
          <p:nvPr>
            <p:ph type="title"/>
          </p:nvPr>
        </p:nvSpPr>
        <p:spPr/>
        <p:txBody>
          <a:bodyPr/>
          <a:lstStyle/>
          <a:p>
            <a:r>
              <a:rPr lang="en-IN" dirty="0"/>
              <a:t>USES </a:t>
            </a:r>
          </a:p>
        </p:txBody>
      </p:sp>
      <p:sp>
        <p:nvSpPr>
          <p:cNvPr id="3" name="Content Placeholder 2">
            <a:extLst>
              <a:ext uri="{FF2B5EF4-FFF2-40B4-BE49-F238E27FC236}">
                <a16:creationId xmlns:a16="http://schemas.microsoft.com/office/drawing/2014/main" id="{7A9C7549-A0DC-4BB0-880F-0767C805E7BE}"/>
              </a:ext>
            </a:extLst>
          </p:cNvPr>
          <p:cNvSpPr>
            <a:spLocks noGrp="1"/>
          </p:cNvSpPr>
          <p:nvPr>
            <p:ph idx="1"/>
          </p:nvPr>
        </p:nvSpPr>
        <p:spPr>
          <a:xfrm>
            <a:off x="1024128" y="1953492"/>
            <a:ext cx="9720073" cy="3325090"/>
          </a:xfrm>
        </p:spPr>
        <p:style>
          <a:lnRef idx="1">
            <a:schemeClr val="accent2"/>
          </a:lnRef>
          <a:fillRef idx="2">
            <a:schemeClr val="accent2"/>
          </a:fillRef>
          <a:effectRef idx="1">
            <a:schemeClr val="accent2"/>
          </a:effectRef>
          <a:fontRef idx="minor">
            <a:schemeClr val="dk1"/>
          </a:fontRef>
        </p:style>
        <p:txBody>
          <a:bodyPr/>
          <a:lstStyle/>
          <a:p>
            <a:pPr marL="457200" indent="-457200">
              <a:buFont typeface="+mj-lt"/>
              <a:buAutoNum type="arabicPeriod"/>
            </a:pPr>
            <a:r>
              <a:rPr lang="en-IN" dirty="0">
                <a:latin typeface="Arial" panose="020B0604020202020204" pitchFamily="34" charset="0"/>
                <a:cs typeface="Arial" panose="020B0604020202020204" pitchFamily="34" charset="0"/>
              </a:rPr>
              <a:t>These data are increasingly being used in the formulation of health policies and Programs and in </a:t>
            </a:r>
            <a:r>
              <a:rPr lang="en-IN" dirty="0" err="1">
                <a:latin typeface="Arial" panose="020B0604020202020204" pitchFamily="34" charset="0"/>
                <a:cs typeface="Arial" panose="020B0604020202020204" pitchFamily="34" charset="0"/>
              </a:rPr>
              <a:t>th</a:t>
            </a:r>
            <a:r>
              <a:rPr lang="en-IN" dirty="0">
                <a:latin typeface="Arial" panose="020B0604020202020204" pitchFamily="34" charset="0"/>
                <a:cs typeface="Arial" panose="020B0604020202020204" pitchFamily="34" charset="0"/>
              </a:rPr>
              <a:t>(</a:t>
            </a:r>
            <a:r>
              <a:rPr lang="en-IN" dirty="0" err="1">
                <a:latin typeface="Arial" panose="020B0604020202020204" pitchFamily="34" charset="0"/>
                <a:cs typeface="Arial" panose="020B0604020202020204" pitchFamily="34" charset="0"/>
              </a:rPr>
              <a:t>eir</a:t>
            </a:r>
            <a:r>
              <a:rPr lang="en-IN" dirty="0">
                <a:latin typeface="Arial" panose="020B0604020202020204" pitchFamily="34" charset="0"/>
                <a:cs typeface="Arial" panose="020B0604020202020204" pitchFamily="34" charset="0"/>
              </a:rPr>
              <a:t> management , monitoring and evaluation.</a:t>
            </a:r>
          </a:p>
          <a:p>
            <a:pPr marL="457200" indent="-457200">
              <a:buFont typeface="+mj-lt"/>
              <a:buAutoNum type="arabicPeriod"/>
            </a:pPr>
            <a:r>
              <a:rPr lang="en-IN" dirty="0">
                <a:latin typeface="Arial" panose="020B0604020202020204" pitchFamily="34" charset="0"/>
                <a:cs typeface="Arial" panose="020B0604020202020204" pitchFamily="34" charset="0"/>
              </a:rPr>
              <a:t>In epidemiology in identification of risk population.</a:t>
            </a:r>
          </a:p>
          <a:p>
            <a:pPr marL="457200" indent="-457200">
              <a:buFont typeface="+mj-lt"/>
              <a:buAutoNum type="arabicPeriod"/>
            </a:pPr>
            <a:r>
              <a:rPr lang="en-IN" dirty="0">
                <a:latin typeface="Arial" panose="020B0604020202020204" pitchFamily="34" charset="0"/>
                <a:cs typeface="Arial" panose="020B0604020202020204" pitchFamily="34" charset="0"/>
              </a:rPr>
              <a:t>In clinical research( including studies of disease occurrence in different socio-economic groups )</a:t>
            </a:r>
          </a:p>
          <a:p>
            <a:endParaRPr lang="en-IN" dirty="0"/>
          </a:p>
        </p:txBody>
      </p:sp>
    </p:spTree>
    <p:extLst>
      <p:ext uri="{BB962C8B-B14F-4D97-AF65-F5344CB8AC3E}">
        <p14:creationId xmlns:p14="http://schemas.microsoft.com/office/powerpoint/2010/main" val="1518707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0308-D3FD-4C01-AC51-D7297CED02F0}"/>
              </a:ext>
            </a:extLst>
          </p:cNvPr>
          <p:cNvSpPr>
            <a:spLocks noGrp="1"/>
          </p:cNvSpPr>
          <p:nvPr>
            <p:ph type="title"/>
          </p:nvPr>
        </p:nvSpPr>
        <p:spPr/>
        <p:txBody>
          <a:bodyPr/>
          <a:lstStyle/>
          <a:p>
            <a:r>
              <a:rPr lang="en-IN" dirty="0"/>
              <a:t>What is morbidity audit ?</a:t>
            </a:r>
            <a:br>
              <a:rPr lang="en-IN" dirty="0"/>
            </a:br>
            <a:endParaRPr lang="en-IN" dirty="0"/>
          </a:p>
        </p:txBody>
      </p:sp>
      <p:sp>
        <p:nvSpPr>
          <p:cNvPr id="3" name="Content Placeholder 2">
            <a:extLst>
              <a:ext uri="{FF2B5EF4-FFF2-40B4-BE49-F238E27FC236}">
                <a16:creationId xmlns:a16="http://schemas.microsoft.com/office/drawing/2014/main" id="{B2A80EE8-5A5D-4180-A937-F4F203303E53}"/>
              </a:ext>
            </a:extLst>
          </p:cNvPr>
          <p:cNvSpPr>
            <a:spLocks noGrp="1"/>
          </p:cNvSpPr>
          <p:nvPr>
            <p:ph idx="1"/>
          </p:nvPr>
        </p:nvSpPr>
        <p:spPr>
          <a:xfrm>
            <a:off x="748145" y="1607127"/>
            <a:ext cx="9996055" cy="4835237"/>
          </a:xfrm>
        </p:spPr>
        <p:style>
          <a:lnRef idx="1">
            <a:schemeClr val="accent1"/>
          </a:lnRef>
          <a:fillRef idx="2">
            <a:schemeClr val="accent1"/>
          </a:fillRef>
          <a:effectRef idx="1">
            <a:schemeClr val="accent1"/>
          </a:effectRef>
          <a:fontRef idx="minor">
            <a:schemeClr val="dk1"/>
          </a:fontRef>
        </p:style>
        <p:txBody>
          <a:bodyPr/>
          <a:lstStyle/>
          <a:p>
            <a:r>
              <a:rPr lang="en-IN" dirty="0">
                <a:latin typeface="Arial" panose="020B0604020202020204" pitchFamily="34" charset="0"/>
                <a:cs typeface="Arial" panose="020B0604020202020204" pitchFamily="34" charset="0"/>
              </a:rPr>
              <a:t>The main condition is defined as the condition, diagnosed at the end of the episode of health care, primarily  responsible for the patient’s need for the treatment or investigation.</a:t>
            </a:r>
          </a:p>
          <a:p>
            <a:r>
              <a:rPr lang="en-IN" dirty="0">
                <a:latin typeface="Arial" panose="020B0604020202020204" pitchFamily="34" charset="0"/>
                <a:cs typeface="Arial" panose="020B0604020202020204" pitchFamily="34" charset="0"/>
              </a:rPr>
              <a:t>If there is more than one such condition, the one held most responsible for the greatest use of resources should be selected.</a:t>
            </a:r>
          </a:p>
          <a:p>
            <a:r>
              <a:rPr lang="en-IN" dirty="0">
                <a:latin typeface="Arial" panose="020B0604020202020204" pitchFamily="34" charset="0"/>
                <a:cs typeface="Arial" panose="020B0604020202020204" pitchFamily="34" charset="0"/>
              </a:rPr>
              <a:t>If no diagnosis was made, the main symptom, abnormal finding or problem should be selected as the main condition.</a:t>
            </a:r>
          </a:p>
          <a:p>
            <a:r>
              <a:rPr lang="en-IN" dirty="0">
                <a:latin typeface="Arial" panose="020B0604020202020204" pitchFamily="34" charset="0"/>
                <a:cs typeface="Arial" panose="020B0604020202020204" pitchFamily="34" charset="0"/>
              </a:rPr>
              <a:t>The other conditions are defined as those conditions that coexist or develop during the episode of health care and affect the management of the patient. Conditions related to an earlier episode that have no bearing on the current episode should not be recorded.</a:t>
            </a:r>
          </a:p>
          <a:p>
            <a:r>
              <a:rPr lang="en-IN" dirty="0"/>
              <a:t>w</a:t>
            </a:r>
          </a:p>
        </p:txBody>
      </p:sp>
    </p:spTree>
    <p:extLst>
      <p:ext uri="{BB962C8B-B14F-4D97-AF65-F5344CB8AC3E}">
        <p14:creationId xmlns:p14="http://schemas.microsoft.com/office/powerpoint/2010/main" val="3541430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833CB2-4889-443A-B187-268DEABF07BE}"/>
              </a:ext>
            </a:extLst>
          </p:cNvPr>
          <p:cNvSpPr>
            <a:spLocks noGrp="1"/>
          </p:cNvSpPr>
          <p:nvPr>
            <p:ph idx="1"/>
          </p:nvPr>
        </p:nvSpPr>
        <p:spPr>
          <a:xfrm>
            <a:off x="886692" y="1108364"/>
            <a:ext cx="10002981" cy="4849091"/>
          </a:xfrm>
        </p:spPr>
        <p:style>
          <a:lnRef idx="1">
            <a:schemeClr val="accent2"/>
          </a:lnRef>
          <a:fillRef idx="2">
            <a:schemeClr val="accent2"/>
          </a:fillRef>
          <a:effectRef idx="1">
            <a:schemeClr val="accent2"/>
          </a:effectRef>
          <a:fontRef idx="minor">
            <a:schemeClr val="dk1"/>
          </a:fontRef>
        </p:style>
        <p:txBody>
          <a:bodyPr>
            <a:normAutofit/>
          </a:bodyPr>
          <a:lstStyle/>
          <a:p>
            <a:r>
              <a:rPr lang="en-IN" sz="2000" dirty="0">
                <a:highlight>
                  <a:srgbClr val="FFFF00"/>
                </a:highlight>
                <a:latin typeface="Arial" panose="020B0604020202020204" pitchFamily="34" charset="0"/>
                <a:cs typeface="Arial" panose="020B0604020202020204" pitchFamily="34" charset="0"/>
              </a:rPr>
              <a:t>Guidelines on recording the diagnostic information for single condition analysis of morbidity data : </a:t>
            </a:r>
          </a:p>
          <a:p>
            <a:r>
              <a:rPr lang="en-IN" sz="2000" dirty="0">
                <a:latin typeface="Arial" panose="020B0604020202020204" pitchFamily="34" charset="0"/>
                <a:cs typeface="Arial" panose="020B0604020202020204" pitchFamily="34" charset="0"/>
              </a:rPr>
              <a:t>The health care provider responsible for the patient’s treatment should select the main condition to be recorded , as well as any other condition, for each episode of health care.</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This information should be organised systematically by using standard recording methods </a:t>
            </a:r>
          </a:p>
          <a:p>
            <a:endParaRPr lang="en-IN" sz="2000" dirty="0">
              <a:latin typeface="Arial" panose="020B0604020202020204" pitchFamily="34" charset="0"/>
              <a:cs typeface="Arial" panose="020B0604020202020204" pitchFamily="34" charset="0"/>
            </a:endParaRPr>
          </a:p>
          <a:p>
            <a:r>
              <a:rPr lang="en-IN" sz="2000" dirty="0">
                <a:latin typeface="Arial" panose="020B0604020202020204" pitchFamily="34" charset="0"/>
                <a:cs typeface="Arial" panose="020B0604020202020204" pitchFamily="34" charset="0"/>
              </a:rPr>
              <a:t>A properly complete record is essential for good patient management and is valuable source of epidemiological and other statistical data on morbidity and other health care problems.</a:t>
            </a:r>
          </a:p>
        </p:txBody>
      </p:sp>
    </p:spTree>
    <p:extLst>
      <p:ext uri="{BB962C8B-B14F-4D97-AF65-F5344CB8AC3E}">
        <p14:creationId xmlns:p14="http://schemas.microsoft.com/office/powerpoint/2010/main" val="15284034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9A1D6B-56C5-4934-8824-EF70DE471D51}"/>
              </a:ext>
            </a:extLst>
          </p:cNvPr>
          <p:cNvPicPr>
            <a:picLocks noChangeAspect="1"/>
          </p:cNvPicPr>
          <p:nvPr/>
        </p:nvPicPr>
        <p:blipFill>
          <a:blip r:embed="rId2"/>
          <a:stretch>
            <a:fillRect/>
          </a:stretch>
        </p:blipFill>
        <p:spPr>
          <a:xfrm>
            <a:off x="1163782" y="318655"/>
            <a:ext cx="10543309" cy="6012871"/>
          </a:xfrm>
          <a:prstGeom prst="rect">
            <a:avLst/>
          </a:prstGeom>
        </p:spPr>
      </p:pic>
    </p:spTree>
    <p:extLst>
      <p:ext uri="{BB962C8B-B14F-4D97-AF65-F5344CB8AC3E}">
        <p14:creationId xmlns:p14="http://schemas.microsoft.com/office/powerpoint/2010/main" val="4103166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5D3BC1-9A93-4DBB-AD90-41D43899058D}"/>
              </a:ext>
            </a:extLst>
          </p:cNvPr>
          <p:cNvPicPr>
            <a:picLocks noChangeAspect="1"/>
          </p:cNvPicPr>
          <p:nvPr/>
        </p:nvPicPr>
        <p:blipFill>
          <a:blip r:embed="rId2"/>
          <a:stretch>
            <a:fillRect/>
          </a:stretch>
        </p:blipFill>
        <p:spPr>
          <a:xfrm>
            <a:off x="1108364" y="457200"/>
            <a:ext cx="10432472" cy="5902036"/>
          </a:xfrm>
          <a:prstGeom prst="rect">
            <a:avLst/>
          </a:prstGeom>
        </p:spPr>
      </p:pic>
    </p:spTree>
    <p:extLst>
      <p:ext uri="{BB962C8B-B14F-4D97-AF65-F5344CB8AC3E}">
        <p14:creationId xmlns:p14="http://schemas.microsoft.com/office/powerpoint/2010/main" val="2749598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79B1D8E-E348-465C-9C5E-DA2C3C844F9E}"/>
              </a:ext>
            </a:extLst>
          </p:cNvPr>
          <p:cNvPicPr>
            <a:picLocks noChangeAspect="1"/>
          </p:cNvPicPr>
          <p:nvPr/>
        </p:nvPicPr>
        <p:blipFill>
          <a:blip r:embed="rId2"/>
          <a:stretch>
            <a:fillRect/>
          </a:stretch>
        </p:blipFill>
        <p:spPr>
          <a:xfrm>
            <a:off x="554182" y="484910"/>
            <a:ext cx="11083636" cy="5971308"/>
          </a:xfrm>
          <a:prstGeom prst="rect">
            <a:avLst/>
          </a:prstGeom>
        </p:spPr>
      </p:pic>
    </p:spTree>
    <p:extLst>
      <p:ext uri="{BB962C8B-B14F-4D97-AF65-F5344CB8AC3E}">
        <p14:creationId xmlns:p14="http://schemas.microsoft.com/office/powerpoint/2010/main" val="25169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ECF46DF-AD3D-40CA-907C-FEB5D65AB478}"/>
              </a:ext>
            </a:extLst>
          </p:cNvPr>
          <p:cNvPicPr>
            <a:picLocks noChangeAspect="1"/>
          </p:cNvPicPr>
          <p:nvPr/>
        </p:nvPicPr>
        <p:blipFill>
          <a:blip r:embed="rId2"/>
          <a:stretch>
            <a:fillRect/>
          </a:stretch>
        </p:blipFill>
        <p:spPr>
          <a:xfrm>
            <a:off x="706582" y="540328"/>
            <a:ext cx="10626436" cy="5957454"/>
          </a:xfrm>
          <a:prstGeom prst="rect">
            <a:avLst/>
          </a:prstGeom>
        </p:spPr>
      </p:pic>
    </p:spTree>
    <p:extLst>
      <p:ext uri="{BB962C8B-B14F-4D97-AF65-F5344CB8AC3E}">
        <p14:creationId xmlns:p14="http://schemas.microsoft.com/office/powerpoint/2010/main" val="40164560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1AFB2FF-27AF-4C6D-8A22-6ADFA9FE5DDF}"/>
              </a:ext>
            </a:extLst>
          </p:cNvPr>
          <p:cNvPicPr>
            <a:picLocks noChangeAspect="1"/>
          </p:cNvPicPr>
          <p:nvPr/>
        </p:nvPicPr>
        <p:blipFill>
          <a:blip r:embed="rId2"/>
          <a:stretch>
            <a:fillRect/>
          </a:stretch>
        </p:blipFill>
        <p:spPr>
          <a:xfrm>
            <a:off x="609600" y="443346"/>
            <a:ext cx="11000509" cy="5652654"/>
          </a:xfrm>
          <a:prstGeom prst="rect">
            <a:avLst/>
          </a:prstGeom>
        </p:spPr>
      </p:pic>
    </p:spTree>
    <p:extLst>
      <p:ext uri="{BB962C8B-B14F-4D97-AF65-F5344CB8AC3E}">
        <p14:creationId xmlns:p14="http://schemas.microsoft.com/office/powerpoint/2010/main" val="18784243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5FEB0C3-F7FD-4A9D-8BBF-4C375BA4DECC}"/>
              </a:ext>
            </a:extLst>
          </p:cNvPr>
          <p:cNvPicPr>
            <a:picLocks noChangeAspect="1"/>
          </p:cNvPicPr>
          <p:nvPr/>
        </p:nvPicPr>
        <p:blipFill>
          <a:blip r:embed="rId2"/>
          <a:stretch>
            <a:fillRect/>
          </a:stretch>
        </p:blipFill>
        <p:spPr>
          <a:xfrm>
            <a:off x="540327" y="401782"/>
            <a:ext cx="11014364" cy="5929745"/>
          </a:xfrm>
          <a:prstGeom prst="rect">
            <a:avLst/>
          </a:prstGeom>
        </p:spPr>
      </p:pic>
    </p:spTree>
    <p:extLst>
      <p:ext uri="{BB962C8B-B14F-4D97-AF65-F5344CB8AC3E}">
        <p14:creationId xmlns:p14="http://schemas.microsoft.com/office/powerpoint/2010/main" val="23850150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7022F8-06C7-4385-A963-E7665C710F01}"/>
              </a:ext>
            </a:extLst>
          </p:cNvPr>
          <p:cNvSpPr>
            <a:spLocks noGrp="1"/>
          </p:cNvSpPr>
          <p:nvPr>
            <p:ph type="title"/>
          </p:nvPr>
        </p:nvSpPr>
        <p:spPr/>
        <p:txBody>
          <a:bodyPr/>
          <a:lstStyle/>
          <a:p>
            <a:r>
              <a:rPr lang="en-IN" dirty="0"/>
              <a:t>METHODS OF MEDICAL AUDITING </a:t>
            </a:r>
          </a:p>
        </p:txBody>
      </p:sp>
      <p:sp>
        <p:nvSpPr>
          <p:cNvPr id="3" name="Content Placeholder 2">
            <a:extLst>
              <a:ext uri="{FF2B5EF4-FFF2-40B4-BE49-F238E27FC236}">
                <a16:creationId xmlns:a16="http://schemas.microsoft.com/office/drawing/2014/main" id="{B127E3F7-7598-40EC-9456-0E840A2B0685}"/>
              </a:ext>
            </a:extLst>
          </p:cNvPr>
          <p:cNvSpPr>
            <a:spLocks noGrp="1"/>
          </p:cNvSpPr>
          <p:nvPr>
            <p:ph idx="1"/>
          </p:nvPr>
        </p:nvSpPr>
        <p:spPr/>
        <p:txBody>
          <a:bodyPr/>
          <a:lstStyle/>
          <a:p>
            <a:r>
              <a:rPr lang="en-IN" dirty="0"/>
              <a:t>There are two phases of medical auditing .</a:t>
            </a:r>
          </a:p>
          <a:p>
            <a:r>
              <a:rPr lang="en-IN" dirty="0"/>
              <a:t>First phase includes the quantitative aspects by way of providing adequate records of performance as a basis of analysis .</a:t>
            </a:r>
          </a:p>
          <a:p>
            <a:r>
              <a:rPr lang="en-IN" dirty="0"/>
              <a:t>The second phase of medical audit is the qualitative aspects ,that is actual analysis of recorded data in the clinical records, the filled reports pertaining to the professional work of the hospital and other related information .</a:t>
            </a:r>
          </a:p>
          <a:p>
            <a:r>
              <a:rPr lang="en-IN" dirty="0"/>
              <a:t>The auditing of quantitative and qualitative analysis can be performed by two ways : </a:t>
            </a:r>
          </a:p>
          <a:p>
            <a:r>
              <a:rPr lang="en-IN" dirty="0"/>
              <a:t>1.INTERNAL </a:t>
            </a:r>
          </a:p>
          <a:p>
            <a:r>
              <a:rPr lang="en-IN" dirty="0"/>
              <a:t>2.EXTERNAL  </a:t>
            </a:r>
          </a:p>
        </p:txBody>
      </p:sp>
    </p:spTree>
    <p:extLst>
      <p:ext uri="{BB962C8B-B14F-4D97-AF65-F5344CB8AC3E}">
        <p14:creationId xmlns:p14="http://schemas.microsoft.com/office/powerpoint/2010/main" val="17704064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8ACA2-3F03-403C-B051-6A0E8D8CA1B1}"/>
              </a:ext>
            </a:extLst>
          </p:cNvPr>
          <p:cNvSpPr>
            <a:spLocks noGrp="1"/>
          </p:cNvSpPr>
          <p:nvPr>
            <p:ph type="title"/>
          </p:nvPr>
        </p:nvSpPr>
        <p:spPr>
          <a:xfrm>
            <a:off x="803564" y="585216"/>
            <a:ext cx="9940636" cy="1243582"/>
          </a:xfrm>
          <a:solidFill>
            <a:schemeClr val="accent2"/>
          </a:solidFill>
        </p:spPr>
        <p:txBody>
          <a:bodyPr/>
          <a:lstStyle/>
          <a:p>
            <a:r>
              <a:rPr lang="en-IN" dirty="0"/>
              <a:t>METHODS OF MEDICAL AUDIT </a:t>
            </a:r>
          </a:p>
        </p:txBody>
      </p:sp>
      <p:pic>
        <p:nvPicPr>
          <p:cNvPr id="5" name="Picture 4">
            <a:extLst>
              <a:ext uri="{FF2B5EF4-FFF2-40B4-BE49-F238E27FC236}">
                <a16:creationId xmlns:a16="http://schemas.microsoft.com/office/drawing/2014/main" id="{203938C1-5918-41FC-97DE-5388A44FF764}"/>
              </a:ext>
            </a:extLst>
          </p:cNvPr>
          <p:cNvPicPr>
            <a:picLocks noChangeAspect="1"/>
          </p:cNvPicPr>
          <p:nvPr/>
        </p:nvPicPr>
        <p:blipFill rotWithShape="1">
          <a:blip r:embed="rId2"/>
          <a:srcRect l="6643" t="16833" r="7243" b="9907"/>
          <a:stretch/>
        </p:blipFill>
        <p:spPr>
          <a:xfrm>
            <a:off x="803564" y="1828798"/>
            <a:ext cx="9940636" cy="4443985"/>
          </a:xfrm>
          <a:prstGeom prst="rect">
            <a:avLst/>
          </a:prstGeom>
        </p:spPr>
      </p:pic>
    </p:spTree>
    <p:extLst>
      <p:ext uri="{BB962C8B-B14F-4D97-AF65-F5344CB8AC3E}">
        <p14:creationId xmlns:p14="http://schemas.microsoft.com/office/powerpoint/2010/main" val="33118538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B649A-F18F-4436-9928-CD82475E4021}"/>
              </a:ext>
            </a:extLst>
          </p:cNvPr>
          <p:cNvSpPr>
            <a:spLocks noGrp="1"/>
          </p:cNvSpPr>
          <p:nvPr>
            <p:ph type="title"/>
          </p:nvPr>
        </p:nvSpPr>
        <p:spPr>
          <a:xfrm>
            <a:off x="374073" y="263236"/>
            <a:ext cx="10370127" cy="1011382"/>
          </a:xfrm>
          <a:solidFill>
            <a:schemeClr val="accent2">
              <a:lumMod val="40000"/>
              <a:lumOff val="60000"/>
            </a:schemeClr>
          </a:solidFill>
        </p:spPr>
        <p:txBody>
          <a:bodyPr>
            <a:normAutofit/>
          </a:bodyPr>
          <a:lstStyle/>
          <a:p>
            <a:r>
              <a:rPr lang="en-IN" dirty="0"/>
              <a:t>INTERNAL AUDIT </a:t>
            </a:r>
          </a:p>
        </p:txBody>
      </p:sp>
      <p:sp>
        <p:nvSpPr>
          <p:cNvPr id="3" name="Content Placeholder 2">
            <a:extLst>
              <a:ext uri="{FF2B5EF4-FFF2-40B4-BE49-F238E27FC236}">
                <a16:creationId xmlns:a16="http://schemas.microsoft.com/office/drawing/2014/main" id="{30048B7A-9D01-434D-B819-9A77EF25409B}"/>
              </a:ext>
            </a:extLst>
          </p:cNvPr>
          <p:cNvSpPr>
            <a:spLocks noGrp="1"/>
          </p:cNvSpPr>
          <p:nvPr>
            <p:ph idx="1"/>
          </p:nvPr>
        </p:nvSpPr>
        <p:spPr>
          <a:xfrm>
            <a:off x="374073" y="1274618"/>
            <a:ext cx="11443853" cy="5583382"/>
          </a:xfrm>
        </p:spPr>
        <p:txBody>
          <a:bodyPr>
            <a:normAutofit/>
          </a:bodyPr>
          <a:lstStyle/>
          <a:p>
            <a:pPr>
              <a:buFont typeface="Arial" panose="020B0604020202020204" pitchFamily="34" charset="0"/>
              <a:buChar char="•"/>
            </a:pPr>
            <a:r>
              <a:rPr lang="en-IN" dirty="0"/>
              <a:t>The </a:t>
            </a:r>
            <a:r>
              <a:rPr lang="en-IN" dirty="0" err="1"/>
              <a:t>qualititative</a:t>
            </a:r>
            <a:r>
              <a:rPr lang="en-IN" dirty="0"/>
              <a:t> aspects of medical auditing can be done by the staff of medical records department.</a:t>
            </a:r>
          </a:p>
          <a:p>
            <a:pPr>
              <a:buFont typeface="Arial" panose="020B0604020202020204" pitchFamily="34" charset="0"/>
              <a:buChar char="•"/>
            </a:pPr>
            <a:r>
              <a:rPr lang="en-IN" dirty="0"/>
              <a:t>All the records of patients discharged can be collected daily and arranged in a standard chronological order, then the deficiencies of each discharged record is listed in the deficiency slip.</a:t>
            </a:r>
          </a:p>
          <a:p>
            <a:pPr>
              <a:buFont typeface="Arial" panose="020B0604020202020204" pitchFamily="34" charset="0"/>
              <a:buChar char="•"/>
            </a:pPr>
            <a:r>
              <a:rPr lang="en-IN" dirty="0"/>
              <a:t>This is to enable the doctors to complete during the weekly doctor’s </a:t>
            </a:r>
            <a:r>
              <a:rPr lang="en-IN" dirty="0" err="1"/>
              <a:t>confertence</a:t>
            </a:r>
            <a:r>
              <a:rPr lang="en-IN" dirty="0"/>
              <a:t> / </a:t>
            </a:r>
            <a:r>
              <a:rPr lang="en-IN" dirty="0" err="1"/>
              <a:t>mrd</a:t>
            </a:r>
            <a:r>
              <a:rPr lang="en-IN" dirty="0"/>
              <a:t> room.</a:t>
            </a:r>
          </a:p>
          <a:p>
            <a:pPr>
              <a:buFont typeface="Arial" panose="020B0604020202020204" pitchFamily="34" charset="0"/>
              <a:buChar char="•"/>
            </a:pPr>
            <a:r>
              <a:rPr lang="en-IN" dirty="0"/>
              <a:t>The </a:t>
            </a:r>
            <a:r>
              <a:rPr lang="en-IN" dirty="0" err="1"/>
              <a:t>qualititative</a:t>
            </a:r>
            <a:r>
              <a:rPr lang="en-IN" dirty="0"/>
              <a:t> aspects of medical auditing can be done only by medical personnel who are specialized in the field.</a:t>
            </a:r>
          </a:p>
          <a:p>
            <a:pPr>
              <a:buFont typeface="Arial" panose="020B0604020202020204" pitchFamily="34" charset="0"/>
              <a:buChar char="•"/>
            </a:pPr>
            <a:r>
              <a:rPr lang="en-IN" dirty="0"/>
              <a:t>To have a countercheck, the medical officers of other unit belonging to the same service can be asked to verify the papers of patient records and give their opinion , whether the treatment carried out was consistent with complaints, diagnosis of patient or not .</a:t>
            </a:r>
          </a:p>
          <a:p>
            <a:pPr>
              <a:buFont typeface="Arial" panose="020B0604020202020204" pitchFamily="34" charset="0"/>
              <a:buChar char="•"/>
            </a:pPr>
            <a:r>
              <a:rPr lang="en-IN" dirty="0"/>
              <a:t>If they differ, they submit their remarks to the treating doctor.</a:t>
            </a:r>
          </a:p>
          <a:p>
            <a:pPr>
              <a:buFont typeface="Arial" panose="020B0604020202020204" pitchFamily="34" charset="0"/>
              <a:buChar char="•"/>
            </a:pPr>
            <a:r>
              <a:rPr lang="en-IN" dirty="0"/>
              <a:t>Periodical counter checking of different units of same service is possible only when the heads of various units agree to co-operate in achieving the object of rendering best possible available medical care to patient </a:t>
            </a:r>
          </a:p>
          <a:p>
            <a:endParaRPr lang="en-IN" dirty="0"/>
          </a:p>
        </p:txBody>
      </p:sp>
    </p:spTree>
    <p:extLst>
      <p:ext uri="{BB962C8B-B14F-4D97-AF65-F5344CB8AC3E}">
        <p14:creationId xmlns:p14="http://schemas.microsoft.com/office/powerpoint/2010/main" val="118888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0C365-E852-4CBA-AB97-28060B3741F7}"/>
              </a:ext>
            </a:extLst>
          </p:cNvPr>
          <p:cNvSpPr>
            <a:spLocks noGrp="1"/>
          </p:cNvSpPr>
          <p:nvPr>
            <p:ph type="title"/>
          </p:nvPr>
        </p:nvSpPr>
        <p:spPr>
          <a:xfrm>
            <a:off x="748145" y="585216"/>
            <a:ext cx="9996055" cy="897220"/>
          </a:xfrm>
          <a:solidFill>
            <a:schemeClr val="accent2"/>
          </a:solidFill>
        </p:spPr>
        <p:txBody>
          <a:bodyPr/>
          <a:lstStyle/>
          <a:p>
            <a:r>
              <a:rPr lang="en-IN" dirty="0"/>
              <a:t>External audit </a:t>
            </a:r>
          </a:p>
        </p:txBody>
      </p:sp>
      <p:sp>
        <p:nvSpPr>
          <p:cNvPr id="3" name="Content Placeholder 2">
            <a:extLst>
              <a:ext uri="{FF2B5EF4-FFF2-40B4-BE49-F238E27FC236}">
                <a16:creationId xmlns:a16="http://schemas.microsoft.com/office/drawing/2014/main" id="{37AE6A96-E512-4FE8-961D-C3470EF56C0F}"/>
              </a:ext>
            </a:extLst>
          </p:cNvPr>
          <p:cNvSpPr>
            <a:spLocks noGrp="1"/>
          </p:cNvSpPr>
          <p:nvPr>
            <p:ph idx="1"/>
          </p:nvPr>
        </p:nvSpPr>
        <p:spPr>
          <a:xfrm>
            <a:off x="748145" y="1593273"/>
            <a:ext cx="10820399" cy="4716087"/>
          </a:xfrm>
        </p:spPr>
        <p:txBody>
          <a:bodyPr>
            <a:normAutofit/>
          </a:bodyPr>
          <a:lstStyle/>
          <a:p>
            <a:r>
              <a:rPr lang="en-IN" dirty="0"/>
              <a:t>External audit denotes , the work of treating doctor and is done by the members other than the treating team of doctors.</a:t>
            </a:r>
          </a:p>
          <a:p>
            <a:r>
              <a:rPr lang="en-IN" dirty="0"/>
              <a:t>The following are some of the ways for conducting external audit .</a:t>
            </a:r>
          </a:p>
          <a:p>
            <a:r>
              <a:rPr lang="en-IN" dirty="0"/>
              <a:t>1. Hospital administrator with the assistance of few selected clinicians can undertake the medical audit work by conducting monthly medical statistical meeting in the 1</a:t>
            </a:r>
            <a:r>
              <a:rPr lang="en-IN" baseline="30000" dirty="0"/>
              <a:t>st</a:t>
            </a:r>
            <a:r>
              <a:rPr lang="en-IN" dirty="0"/>
              <a:t> or 2</a:t>
            </a:r>
            <a:r>
              <a:rPr lang="en-IN" baseline="30000" dirty="0"/>
              <a:t>nd</a:t>
            </a:r>
            <a:r>
              <a:rPr lang="en-IN" dirty="0"/>
              <a:t> week to discuss the hospital statistics for the previous month, this random check every month by the administration and clinician can keep a check on clinician’s work.</a:t>
            </a:r>
          </a:p>
          <a:p>
            <a:r>
              <a:rPr lang="en-IN" dirty="0"/>
              <a:t>2.Medical audit committee can be formed in each hospital with five to ten physicians/surgeons of good judgement, frank, fearless and without prejudices, well skilled </a:t>
            </a:r>
          </a:p>
          <a:p>
            <a:r>
              <a:rPr lang="en-IN" dirty="0"/>
              <a:t>3. The Director of medical and Health Services can select few specialized physicians/surgeons for the purpose, they can make periodical visits to the hospital to examine the professional work and make confidential report to medical superintendent </a:t>
            </a:r>
          </a:p>
        </p:txBody>
      </p:sp>
    </p:spTree>
    <p:extLst>
      <p:ext uri="{BB962C8B-B14F-4D97-AF65-F5344CB8AC3E}">
        <p14:creationId xmlns:p14="http://schemas.microsoft.com/office/powerpoint/2010/main" val="234534796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4CB0B-5B3F-49CC-973B-110DBB5D9FA0}"/>
              </a:ext>
            </a:extLst>
          </p:cNvPr>
          <p:cNvSpPr>
            <a:spLocks noGrp="1"/>
          </p:cNvSpPr>
          <p:nvPr>
            <p:ph type="title"/>
          </p:nvPr>
        </p:nvSpPr>
        <p:spPr>
          <a:xfrm>
            <a:off x="1024128" y="585216"/>
            <a:ext cx="9720072" cy="1299002"/>
          </a:xfrm>
          <a:solidFill>
            <a:schemeClr val="accent2">
              <a:lumMod val="60000"/>
              <a:lumOff val="40000"/>
            </a:schemeClr>
          </a:solidFill>
        </p:spPr>
        <p:txBody>
          <a:bodyPr/>
          <a:lstStyle/>
          <a:p>
            <a:r>
              <a:rPr lang="en-IN" dirty="0"/>
              <a:t>DIFFERENT METHODS USED IN AUDIT </a:t>
            </a:r>
          </a:p>
        </p:txBody>
      </p:sp>
      <p:pic>
        <p:nvPicPr>
          <p:cNvPr id="3" name="Picture 2">
            <a:extLst>
              <a:ext uri="{FF2B5EF4-FFF2-40B4-BE49-F238E27FC236}">
                <a16:creationId xmlns:a16="http://schemas.microsoft.com/office/drawing/2014/main" id="{8D914DB3-6C55-4E57-96D0-12D87CB3ACB7}"/>
              </a:ext>
            </a:extLst>
          </p:cNvPr>
          <p:cNvPicPr>
            <a:picLocks noChangeAspect="1"/>
          </p:cNvPicPr>
          <p:nvPr/>
        </p:nvPicPr>
        <p:blipFill rotWithShape="1">
          <a:blip r:embed="rId2"/>
          <a:srcRect t="29815" b="23704"/>
          <a:stretch/>
        </p:blipFill>
        <p:spPr>
          <a:xfrm>
            <a:off x="1024129" y="2033327"/>
            <a:ext cx="9720072" cy="3979545"/>
          </a:xfrm>
          <a:prstGeom prst="rect">
            <a:avLst/>
          </a:prstGeom>
        </p:spPr>
      </p:pic>
    </p:spTree>
    <p:extLst>
      <p:ext uri="{BB962C8B-B14F-4D97-AF65-F5344CB8AC3E}">
        <p14:creationId xmlns:p14="http://schemas.microsoft.com/office/powerpoint/2010/main" val="38490241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AAB7FE5-D322-4361-929B-845A3BFBF101}"/>
              </a:ext>
            </a:extLst>
          </p:cNvPr>
          <p:cNvSpPr>
            <a:spLocks noGrp="1"/>
          </p:cNvSpPr>
          <p:nvPr>
            <p:ph type="title"/>
          </p:nvPr>
        </p:nvSpPr>
        <p:spPr>
          <a:xfrm>
            <a:off x="1024128" y="585216"/>
            <a:ext cx="9720072" cy="1091184"/>
          </a:xfrm>
          <a:solidFill>
            <a:schemeClr val="accent2"/>
          </a:solidFill>
          <a:ln>
            <a:solidFill>
              <a:schemeClr val="accent1"/>
            </a:solidFill>
          </a:ln>
        </p:spPr>
        <p:txBody>
          <a:bodyPr/>
          <a:lstStyle/>
          <a:p>
            <a:r>
              <a:rPr lang="en-IN" dirty="0"/>
              <a:t>Commonly found deficiencies in audit </a:t>
            </a:r>
          </a:p>
        </p:txBody>
      </p:sp>
      <p:sp>
        <p:nvSpPr>
          <p:cNvPr id="4" name="Content Placeholder 3">
            <a:extLst>
              <a:ext uri="{FF2B5EF4-FFF2-40B4-BE49-F238E27FC236}">
                <a16:creationId xmlns:a16="http://schemas.microsoft.com/office/drawing/2014/main" id="{C9D693D7-1CD9-438B-9893-C9581F544F3F}"/>
              </a:ext>
            </a:extLst>
          </p:cNvPr>
          <p:cNvSpPr>
            <a:spLocks noGrp="1"/>
          </p:cNvSpPr>
          <p:nvPr>
            <p:ph idx="1"/>
          </p:nvPr>
        </p:nvSpPr>
        <p:spPr>
          <a:xfrm>
            <a:off x="1024128" y="1911927"/>
            <a:ext cx="9720073" cy="4752109"/>
          </a:xfrm>
        </p:spPr>
        <p:style>
          <a:lnRef idx="1">
            <a:schemeClr val="accent6"/>
          </a:lnRef>
          <a:fillRef idx="2">
            <a:schemeClr val="accent6"/>
          </a:fillRef>
          <a:effectRef idx="1">
            <a:schemeClr val="accent6"/>
          </a:effectRef>
          <a:fontRef idx="minor">
            <a:schemeClr val="dk1"/>
          </a:fontRef>
        </p:style>
        <p:txBody>
          <a:bodyPr>
            <a:normAutofit/>
          </a:bodyPr>
          <a:lstStyle/>
          <a:p>
            <a:r>
              <a:rPr lang="en-IN" dirty="0"/>
              <a:t>1.Diagnosis without complete description, improper terminology </a:t>
            </a:r>
          </a:p>
          <a:p>
            <a:r>
              <a:rPr lang="en-IN" dirty="0"/>
              <a:t>2. detailed diagnosis is written inside bit not on the face sheet </a:t>
            </a:r>
          </a:p>
          <a:p>
            <a:r>
              <a:rPr lang="en-IN" dirty="0"/>
              <a:t>3. Different final diagnosis recorded on the face sheet and discharge summary .</a:t>
            </a:r>
          </a:p>
          <a:p>
            <a:r>
              <a:rPr lang="en-IN" dirty="0"/>
              <a:t>4. Discharge notes are not written or incomplete on the press notes .Instead of writing ‘discharged only D’’ is written.</a:t>
            </a:r>
          </a:p>
          <a:p>
            <a:r>
              <a:rPr lang="en-IN" dirty="0"/>
              <a:t>5. No provisional diagnosis on the history and physical examination record .</a:t>
            </a:r>
          </a:p>
          <a:p>
            <a:r>
              <a:rPr lang="en-IN" dirty="0"/>
              <a:t>6. Commonly procedure/ operations not recorded on the face sheet.</a:t>
            </a:r>
          </a:p>
          <a:p>
            <a:r>
              <a:rPr lang="en-IN" dirty="0"/>
              <a:t>7. when provisional diagnosis and final diagnosis are same, it is documented as ‘same as above’’</a:t>
            </a:r>
          </a:p>
          <a:p>
            <a:r>
              <a:rPr lang="en-IN" dirty="0"/>
              <a:t>8. RESULT COLUMN IS OFTEN NOT COMPLETED </a:t>
            </a:r>
          </a:p>
          <a:p>
            <a:endParaRPr lang="en-IN" dirty="0"/>
          </a:p>
        </p:txBody>
      </p:sp>
    </p:spTree>
    <p:extLst>
      <p:ext uri="{BB962C8B-B14F-4D97-AF65-F5344CB8AC3E}">
        <p14:creationId xmlns:p14="http://schemas.microsoft.com/office/powerpoint/2010/main" val="23651067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C1A5E-81D3-4146-8C5F-98B1ACAD9D99}"/>
              </a:ext>
            </a:extLst>
          </p:cNvPr>
          <p:cNvSpPr>
            <a:spLocks noGrp="1"/>
          </p:cNvSpPr>
          <p:nvPr>
            <p:ph type="title"/>
          </p:nvPr>
        </p:nvSpPr>
        <p:spPr>
          <a:xfrm>
            <a:off x="1024128" y="585216"/>
            <a:ext cx="9720072" cy="1021911"/>
          </a:xfrm>
          <a:solidFill>
            <a:schemeClr val="accent2"/>
          </a:solidFill>
        </p:spPr>
        <p:txBody>
          <a:bodyPr/>
          <a:lstStyle/>
          <a:p>
            <a:r>
              <a:rPr lang="en-IN" dirty="0"/>
              <a:t>CONTINUE….</a:t>
            </a:r>
          </a:p>
        </p:txBody>
      </p:sp>
      <p:sp>
        <p:nvSpPr>
          <p:cNvPr id="3" name="Content Placeholder 2">
            <a:extLst>
              <a:ext uri="{FF2B5EF4-FFF2-40B4-BE49-F238E27FC236}">
                <a16:creationId xmlns:a16="http://schemas.microsoft.com/office/drawing/2014/main" id="{863EE903-4D3E-4172-81B5-0E36F978D360}"/>
              </a:ext>
            </a:extLst>
          </p:cNvPr>
          <p:cNvSpPr>
            <a:spLocks noGrp="1"/>
          </p:cNvSpPr>
          <p:nvPr>
            <p:ph idx="1"/>
          </p:nvPr>
        </p:nvSpPr>
        <p:spPr>
          <a:xfrm>
            <a:off x="1024128" y="2299855"/>
            <a:ext cx="9720073" cy="4023360"/>
          </a:xfrm>
          <a:ln/>
        </p:spPr>
        <p:style>
          <a:lnRef idx="1">
            <a:schemeClr val="accent6"/>
          </a:lnRef>
          <a:fillRef idx="2">
            <a:schemeClr val="accent6"/>
          </a:fillRef>
          <a:effectRef idx="1">
            <a:schemeClr val="accent6"/>
          </a:effectRef>
          <a:fontRef idx="minor">
            <a:schemeClr val="dk1"/>
          </a:fontRef>
        </p:style>
        <p:txBody>
          <a:bodyPr/>
          <a:lstStyle/>
          <a:p>
            <a:r>
              <a:rPr lang="en-IN" dirty="0"/>
              <a:t>9.In most of the records, signature of the </a:t>
            </a:r>
            <a:r>
              <a:rPr lang="en-IN" dirty="0" err="1"/>
              <a:t>haed</a:t>
            </a:r>
            <a:r>
              <a:rPr lang="en-IN" dirty="0"/>
              <a:t> of the service/unit not found .</a:t>
            </a:r>
          </a:p>
          <a:p>
            <a:r>
              <a:rPr lang="en-IN" dirty="0"/>
              <a:t>10. Description of the accident not written in RTA CASES , ex. Head on collision of cars etc.</a:t>
            </a:r>
          </a:p>
          <a:p>
            <a:r>
              <a:rPr lang="en-IN" dirty="0"/>
              <a:t>11. Usage of improper medical forms </a:t>
            </a:r>
          </a:p>
          <a:p>
            <a:r>
              <a:rPr lang="en-IN" dirty="0"/>
              <a:t>12. No mention whether mother is admitted for baby sake or baby is admitted for mother sake .</a:t>
            </a:r>
          </a:p>
          <a:p>
            <a:r>
              <a:rPr lang="en-IN" dirty="0"/>
              <a:t>13. DATE &amp; TIME OF EXAMINATION IS NOT WRITTEN . </a:t>
            </a:r>
          </a:p>
          <a:p>
            <a:endParaRPr lang="en-IN" dirty="0"/>
          </a:p>
        </p:txBody>
      </p:sp>
    </p:spTree>
    <p:extLst>
      <p:ext uri="{BB962C8B-B14F-4D97-AF65-F5344CB8AC3E}">
        <p14:creationId xmlns:p14="http://schemas.microsoft.com/office/powerpoint/2010/main" val="1262687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06B84-1857-4802-8221-A6F82E6A9789}"/>
              </a:ext>
            </a:extLst>
          </p:cNvPr>
          <p:cNvSpPr>
            <a:spLocks noGrp="1"/>
          </p:cNvSpPr>
          <p:nvPr>
            <p:ph type="title"/>
          </p:nvPr>
        </p:nvSpPr>
        <p:spPr>
          <a:xfrm>
            <a:off x="554182" y="585216"/>
            <a:ext cx="11277600" cy="814093"/>
          </a:xfrm>
          <a:solidFill>
            <a:srgbClr val="FFC000"/>
          </a:solidFill>
        </p:spPr>
        <p:txBody>
          <a:bodyPr/>
          <a:lstStyle/>
          <a:p>
            <a:r>
              <a:rPr lang="en-IN" dirty="0"/>
              <a:t>SOLUTION TO MINIMISE THE DEFICIENCIES </a:t>
            </a:r>
          </a:p>
        </p:txBody>
      </p:sp>
      <p:sp>
        <p:nvSpPr>
          <p:cNvPr id="3" name="Content Placeholder 2">
            <a:extLst>
              <a:ext uri="{FF2B5EF4-FFF2-40B4-BE49-F238E27FC236}">
                <a16:creationId xmlns:a16="http://schemas.microsoft.com/office/drawing/2014/main" id="{5D7876D5-9512-4C83-A8B3-70A103B46502}"/>
              </a:ext>
            </a:extLst>
          </p:cNvPr>
          <p:cNvSpPr>
            <a:spLocks noGrp="1"/>
          </p:cNvSpPr>
          <p:nvPr>
            <p:ph idx="1"/>
          </p:nvPr>
        </p:nvSpPr>
        <p:spPr>
          <a:xfrm>
            <a:off x="554182" y="1399309"/>
            <a:ext cx="11277600" cy="5223164"/>
          </a:xfrm>
          <a:solidFill>
            <a:schemeClr val="accent6">
              <a:lumMod val="20000"/>
              <a:lumOff val="80000"/>
            </a:schemeClr>
          </a:solidFill>
        </p:spPr>
        <p:txBody>
          <a:bodyPr>
            <a:normAutofit/>
          </a:bodyPr>
          <a:lstStyle/>
          <a:p>
            <a:r>
              <a:rPr lang="en-IN" dirty="0"/>
              <a:t>The hospital has to establish a good MRD on a par with international standards .</a:t>
            </a:r>
          </a:p>
          <a:p>
            <a:r>
              <a:rPr lang="en-IN" dirty="0"/>
              <a:t>The MRD should provide written policies, standards and procedures including guidelines on  completion of records, introduce basic standardise medical record forms with proper instructions regarding who, when, what to be recorded and disposal of forms.</a:t>
            </a:r>
          </a:p>
          <a:p>
            <a:r>
              <a:rPr lang="en-IN" dirty="0"/>
              <a:t>Regular orientation to be given all medical , nursing , paramedical staff on importance of administrative and legal problems</a:t>
            </a:r>
          </a:p>
          <a:p>
            <a:r>
              <a:rPr lang="en-IN" dirty="0"/>
              <a:t>In order to achieve the good record system, the following officials have to ensure that their responsibilities are fulfilled.</a:t>
            </a:r>
          </a:p>
          <a:p>
            <a:r>
              <a:rPr lang="en-IN" dirty="0"/>
              <a:t>1. </a:t>
            </a:r>
            <a:r>
              <a:rPr lang="en-IN" dirty="0">
                <a:solidFill>
                  <a:srgbClr val="FF0000"/>
                </a:solidFill>
              </a:rPr>
              <a:t>Responsibility of the Doctor </a:t>
            </a:r>
            <a:r>
              <a:rPr lang="en-IN" dirty="0"/>
              <a:t>:Major responsibility in maintaining complete records lie with the treating doctor. Therefore , timely and </a:t>
            </a:r>
            <a:r>
              <a:rPr lang="en-IN" dirty="0" err="1"/>
              <a:t>promt</a:t>
            </a:r>
            <a:r>
              <a:rPr lang="en-IN" dirty="0"/>
              <a:t> documentation of records immediately after attending the patient is very important.</a:t>
            </a:r>
          </a:p>
          <a:p>
            <a:r>
              <a:rPr lang="en-IN" dirty="0"/>
              <a:t>Senior doctors must supervise and continue verification of the patient health information documented by the junior doctors for its correctness and </a:t>
            </a:r>
            <a:r>
              <a:rPr lang="en-IN" dirty="0" err="1"/>
              <a:t>adequacy.The</a:t>
            </a:r>
            <a:r>
              <a:rPr lang="en-IN" dirty="0"/>
              <a:t> time spent completion of recording patient care rendered should be considered clinical and part of patient care .</a:t>
            </a:r>
          </a:p>
        </p:txBody>
      </p:sp>
    </p:spTree>
    <p:extLst>
      <p:ext uri="{BB962C8B-B14F-4D97-AF65-F5344CB8AC3E}">
        <p14:creationId xmlns:p14="http://schemas.microsoft.com/office/powerpoint/2010/main" val="1779119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9FA026-F2DE-4A37-8C90-5B96B20B1B7E}"/>
              </a:ext>
            </a:extLst>
          </p:cNvPr>
          <p:cNvSpPr>
            <a:spLocks noGrp="1"/>
          </p:cNvSpPr>
          <p:nvPr>
            <p:ph idx="1"/>
          </p:nvPr>
        </p:nvSpPr>
        <p:spPr>
          <a:xfrm>
            <a:off x="1024128" y="1551709"/>
            <a:ext cx="9720073" cy="4757651"/>
          </a:xfrm>
          <a:solidFill>
            <a:schemeClr val="accent6">
              <a:lumMod val="20000"/>
              <a:lumOff val="80000"/>
            </a:schemeClr>
          </a:solidFill>
        </p:spPr>
        <p:txBody>
          <a:bodyPr/>
          <a:lstStyle/>
          <a:p>
            <a:r>
              <a:rPr lang="en-IN" dirty="0">
                <a:solidFill>
                  <a:srgbClr val="FF0000"/>
                </a:solidFill>
              </a:rPr>
              <a:t>Responsibility of Nurse and Paramedical Staff </a:t>
            </a:r>
            <a:r>
              <a:rPr lang="en-IN" dirty="0"/>
              <a:t>: The Nursing and paramedical staff also have to ensure that all related records of their respective services should be completed promptly .</a:t>
            </a:r>
          </a:p>
          <a:p>
            <a:r>
              <a:rPr lang="en-IN" dirty="0">
                <a:solidFill>
                  <a:srgbClr val="FF0000"/>
                </a:solidFill>
              </a:rPr>
              <a:t>Responsibility of the Administrators </a:t>
            </a:r>
            <a:r>
              <a:rPr lang="en-IN" dirty="0"/>
              <a:t>:Provide proper facilities including transcription service for the MRD so that medical and other staff can visit and complete the records promptly and regularly . Institute some rewards for prompt completion and penalties for delayed completion that will help in getting the records completed . </a:t>
            </a:r>
          </a:p>
          <a:p>
            <a:r>
              <a:rPr lang="en-IN" dirty="0"/>
              <a:t>Responsibility of Medical Record Officer :The MRO has to develop the following clear cut written policies, standards and procedures regarding completion of records.</a:t>
            </a:r>
          </a:p>
          <a:p>
            <a:pPr marL="457200" indent="-457200">
              <a:buFont typeface="+mj-lt"/>
              <a:buAutoNum type="arabicPeriod"/>
            </a:pPr>
            <a:r>
              <a:rPr lang="en-IN" dirty="0"/>
              <a:t>Design and develop standard basic medical record forms.</a:t>
            </a:r>
          </a:p>
          <a:p>
            <a:pPr marL="457200" indent="-457200">
              <a:buFont typeface="+mj-lt"/>
              <a:buAutoNum type="arabicPeriod"/>
            </a:pPr>
            <a:r>
              <a:rPr lang="en-IN" dirty="0"/>
              <a:t>Effective </a:t>
            </a:r>
            <a:r>
              <a:rPr lang="en-IN" dirty="0" err="1"/>
              <a:t>maintenece</a:t>
            </a:r>
            <a:r>
              <a:rPr lang="en-IN" dirty="0"/>
              <a:t> of master patient index </a:t>
            </a:r>
          </a:p>
          <a:p>
            <a:pPr marL="457200" indent="-457200">
              <a:buFont typeface="+mj-lt"/>
              <a:buAutoNum type="arabicPeriod"/>
            </a:pPr>
            <a:r>
              <a:rPr lang="en-IN" dirty="0"/>
              <a:t>  Keep the list of all doctors working in the hospital and their specimen signature</a:t>
            </a:r>
          </a:p>
        </p:txBody>
      </p:sp>
      <p:sp>
        <p:nvSpPr>
          <p:cNvPr id="5" name="Title 1">
            <a:extLst>
              <a:ext uri="{FF2B5EF4-FFF2-40B4-BE49-F238E27FC236}">
                <a16:creationId xmlns:a16="http://schemas.microsoft.com/office/drawing/2014/main" id="{58A8FD30-F31E-4E8B-B92B-AB4B7156F5D4}"/>
              </a:ext>
            </a:extLst>
          </p:cNvPr>
          <p:cNvSpPr>
            <a:spLocks noGrp="1"/>
          </p:cNvSpPr>
          <p:nvPr>
            <p:ph type="title"/>
          </p:nvPr>
        </p:nvSpPr>
        <p:spPr>
          <a:xfrm>
            <a:off x="1023938" y="585788"/>
            <a:ext cx="9720262" cy="674976"/>
          </a:xfrm>
          <a:solidFill>
            <a:srgbClr val="FFC000"/>
          </a:solidFill>
        </p:spPr>
        <p:txBody>
          <a:bodyPr>
            <a:normAutofit fontScale="90000"/>
          </a:bodyPr>
          <a:lstStyle/>
          <a:p>
            <a:r>
              <a:rPr lang="en-IN" dirty="0"/>
              <a:t>SOLUTION TO MINIMISE THE DEFICIENCIES </a:t>
            </a:r>
          </a:p>
        </p:txBody>
      </p:sp>
    </p:spTree>
    <p:extLst>
      <p:ext uri="{BB962C8B-B14F-4D97-AF65-F5344CB8AC3E}">
        <p14:creationId xmlns:p14="http://schemas.microsoft.com/office/powerpoint/2010/main" val="22322997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22A450-5F64-461F-A0D2-CAC58E3C8171}"/>
              </a:ext>
            </a:extLst>
          </p:cNvPr>
          <p:cNvSpPr>
            <a:spLocks noGrp="1"/>
          </p:cNvSpPr>
          <p:nvPr>
            <p:ph idx="1"/>
          </p:nvPr>
        </p:nvSpPr>
        <p:spPr>
          <a:xfrm>
            <a:off x="665018" y="568036"/>
            <a:ext cx="10848109" cy="5846619"/>
          </a:xfrm>
        </p:spPr>
        <p:style>
          <a:lnRef idx="1">
            <a:schemeClr val="accent6"/>
          </a:lnRef>
          <a:fillRef idx="2">
            <a:schemeClr val="accent6"/>
          </a:fillRef>
          <a:effectRef idx="1">
            <a:schemeClr val="accent6"/>
          </a:effectRef>
          <a:fontRef idx="minor">
            <a:schemeClr val="dk1"/>
          </a:fontRef>
        </p:style>
        <p:txBody>
          <a:bodyPr>
            <a:normAutofit lnSpcReduction="10000"/>
          </a:bodyPr>
          <a:lstStyle/>
          <a:p>
            <a:r>
              <a:rPr lang="en-IN" dirty="0"/>
              <a:t>4. Carry out quantitative and qualitative analysis by evaluating the records concurrently and retrospectively.</a:t>
            </a:r>
          </a:p>
          <a:p>
            <a:r>
              <a:rPr lang="en-IN" dirty="0"/>
              <a:t>5. establish ‘‘Incomplete Medical records </a:t>
            </a:r>
            <a:r>
              <a:rPr lang="en-IN" dirty="0" err="1"/>
              <a:t>Control’’to</a:t>
            </a:r>
            <a:r>
              <a:rPr lang="en-IN" dirty="0"/>
              <a:t> review all discharged patient records promptly .</a:t>
            </a:r>
          </a:p>
          <a:p>
            <a:r>
              <a:rPr lang="en-IN" dirty="0"/>
              <a:t>6. Create ‘Doctors Conference Room” in the MRD with time schedule in consultation with the doctors to facilitate them to complete deficient records instead of sending the records to their respective office for completion .</a:t>
            </a:r>
          </a:p>
          <a:p>
            <a:r>
              <a:rPr lang="en-IN" dirty="0"/>
              <a:t>7.Generally The MRO should ensure that the records, as a rule are not sent out from MRD except in the following instances :</a:t>
            </a:r>
          </a:p>
          <a:p>
            <a:r>
              <a:rPr lang="en-IN" dirty="0"/>
              <a:t>A)For medical treatment either in out-patient, A&amp;E or IP</a:t>
            </a:r>
          </a:p>
          <a:p>
            <a:r>
              <a:rPr lang="en-IN" dirty="0"/>
              <a:t>B)Court Summons </a:t>
            </a:r>
          </a:p>
          <a:p>
            <a:r>
              <a:rPr lang="en-IN" dirty="0"/>
              <a:t>C) Required for administrators for setting payment or investigation and inquires </a:t>
            </a:r>
          </a:p>
          <a:p>
            <a:r>
              <a:rPr lang="en-IN" dirty="0"/>
              <a:t>D) Any clinical meeting ( case presentation )</a:t>
            </a:r>
          </a:p>
          <a:p>
            <a:r>
              <a:rPr lang="en-IN" dirty="0"/>
              <a:t>The MRO should submit regular reports on delinquent records with respective doctors names for action and provide assistance in evaluating periodic review programs such as Medical Auditing , Quality Assurance etc.</a:t>
            </a:r>
          </a:p>
        </p:txBody>
      </p:sp>
    </p:spTree>
    <p:extLst>
      <p:ext uri="{BB962C8B-B14F-4D97-AF65-F5344CB8AC3E}">
        <p14:creationId xmlns:p14="http://schemas.microsoft.com/office/powerpoint/2010/main" val="222982483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379</TotalTime>
  <Words>1407</Words>
  <Application>Microsoft Office PowerPoint</Application>
  <PresentationFormat>Widescreen</PresentationFormat>
  <Paragraphs>82</Paragraphs>
  <Slides>38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Tw Cen MT</vt:lpstr>
      <vt:lpstr>Tw Cen MT Condensed</vt:lpstr>
      <vt:lpstr>Wingdings 3</vt:lpstr>
      <vt:lpstr>Integral</vt:lpstr>
      <vt:lpstr>MEDICAL AUDIT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DIFFERENT AUDITS</vt:lpstr>
      <vt:lpstr>TYPES OF CLINICAL AUDIT </vt:lpstr>
      <vt:lpstr>PowerPoint Presentation</vt:lpstr>
      <vt:lpstr>PowerPoint Presentation</vt:lpstr>
      <vt:lpstr>PowerPoint Presentation</vt:lpstr>
      <vt:lpstr>USES </vt:lpstr>
      <vt:lpstr>What is morbidity audit ?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OF MEDICAL AUDITING </vt:lpstr>
      <vt:lpstr>METHODS OF MEDICAL AUDIT </vt:lpstr>
      <vt:lpstr>INTERNAL AUDIT </vt:lpstr>
      <vt:lpstr>External audit </vt:lpstr>
      <vt:lpstr>DIFFERENT METHODS USED IN AUDIT </vt:lpstr>
      <vt:lpstr>Commonly found deficiencies in audit </vt:lpstr>
      <vt:lpstr>CONTINUE….</vt:lpstr>
      <vt:lpstr>SOLUTION TO MINIMISE THE DEFICIENCIES </vt:lpstr>
      <vt:lpstr>SOLUTION TO MINIMISE THE DEFICIENCIES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AUDIT </dc:title>
  <dc:creator>debjani mukherjee</dc:creator>
  <cp:lastModifiedBy>debjani mukherjee</cp:lastModifiedBy>
  <cp:revision>25</cp:revision>
  <dcterms:created xsi:type="dcterms:W3CDTF">2020-04-20T05:48:28Z</dcterms:created>
  <dcterms:modified xsi:type="dcterms:W3CDTF">2023-09-15T07:15:11Z</dcterms:modified>
</cp:coreProperties>
</file>