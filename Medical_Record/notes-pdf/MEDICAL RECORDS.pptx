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74" r:id="rId3"/>
    <p:sldId id="257" r:id="rId4"/>
    <p:sldId id="258" r:id="rId5"/>
    <p:sldId id="275" r:id="rId6"/>
    <p:sldId id="276" r:id="rId7"/>
    <p:sldId id="277" r:id="rId8"/>
    <p:sldId id="259" r:id="rId9"/>
    <p:sldId id="261" r:id="rId10"/>
    <p:sldId id="262" r:id="rId11"/>
    <p:sldId id="263" r:id="rId12"/>
    <p:sldId id="267" r:id="rId13"/>
    <p:sldId id="266" r:id="rId14"/>
    <p:sldId id="264" r:id="rId15"/>
    <p:sldId id="278" r:id="rId16"/>
    <p:sldId id="279" r:id="rId17"/>
    <p:sldId id="280" r:id="rId18"/>
    <p:sldId id="281" r:id="rId19"/>
    <p:sldId id="282" r:id="rId20"/>
    <p:sldId id="268" r:id="rId21"/>
    <p:sldId id="272" r:id="rId22"/>
    <p:sldId id="273" r:id="rId23"/>
    <p:sldId id="283" r:id="rId24"/>
    <p:sldId id="269" r:id="rId25"/>
    <p:sldId id="270" r:id="rId26"/>
    <p:sldId id="284" r:id="rId27"/>
    <p:sldId id="271" r:id="rId28"/>
    <p:sldId id="285" r:id="rId29"/>
    <p:sldId id="286" r:id="rId30"/>
    <p:sldId id="287" r:id="rId31"/>
    <p:sldId id="288" r:id="rId32"/>
    <p:sldId id="289" r:id="rId33"/>
    <p:sldId id="290" r:id="rId34"/>
    <p:sldId id="291" r:id="rId35"/>
    <p:sldId id="292"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5" d="100"/>
          <a:sy n="65" d="100"/>
        </p:scale>
        <p:origin x="89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3/15/2024</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3/15/2024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3/15/2024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3/15/2024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3/15/2024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3/15/2024</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image.slidesharecdn.com/medicalrecordsdepartment-170508171406/95/medical-records-department-22-638.jpg?cb=1494263733"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9811C-C30D-4043-A725-55EDB958BBA0}"/>
              </a:ext>
            </a:extLst>
          </p:cNvPr>
          <p:cNvSpPr>
            <a:spLocks noGrp="1"/>
          </p:cNvSpPr>
          <p:nvPr>
            <p:ph type="ctrTitle"/>
          </p:nvPr>
        </p:nvSpPr>
        <p:spPr/>
        <p:txBody>
          <a:bodyPr/>
          <a:lstStyle/>
          <a:p>
            <a:r>
              <a:rPr lang="en-IN" dirty="0"/>
              <a:t>MEDICAL RECORDS </a:t>
            </a:r>
          </a:p>
        </p:txBody>
      </p:sp>
      <p:sp>
        <p:nvSpPr>
          <p:cNvPr id="3" name="Subtitle 2">
            <a:extLst>
              <a:ext uri="{FF2B5EF4-FFF2-40B4-BE49-F238E27FC236}">
                <a16:creationId xmlns:a16="http://schemas.microsoft.com/office/drawing/2014/main" id="{2B93219C-A413-4ED6-8535-D47FDE8E502F}"/>
              </a:ext>
            </a:extLst>
          </p:cNvPr>
          <p:cNvSpPr>
            <a:spLocks noGrp="1"/>
          </p:cNvSpPr>
          <p:nvPr>
            <p:ph type="subTitle" idx="1"/>
          </p:nvPr>
        </p:nvSpPr>
        <p:spPr/>
        <p:txBody>
          <a:bodyPr/>
          <a:lstStyle/>
          <a:p>
            <a:r>
              <a:rPr lang="en-IN" dirty="0"/>
              <a:t>DEFINATION , TYPES </a:t>
            </a:r>
          </a:p>
        </p:txBody>
      </p:sp>
      <p:pic>
        <p:nvPicPr>
          <p:cNvPr id="4" name="Picture 3">
            <a:extLst>
              <a:ext uri="{FF2B5EF4-FFF2-40B4-BE49-F238E27FC236}">
                <a16:creationId xmlns:a16="http://schemas.microsoft.com/office/drawing/2014/main" id="{8D55586F-5157-40BD-AF0B-80629A67F28C}"/>
              </a:ext>
            </a:extLst>
          </p:cNvPr>
          <p:cNvPicPr>
            <a:picLocks noChangeAspect="1"/>
          </p:cNvPicPr>
          <p:nvPr/>
        </p:nvPicPr>
        <p:blipFill>
          <a:blip r:embed="rId2"/>
          <a:stretch>
            <a:fillRect/>
          </a:stretch>
        </p:blipFill>
        <p:spPr>
          <a:xfrm>
            <a:off x="3634220" y="1066799"/>
            <a:ext cx="2881745" cy="2028825"/>
          </a:xfrm>
          <a:prstGeom prst="rect">
            <a:avLst/>
          </a:prstGeom>
        </p:spPr>
      </p:pic>
      <p:pic>
        <p:nvPicPr>
          <p:cNvPr id="5" name="Picture 4">
            <a:extLst>
              <a:ext uri="{FF2B5EF4-FFF2-40B4-BE49-F238E27FC236}">
                <a16:creationId xmlns:a16="http://schemas.microsoft.com/office/drawing/2014/main" id="{C8BE51DC-654A-4A4A-8092-D58210CDDBDB}"/>
              </a:ext>
            </a:extLst>
          </p:cNvPr>
          <p:cNvPicPr>
            <a:picLocks noChangeAspect="1"/>
          </p:cNvPicPr>
          <p:nvPr/>
        </p:nvPicPr>
        <p:blipFill>
          <a:blip r:embed="rId3"/>
          <a:stretch>
            <a:fillRect/>
          </a:stretch>
        </p:blipFill>
        <p:spPr>
          <a:xfrm>
            <a:off x="8696324" y="1066799"/>
            <a:ext cx="3028950" cy="2028825"/>
          </a:xfrm>
          <a:prstGeom prst="rect">
            <a:avLst/>
          </a:prstGeom>
        </p:spPr>
      </p:pic>
      <p:pic>
        <p:nvPicPr>
          <p:cNvPr id="6" name="Picture 5">
            <a:extLst>
              <a:ext uri="{FF2B5EF4-FFF2-40B4-BE49-F238E27FC236}">
                <a16:creationId xmlns:a16="http://schemas.microsoft.com/office/drawing/2014/main" id="{7AC79726-FF18-4474-AA1B-4B2DF3215013}"/>
              </a:ext>
            </a:extLst>
          </p:cNvPr>
          <p:cNvPicPr>
            <a:picLocks noChangeAspect="1"/>
          </p:cNvPicPr>
          <p:nvPr/>
        </p:nvPicPr>
        <p:blipFill>
          <a:blip r:embed="rId4"/>
          <a:stretch>
            <a:fillRect/>
          </a:stretch>
        </p:blipFill>
        <p:spPr>
          <a:xfrm>
            <a:off x="6511636" y="1066800"/>
            <a:ext cx="2257425" cy="2028825"/>
          </a:xfrm>
          <a:prstGeom prst="rect">
            <a:avLst/>
          </a:prstGeom>
        </p:spPr>
      </p:pic>
    </p:spTree>
    <p:extLst>
      <p:ext uri="{BB962C8B-B14F-4D97-AF65-F5344CB8AC3E}">
        <p14:creationId xmlns:p14="http://schemas.microsoft.com/office/powerpoint/2010/main" val="13356887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5BC9B-1252-4380-AC27-EE67072C1ADD}"/>
              </a:ext>
            </a:extLst>
          </p:cNvPr>
          <p:cNvSpPr>
            <a:spLocks noGrp="1"/>
          </p:cNvSpPr>
          <p:nvPr>
            <p:ph type="title"/>
          </p:nvPr>
        </p:nvSpPr>
        <p:spPr>
          <a:xfrm>
            <a:off x="685801" y="609601"/>
            <a:ext cx="10131425" cy="762000"/>
          </a:xfrm>
        </p:spPr>
        <p:style>
          <a:lnRef idx="2">
            <a:schemeClr val="dk1"/>
          </a:lnRef>
          <a:fillRef idx="1">
            <a:schemeClr val="lt1"/>
          </a:fillRef>
          <a:effectRef idx="0">
            <a:schemeClr val="dk1"/>
          </a:effectRef>
          <a:fontRef idx="minor">
            <a:schemeClr val="dk1"/>
          </a:fontRef>
        </p:style>
        <p:txBody>
          <a:bodyPr/>
          <a:lstStyle/>
          <a:p>
            <a:r>
              <a:rPr lang="en-IN" dirty="0"/>
              <a:t>INTRODUCTION </a:t>
            </a:r>
          </a:p>
        </p:txBody>
      </p:sp>
      <p:sp>
        <p:nvSpPr>
          <p:cNvPr id="3" name="Content Placeholder 2">
            <a:extLst>
              <a:ext uri="{FF2B5EF4-FFF2-40B4-BE49-F238E27FC236}">
                <a16:creationId xmlns:a16="http://schemas.microsoft.com/office/drawing/2014/main" id="{B32CDE39-D574-48D6-9A7E-DD37F0AFF57B}"/>
              </a:ext>
            </a:extLst>
          </p:cNvPr>
          <p:cNvSpPr>
            <a:spLocks noGrp="1"/>
          </p:cNvSpPr>
          <p:nvPr>
            <p:ph idx="1"/>
          </p:nvPr>
        </p:nvSpPr>
        <p:spPr>
          <a:xfrm>
            <a:off x="685801" y="1371601"/>
            <a:ext cx="10131425" cy="5043054"/>
          </a:xfrm>
        </p:spPr>
        <p:txBody>
          <a:bodyPr>
            <a:normAutofit/>
          </a:bodyPr>
          <a:lstStyle/>
          <a:p>
            <a:r>
              <a:rPr lang="en-US" dirty="0"/>
              <a:t>FIRST MEDICAL RECORD UNIT WAS ESTABLISHED IN 1667 AT ST. BARTHOLOMEW’S HOSPITAL, ENGLAND. FOLLOWED BY PRACTICE OF MAINTAINING PATIENT REGISTER IN PENNSYLVANIA HOSPITAL, USA IN 1792. </a:t>
            </a:r>
          </a:p>
          <a:p>
            <a:r>
              <a:rPr lang="en-US" dirty="0"/>
              <a:t>IDEA OF PROPER MEDICAL RECORDS IN FORM OF STANDARDIZED INPATIENTS RECORDS CAME IN USA FROM THE AMERICAN COLLEGE OF PHYSICIANS AND AMERICAN COLLEGE OF SURGEONS IN THE LAST QUARTER OF THE 20TH CENTURY.</a:t>
            </a:r>
          </a:p>
          <a:p>
            <a:r>
              <a:rPr lang="en-US" dirty="0"/>
              <a:t> IN INDIA BHORE COMMITTEE (1946) FIRST STRESSED THE IMPORTANCE OF KEEPING MEDICAL RECORDS.</a:t>
            </a:r>
          </a:p>
          <a:p>
            <a:r>
              <a:rPr lang="en-US" dirty="0"/>
              <a:t>REITERATED BY MUDALIAR COMMITTEE IN 1962. SUBSEQUENTLY, HEALTH AND HOSPITAL REVIEW COMMITTEE (JAIN COMMITTEE AND RAO COMMITTEE) HIGHLIGHTED POOR STATE OF MEDICAL RECORDS AND RECOMMENDED THE ESTABLISHMENT OF A PROPER MEDICAL RECORDS SECTION IN EACH HOSPITAL. </a:t>
            </a:r>
          </a:p>
          <a:p>
            <a:r>
              <a:rPr lang="en-US" dirty="0"/>
              <a:t>WITH TECHNICAL ADVANCEMENT, COMPUTERS ARE EXTENSIVELY USED FOR RECORD GENERATION, ANALYSIS AND RETRIEVAL. MICROFILMING HAS ALSO BEEN INTRODUCED FOR EASY STORAGE AND RETRIEVAL.</a:t>
            </a:r>
          </a:p>
          <a:p>
            <a:endParaRPr lang="en-IN" dirty="0"/>
          </a:p>
        </p:txBody>
      </p:sp>
    </p:spTree>
    <p:extLst>
      <p:ext uri="{BB962C8B-B14F-4D97-AF65-F5344CB8AC3E}">
        <p14:creationId xmlns:p14="http://schemas.microsoft.com/office/powerpoint/2010/main" val="549814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2D843-824A-45EC-9F5C-272E2E5E3BC7}"/>
              </a:ext>
            </a:extLst>
          </p:cNvPr>
          <p:cNvSpPr>
            <a:spLocks noGrp="1"/>
          </p:cNvSpPr>
          <p:nvPr>
            <p:ph type="title"/>
          </p:nvPr>
        </p:nvSpPr>
        <p:spPr/>
        <p:txBody>
          <a:bodyPr/>
          <a:lstStyle/>
          <a:p>
            <a:r>
              <a:rPr lang="en-IN" dirty="0"/>
              <a:t> WHAT IS MEDICAL RECORDS?</a:t>
            </a:r>
          </a:p>
        </p:txBody>
      </p:sp>
      <p:sp>
        <p:nvSpPr>
          <p:cNvPr id="3" name="Content Placeholder 2">
            <a:extLst>
              <a:ext uri="{FF2B5EF4-FFF2-40B4-BE49-F238E27FC236}">
                <a16:creationId xmlns:a16="http://schemas.microsoft.com/office/drawing/2014/main" id="{27F681FA-247C-4F4D-B802-1460DF915FE1}"/>
              </a:ext>
            </a:extLst>
          </p:cNvPr>
          <p:cNvSpPr>
            <a:spLocks noGrp="1"/>
          </p:cNvSpPr>
          <p:nvPr>
            <p:ph idx="1"/>
          </p:nvPr>
        </p:nvSpPr>
        <p:spPr/>
        <p:style>
          <a:lnRef idx="1">
            <a:schemeClr val="accent6"/>
          </a:lnRef>
          <a:fillRef idx="2">
            <a:schemeClr val="accent6"/>
          </a:fillRef>
          <a:effectRef idx="1">
            <a:schemeClr val="accent6"/>
          </a:effectRef>
          <a:fontRef idx="minor">
            <a:schemeClr val="dk1"/>
          </a:fontRef>
        </p:style>
        <p:txBody>
          <a:bodyPr>
            <a:normAutofit fontScale="92500" lnSpcReduction="10000"/>
          </a:bodyPr>
          <a:lstStyle/>
          <a:p>
            <a:r>
              <a:rPr lang="en-IN" sz="2800" dirty="0"/>
              <a:t>The medical record can be defined as an orderly written </a:t>
            </a:r>
            <a:r>
              <a:rPr lang="en-IN" sz="2800" dirty="0" err="1"/>
              <a:t>docum,ent</a:t>
            </a:r>
            <a:r>
              <a:rPr lang="en-IN" sz="2800" dirty="0"/>
              <a:t> encompassing the patient’s health history, physical examination,. Findings , laboratory reports, treatment and surgical procedure reports and hospital course. When complete, the record should contain sufficient data to justify investigations, diagnosis, treatment , length  of stay, results of care and future course of action .</a:t>
            </a:r>
          </a:p>
          <a:p>
            <a:r>
              <a:rPr lang="en-IN" sz="2800" dirty="0"/>
              <a:t>Medical record is a legal document providing a chronicle of a patient’s medical history and care. Physicians , nurse practitioners and other members of health care team may make entries in the medical record .</a:t>
            </a:r>
          </a:p>
        </p:txBody>
      </p:sp>
      <p:pic>
        <p:nvPicPr>
          <p:cNvPr id="4" name="Picture 3">
            <a:extLst>
              <a:ext uri="{FF2B5EF4-FFF2-40B4-BE49-F238E27FC236}">
                <a16:creationId xmlns:a16="http://schemas.microsoft.com/office/drawing/2014/main" id="{8595BFAE-BC2A-44F0-9900-0658C586A7A5}"/>
              </a:ext>
            </a:extLst>
          </p:cNvPr>
          <p:cNvPicPr>
            <a:picLocks noChangeAspect="1"/>
          </p:cNvPicPr>
          <p:nvPr/>
        </p:nvPicPr>
        <p:blipFill>
          <a:blip r:embed="rId2"/>
          <a:stretch>
            <a:fillRect/>
          </a:stretch>
        </p:blipFill>
        <p:spPr>
          <a:xfrm>
            <a:off x="8243454" y="0"/>
            <a:ext cx="3616037" cy="1743075"/>
          </a:xfrm>
          <a:prstGeom prst="rect">
            <a:avLst/>
          </a:prstGeom>
        </p:spPr>
        <p:style>
          <a:lnRef idx="1">
            <a:schemeClr val="accent6"/>
          </a:lnRef>
          <a:fillRef idx="2">
            <a:schemeClr val="accent6"/>
          </a:fillRef>
          <a:effectRef idx="1">
            <a:schemeClr val="accent6"/>
          </a:effectRef>
          <a:fontRef idx="minor">
            <a:schemeClr val="dk1"/>
          </a:fontRef>
        </p:style>
      </p:pic>
    </p:spTree>
    <p:extLst>
      <p:ext uri="{BB962C8B-B14F-4D97-AF65-F5344CB8AC3E}">
        <p14:creationId xmlns:p14="http://schemas.microsoft.com/office/powerpoint/2010/main" val="2720892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B824C-FA95-414F-A6CE-EDA47E584B98}"/>
              </a:ext>
            </a:extLst>
          </p:cNvPr>
          <p:cNvSpPr>
            <a:spLocks noGrp="1"/>
          </p:cNvSpPr>
          <p:nvPr>
            <p:ph type="title"/>
          </p:nvPr>
        </p:nvSpPr>
        <p:spPr/>
        <p:txBody>
          <a:bodyPr/>
          <a:lstStyle/>
          <a:p>
            <a:r>
              <a:rPr lang="en-IN" dirty="0"/>
              <a:t>PEOPLE FORGET AND RECORDS REMEMBER /USE OF MEDICAL RECORDS </a:t>
            </a:r>
          </a:p>
        </p:txBody>
      </p:sp>
      <p:sp>
        <p:nvSpPr>
          <p:cNvPr id="3" name="Content Placeholder 2">
            <a:extLst>
              <a:ext uri="{FF2B5EF4-FFF2-40B4-BE49-F238E27FC236}">
                <a16:creationId xmlns:a16="http://schemas.microsoft.com/office/drawing/2014/main" id="{66B4601F-605D-4F2D-813E-1C6DAC652F7F}"/>
              </a:ext>
            </a:extLst>
          </p:cNvPr>
          <p:cNvSpPr>
            <a:spLocks noGrp="1"/>
          </p:cNvSpPr>
          <p:nvPr>
            <p:ph idx="1"/>
          </p:nvPr>
        </p:nvSpPr>
        <p:spPr>
          <a:xfrm>
            <a:off x="685801" y="1745673"/>
            <a:ext cx="11132126" cy="4045527"/>
          </a:xfrm>
        </p:spPr>
        <p:txBody>
          <a:bodyPr>
            <a:normAutofit/>
          </a:bodyPr>
          <a:lstStyle/>
          <a:p>
            <a:r>
              <a:rPr lang="en-IN" sz="2800" dirty="0">
                <a:solidFill>
                  <a:srgbClr val="FFFF00"/>
                </a:solidFill>
              </a:rPr>
              <a:t>WHY MEDICAL RECORDS ARE SO IMPORTANT </a:t>
            </a:r>
            <a:r>
              <a:rPr lang="en-IN" sz="2800" dirty="0"/>
              <a:t>?</a:t>
            </a:r>
          </a:p>
          <a:p>
            <a:r>
              <a:rPr lang="en-IN" sz="2800" dirty="0"/>
              <a:t>Physicians exam the patients and enters findings into the medical records.</a:t>
            </a:r>
          </a:p>
          <a:p>
            <a:r>
              <a:rPr lang="en-IN" sz="2800" dirty="0"/>
              <a:t>Legal protection, excellent proof certain procedure were performed .</a:t>
            </a:r>
          </a:p>
          <a:p>
            <a:r>
              <a:rPr lang="en-IN" sz="2800" dirty="0"/>
              <a:t>Provide statistical information , that is helpful to researchers .</a:t>
            </a:r>
          </a:p>
          <a:p>
            <a:r>
              <a:rPr lang="en-IN" sz="2800" dirty="0"/>
              <a:t>Vital for financial reimbursement.</a:t>
            </a:r>
          </a:p>
        </p:txBody>
      </p:sp>
    </p:spTree>
    <p:extLst>
      <p:ext uri="{BB962C8B-B14F-4D97-AF65-F5344CB8AC3E}">
        <p14:creationId xmlns:p14="http://schemas.microsoft.com/office/powerpoint/2010/main" val="102601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40A86-4D63-48CB-8C60-39039D72C1E7}"/>
              </a:ext>
            </a:extLst>
          </p:cNvPr>
          <p:cNvSpPr>
            <a:spLocks noGrp="1"/>
          </p:cNvSpPr>
          <p:nvPr>
            <p:ph type="title"/>
          </p:nvPr>
        </p:nvSpPr>
        <p:spPr>
          <a:xfrm>
            <a:off x="685801" y="609601"/>
            <a:ext cx="10131425" cy="762000"/>
          </a:xfrm>
        </p:spPr>
        <p:style>
          <a:lnRef idx="2">
            <a:schemeClr val="dk1"/>
          </a:lnRef>
          <a:fillRef idx="1">
            <a:schemeClr val="lt1"/>
          </a:fillRef>
          <a:effectRef idx="0">
            <a:schemeClr val="dk1"/>
          </a:effectRef>
          <a:fontRef idx="minor">
            <a:schemeClr val="dk1"/>
          </a:fontRef>
        </p:style>
        <p:txBody>
          <a:bodyPr/>
          <a:lstStyle/>
          <a:p>
            <a:r>
              <a:rPr lang="en-IN" dirty="0"/>
              <a:t>PURPOSE</a:t>
            </a:r>
          </a:p>
        </p:txBody>
      </p:sp>
      <p:sp>
        <p:nvSpPr>
          <p:cNvPr id="3" name="Content Placeholder 2">
            <a:extLst>
              <a:ext uri="{FF2B5EF4-FFF2-40B4-BE49-F238E27FC236}">
                <a16:creationId xmlns:a16="http://schemas.microsoft.com/office/drawing/2014/main" id="{78811D52-10C1-4D7F-813F-02B5DCB27EB1}"/>
              </a:ext>
            </a:extLst>
          </p:cNvPr>
          <p:cNvSpPr>
            <a:spLocks noGrp="1"/>
          </p:cNvSpPr>
          <p:nvPr>
            <p:ph idx="1"/>
          </p:nvPr>
        </p:nvSpPr>
        <p:spPr>
          <a:xfrm>
            <a:off x="685801" y="1371601"/>
            <a:ext cx="10131425" cy="5264726"/>
          </a:xfrm>
        </p:spPr>
        <p:txBody>
          <a:bodyPr/>
          <a:lstStyle/>
          <a:p>
            <a:r>
              <a:rPr lang="en-US" dirty="0"/>
              <a:t>THE MEDICAL RECORD IS INDISPENSABLE FROM THE POINT OF VIEW OF </a:t>
            </a:r>
          </a:p>
          <a:p>
            <a:r>
              <a:rPr lang="en-US" dirty="0"/>
              <a:t>THE PATIENT, </a:t>
            </a:r>
          </a:p>
          <a:p>
            <a:r>
              <a:rPr lang="en-US" dirty="0"/>
              <a:t>THE DOCTOR, </a:t>
            </a:r>
          </a:p>
          <a:p>
            <a:r>
              <a:rPr lang="en-US" dirty="0"/>
              <a:t>AND THE HOSPITAL AND </a:t>
            </a:r>
          </a:p>
          <a:p>
            <a:r>
              <a:rPr lang="en-US" dirty="0"/>
              <a:t>FOR MEDICAL EDUCATION AND RESEARCH.</a:t>
            </a:r>
          </a:p>
          <a:p>
            <a:pPr marL="0" indent="0">
              <a:buNone/>
            </a:pPr>
            <a:r>
              <a:rPr lang="en-US" b="1" u="sng" dirty="0">
                <a:highlight>
                  <a:srgbClr val="C0C0C0"/>
                </a:highlight>
              </a:rPr>
              <a:t>1.THE PATIENT</a:t>
            </a:r>
            <a:r>
              <a:rPr lang="en-US" dirty="0"/>
              <a:t>:  IT SERVES TO DOCUMENT THE CLINICAL HISTORY OF THE PATIENT’S ILLNESS AND COURSE OF THE DISEASE. </a:t>
            </a:r>
          </a:p>
          <a:p>
            <a:r>
              <a:rPr lang="en-US" dirty="0"/>
              <a:t>IT SERVES TO AVOID OMISSION OR UNNECESSARY REPETITION OF DIAGNOSTIC AND TREATMENT MEASURES. </a:t>
            </a:r>
          </a:p>
          <a:p>
            <a:r>
              <a:rPr lang="en-US" dirty="0"/>
              <a:t>IT ASSISTS IN CONTINUITY OF CARE IN THE EVENT OF FUTURE ILLNESS. </a:t>
            </a:r>
          </a:p>
          <a:p>
            <a:r>
              <a:rPr lang="en-US" dirty="0"/>
              <a:t>PROVIDES NECESSARY INFORMATION FOR INSURANCE, CONTRIBUTORY HEALTH SCHEMES OR FOR THE EMPLOYMENT PURPOSES.</a:t>
            </a:r>
            <a:endParaRPr lang="en-IN" dirty="0"/>
          </a:p>
        </p:txBody>
      </p:sp>
    </p:spTree>
    <p:extLst>
      <p:ext uri="{BB962C8B-B14F-4D97-AF65-F5344CB8AC3E}">
        <p14:creationId xmlns:p14="http://schemas.microsoft.com/office/powerpoint/2010/main" val="2259607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A83DE5-2815-4430-864E-CC5BC719628B}"/>
              </a:ext>
            </a:extLst>
          </p:cNvPr>
          <p:cNvSpPr>
            <a:spLocks noGrp="1"/>
          </p:cNvSpPr>
          <p:nvPr>
            <p:ph idx="1"/>
          </p:nvPr>
        </p:nvSpPr>
        <p:spPr>
          <a:xfrm>
            <a:off x="1" y="152400"/>
            <a:ext cx="12067308" cy="6705599"/>
          </a:xfrm>
        </p:spPr>
        <p:txBody>
          <a:bodyPr>
            <a:normAutofit/>
          </a:bodyPr>
          <a:lstStyle/>
          <a:p>
            <a:pPr marL="0" indent="0">
              <a:buNone/>
            </a:pPr>
            <a:r>
              <a:rPr lang="en-US" sz="2000" b="1" dirty="0">
                <a:highlight>
                  <a:srgbClr val="C0C0C0"/>
                </a:highlight>
              </a:rPr>
              <a:t>2,THE DOCTOR: </a:t>
            </a:r>
          </a:p>
          <a:p>
            <a:r>
              <a:rPr lang="en-US" dirty="0"/>
              <a:t>ASSURANCE OF QUALITY, QUANTITY, AND ADEQUACY OF DIAGNOSTIC AND THERAPEUTIC MEASURES UNDERTAKEN. </a:t>
            </a:r>
          </a:p>
          <a:p>
            <a:r>
              <a:rPr lang="en-US" dirty="0"/>
              <a:t> AN ASSURANCE OF ORDERLY CONTINUITY OF MEDICAL CARE. </a:t>
            </a:r>
          </a:p>
          <a:p>
            <a:r>
              <a:rPr lang="en-US" dirty="0"/>
              <a:t>EVALUATION OF MEDICAL PRACTICE. </a:t>
            </a:r>
          </a:p>
          <a:p>
            <a:r>
              <a:rPr lang="en-US" dirty="0"/>
              <a:t> AN AID IN RESEARCH AND THE CONTINUING EDUCATION OF HEALTH PROFESSIONALS. </a:t>
            </a:r>
          </a:p>
          <a:p>
            <a:r>
              <a:rPr lang="en-US" dirty="0"/>
              <a:t> A PROTECTION IN THE EVENT OF LEGAL QUESTION. </a:t>
            </a:r>
          </a:p>
          <a:p>
            <a:pPr marL="0" indent="0">
              <a:buNone/>
            </a:pPr>
            <a:r>
              <a:rPr lang="en-US" b="1" u="sng" dirty="0">
                <a:highlight>
                  <a:srgbClr val="C0C0C0"/>
                </a:highlight>
              </a:rPr>
              <a:t>3,THE HOSPITAL</a:t>
            </a:r>
            <a:r>
              <a:rPr lang="en-US" dirty="0"/>
              <a:t>: </a:t>
            </a:r>
          </a:p>
          <a:p>
            <a:r>
              <a:rPr lang="en-US" dirty="0"/>
              <a:t> DOCUMENT THE TYPE AND QUANTITY OF WORK UNDERTAKEN AND ACCOMPLISHED. </a:t>
            </a:r>
          </a:p>
          <a:p>
            <a:r>
              <a:rPr lang="en-US" dirty="0"/>
              <a:t>FURNISH PROOF OF THE TYPE AND QUANTITY OF CARE RENDERED TO THE PATIENT. </a:t>
            </a:r>
          </a:p>
          <a:p>
            <a:r>
              <a:rPr lang="en-US" dirty="0"/>
              <a:t> EVALUATE THE PROFICIENCY OF THE INDIVIDUAL DOCTOR, FOR ADMINISTRATION AND CLINICAL PURPOSES. </a:t>
            </a:r>
          </a:p>
          <a:p>
            <a:r>
              <a:rPr lang="en-US" dirty="0"/>
              <a:t> EVALUATE THE SERVICES OF THE HOSPITAL IN TERMS OF ACCEPTED NORMS AND STANDARDS. </a:t>
            </a:r>
          </a:p>
          <a:p>
            <a:r>
              <a:rPr lang="en-US" dirty="0"/>
              <a:t> PROTECT THE HOSPITAL IN THE EVENT OF LEGAL MATTERS. </a:t>
            </a:r>
          </a:p>
          <a:p>
            <a:r>
              <a:rPr lang="en-US" dirty="0"/>
              <a:t>SERVE AS AN ADMINISTRATIVE RECORD OF PERSONNEL PERFORMANCE AND STAFFING NEEDS, FOR BUDGET PREPARATION, JUSTIFICATION FOR PHYSICAL FACILITY ALLOCATION AND UTILIZATION, FOR STATISTICAL DATA FOR ADMINISTRATIVE USE AND EVALUATION, FOR ESTIMATING EQUIPMENT AND SUPPLY UTILIZATION AND NEEDS. </a:t>
            </a:r>
          </a:p>
          <a:p>
            <a:r>
              <a:rPr lang="en-US" dirty="0"/>
              <a:t> ASSIST IN FUTURE PROGRAM PLANNING.</a:t>
            </a:r>
            <a:endParaRPr lang="en-IN" dirty="0"/>
          </a:p>
        </p:txBody>
      </p:sp>
    </p:spTree>
    <p:extLst>
      <p:ext uri="{BB962C8B-B14F-4D97-AF65-F5344CB8AC3E}">
        <p14:creationId xmlns:p14="http://schemas.microsoft.com/office/powerpoint/2010/main" val="1218195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D1B995-E988-4A0D-9D34-CFF451DA33F7}"/>
              </a:ext>
            </a:extLst>
          </p:cNvPr>
          <p:cNvSpPr>
            <a:spLocks noGrp="1"/>
          </p:cNvSpPr>
          <p:nvPr>
            <p:ph idx="1"/>
          </p:nvPr>
        </p:nvSpPr>
        <p:spPr>
          <a:xfrm>
            <a:off x="374073" y="748145"/>
            <a:ext cx="5167745" cy="5043056"/>
          </a:xfrm>
        </p:spPr>
        <p:txBody>
          <a:bodyPr/>
          <a:lstStyle/>
          <a:p>
            <a:pPr marL="0" indent="0">
              <a:buNone/>
            </a:pPr>
            <a:r>
              <a:rPr lang="en-US" b="1" u="sng" dirty="0">
                <a:highlight>
                  <a:srgbClr val="C0C0C0"/>
                </a:highlight>
              </a:rPr>
              <a:t>4.MEDICAL EDUCATION AND RESEARCH:</a:t>
            </a:r>
          </a:p>
          <a:p>
            <a:r>
              <a:rPr lang="en-US" dirty="0"/>
              <a:t> RECORDED OBSERVATIONS ARE THE BASIS FOR ALL CLINICAL RESEARCH.</a:t>
            </a:r>
          </a:p>
          <a:p>
            <a:r>
              <a:rPr lang="en-US" dirty="0"/>
              <a:t> FURTHER THE EDUCATION OF DOCTORS AND OTHER HEALTH PERSONNEL.</a:t>
            </a:r>
          </a:p>
          <a:p>
            <a:r>
              <a:rPr lang="en-US" dirty="0"/>
              <a:t> MEDICAL RECORDS SUPPLY PERTINENT DATA FOR THE USE BY PUBLIC HEALTH AUTHORITIES FOR CONTROL OF DISEASES.</a:t>
            </a:r>
            <a:endParaRPr lang="en-IN" dirty="0"/>
          </a:p>
        </p:txBody>
      </p:sp>
      <p:pic>
        <p:nvPicPr>
          <p:cNvPr id="12" name="Picture 11">
            <a:extLst>
              <a:ext uri="{FF2B5EF4-FFF2-40B4-BE49-F238E27FC236}">
                <a16:creationId xmlns:a16="http://schemas.microsoft.com/office/drawing/2014/main" id="{CCE65EEE-801B-4E1D-BCAE-D39C739AD8C9}"/>
              </a:ext>
            </a:extLst>
          </p:cNvPr>
          <p:cNvPicPr>
            <a:picLocks noChangeAspect="1"/>
          </p:cNvPicPr>
          <p:nvPr/>
        </p:nvPicPr>
        <p:blipFill>
          <a:blip r:embed="rId2"/>
          <a:stretch>
            <a:fillRect/>
          </a:stretch>
        </p:blipFill>
        <p:spPr>
          <a:xfrm>
            <a:off x="6096000" y="401781"/>
            <a:ext cx="5167744" cy="5389419"/>
          </a:xfrm>
          <a:prstGeom prst="rect">
            <a:avLst/>
          </a:prstGeom>
        </p:spPr>
      </p:pic>
    </p:spTree>
    <p:extLst>
      <p:ext uri="{BB962C8B-B14F-4D97-AF65-F5344CB8AC3E}">
        <p14:creationId xmlns:p14="http://schemas.microsoft.com/office/powerpoint/2010/main" val="2871834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2782C-5618-4CAE-82AF-3C124413C079}"/>
              </a:ext>
            </a:extLst>
          </p:cNvPr>
          <p:cNvSpPr>
            <a:spLocks noGrp="1"/>
          </p:cNvSpPr>
          <p:nvPr>
            <p:ph type="title"/>
          </p:nvPr>
        </p:nvSpPr>
        <p:spPr>
          <a:xfrm>
            <a:off x="685801" y="609601"/>
            <a:ext cx="10131425" cy="1011382"/>
          </a:xfrm>
        </p:spPr>
        <p:style>
          <a:lnRef idx="2">
            <a:schemeClr val="accent5">
              <a:shade val="50000"/>
            </a:schemeClr>
          </a:lnRef>
          <a:fillRef idx="1">
            <a:schemeClr val="accent5"/>
          </a:fillRef>
          <a:effectRef idx="0">
            <a:schemeClr val="accent5"/>
          </a:effectRef>
          <a:fontRef idx="minor">
            <a:schemeClr val="lt1"/>
          </a:fontRef>
        </p:style>
        <p:txBody>
          <a:bodyPr/>
          <a:lstStyle/>
          <a:p>
            <a:r>
              <a:rPr lang="en-IN" dirty="0"/>
              <a:t>COMPONENTS OF MEDICAL RECORD </a:t>
            </a:r>
          </a:p>
        </p:txBody>
      </p:sp>
      <p:sp>
        <p:nvSpPr>
          <p:cNvPr id="3" name="Content Placeholder 2">
            <a:extLst>
              <a:ext uri="{FF2B5EF4-FFF2-40B4-BE49-F238E27FC236}">
                <a16:creationId xmlns:a16="http://schemas.microsoft.com/office/drawing/2014/main" id="{C6B127D7-FE6B-43A8-B6F7-31A3075BF376}"/>
              </a:ext>
            </a:extLst>
          </p:cNvPr>
          <p:cNvSpPr>
            <a:spLocks noGrp="1"/>
          </p:cNvSpPr>
          <p:nvPr>
            <p:ph idx="1"/>
          </p:nvPr>
        </p:nvSpPr>
        <p:spPr>
          <a:xfrm>
            <a:off x="685801" y="2142067"/>
            <a:ext cx="10131425" cy="3649133"/>
          </a:xfrm>
        </p:spPr>
        <p:txBody>
          <a:bodyPr/>
          <a:lstStyle/>
          <a:p>
            <a:r>
              <a:rPr lang="en-IN" dirty="0"/>
              <a:t>FRONT SHEET OR IDENTIFICATION SUMMARY SHEET </a:t>
            </a:r>
          </a:p>
          <a:p>
            <a:r>
              <a:rPr lang="en-IN" dirty="0"/>
              <a:t>CONSENT OF TREATMENT </a:t>
            </a:r>
          </a:p>
          <a:p>
            <a:r>
              <a:rPr lang="en-IN" dirty="0"/>
              <a:t>LEGAL DOCUMENTS LUKE REFFERAL LETTER, REQUEST FOR INFORMATION ETC </a:t>
            </a:r>
          </a:p>
          <a:p>
            <a:r>
              <a:rPr lang="en-IN" dirty="0"/>
              <a:t>DISCHARGE SUMMARY, REFERRAL SLIP </a:t>
            </a:r>
          </a:p>
          <a:p>
            <a:r>
              <a:rPr lang="en-IN" dirty="0"/>
              <a:t>ADMISSION NOTES, CLINICAL PROGRESS NOTES, NURSES PROGRESS NOTES</a:t>
            </a:r>
          </a:p>
          <a:p>
            <a:r>
              <a:rPr lang="en-IN" dirty="0"/>
              <a:t>OPERATION REPORT ( IF OPERATION HAS BEEN PERFORMED )</a:t>
            </a:r>
          </a:p>
          <a:p>
            <a:r>
              <a:rPr lang="en-IN" dirty="0"/>
              <a:t>INVESTIGATION REPORTS , LIKE X RAY, PATHOLOGY , ETC </a:t>
            </a:r>
          </a:p>
          <a:p>
            <a:r>
              <a:rPr lang="en-IN" dirty="0"/>
              <a:t>ORDERS OF TREATMENT AND MEDICATION FORMS LISTING DAILY MEDICATIONS ORDERED AND GIVEN WITH SIGNATURE OF THE DOCTOR PRESCRIBING THE TREATMENT AND THE NURSE ADMINSTERING </a:t>
            </a:r>
          </a:p>
        </p:txBody>
      </p:sp>
    </p:spTree>
    <p:extLst>
      <p:ext uri="{BB962C8B-B14F-4D97-AF65-F5344CB8AC3E}">
        <p14:creationId xmlns:p14="http://schemas.microsoft.com/office/powerpoint/2010/main" val="1935473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98F67-BE5F-4C2E-B8EE-4EFC6D74EC30}"/>
              </a:ext>
            </a:extLst>
          </p:cNvPr>
          <p:cNvSpPr>
            <a:spLocks noGrp="1"/>
          </p:cNvSpPr>
          <p:nvPr>
            <p:ph type="title"/>
          </p:nvPr>
        </p:nvSpPr>
        <p:spPr>
          <a:xfrm>
            <a:off x="318655" y="1"/>
            <a:ext cx="10498571" cy="1066800"/>
          </a:xfrm>
        </p:spPr>
        <p:style>
          <a:lnRef idx="2">
            <a:schemeClr val="accent5">
              <a:shade val="50000"/>
            </a:schemeClr>
          </a:lnRef>
          <a:fillRef idx="1">
            <a:schemeClr val="accent5"/>
          </a:fillRef>
          <a:effectRef idx="0">
            <a:schemeClr val="accent5"/>
          </a:effectRef>
          <a:fontRef idx="minor">
            <a:schemeClr val="lt1"/>
          </a:fontRef>
        </p:style>
        <p:txBody>
          <a:bodyPr>
            <a:normAutofit/>
          </a:bodyPr>
          <a:lstStyle/>
          <a:p>
            <a:r>
              <a:rPr lang="en-IN" sz="4000" dirty="0"/>
              <a:t>Characteristics of good medical records </a:t>
            </a:r>
          </a:p>
        </p:txBody>
      </p:sp>
      <p:sp>
        <p:nvSpPr>
          <p:cNvPr id="3" name="Content Placeholder 2">
            <a:extLst>
              <a:ext uri="{FF2B5EF4-FFF2-40B4-BE49-F238E27FC236}">
                <a16:creationId xmlns:a16="http://schemas.microsoft.com/office/drawing/2014/main" id="{3197AEA2-5FD7-4C93-8FE8-7C8004887987}"/>
              </a:ext>
            </a:extLst>
          </p:cNvPr>
          <p:cNvSpPr>
            <a:spLocks noGrp="1"/>
          </p:cNvSpPr>
          <p:nvPr>
            <p:ph idx="1"/>
          </p:nvPr>
        </p:nvSpPr>
        <p:spPr>
          <a:xfrm>
            <a:off x="221673" y="1066800"/>
            <a:ext cx="11499272" cy="5444835"/>
          </a:xfrm>
        </p:spPr>
        <p:txBody>
          <a:bodyPr>
            <a:normAutofit/>
          </a:bodyPr>
          <a:lstStyle/>
          <a:p>
            <a:pPr marL="0" indent="0">
              <a:buNone/>
            </a:pPr>
            <a:r>
              <a:rPr lang="en-IN" sz="2400" dirty="0"/>
              <a:t>1</a:t>
            </a:r>
            <a:r>
              <a:rPr lang="en-IN" sz="2400" b="1" u="sng" dirty="0"/>
              <a:t>.COMPLETE : </a:t>
            </a:r>
          </a:p>
          <a:p>
            <a:r>
              <a:rPr lang="en-IN" sz="2400" dirty="0"/>
              <a:t>Sufficient data to identify the patient </a:t>
            </a:r>
          </a:p>
          <a:p>
            <a:r>
              <a:rPr lang="en-IN" sz="2400" dirty="0"/>
              <a:t>Justify diagnosis </a:t>
            </a:r>
          </a:p>
          <a:p>
            <a:r>
              <a:rPr lang="en-IN" sz="2400" dirty="0"/>
              <a:t>Treatment </a:t>
            </a:r>
          </a:p>
          <a:p>
            <a:r>
              <a:rPr lang="en-IN" sz="2400" dirty="0"/>
              <a:t>Follow up </a:t>
            </a:r>
          </a:p>
          <a:p>
            <a:r>
              <a:rPr lang="en-IN" sz="2400" dirty="0"/>
              <a:t>Outcome          </a:t>
            </a:r>
          </a:p>
          <a:p>
            <a:pPr marL="0" indent="0">
              <a:buNone/>
            </a:pPr>
            <a:r>
              <a:rPr lang="en-IN" sz="2400" dirty="0"/>
              <a:t>2</a:t>
            </a:r>
            <a:r>
              <a:rPr lang="en-IN" sz="2400" b="1" u="sng" dirty="0"/>
              <a:t>.ADEQUATE </a:t>
            </a:r>
            <a:r>
              <a:rPr lang="en-IN" sz="2400" dirty="0"/>
              <a:t>:</a:t>
            </a:r>
          </a:p>
          <a:p>
            <a:r>
              <a:rPr lang="en-IN" sz="2400" dirty="0"/>
              <a:t>With all necessary forms </a:t>
            </a:r>
          </a:p>
          <a:p>
            <a:r>
              <a:rPr lang="en-IN" sz="2400" dirty="0"/>
              <a:t>All clinical information               </a:t>
            </a:r>
          </a:p>
          <a:p>
            <a:pPr marL="0" indent="0">
              <a:buNone/>
            </a:pPr>
            <a:r>
              <a:rPr lang="en-IN" sz="2400" dirty="0"/>
              <a:t>3. </a:t>
            </a:r>
            <a:r>
              <a:rPr lang="en-IN" sz="2400" b="1" u="sng" dirty="0"/>
              <a:t>ACCURATE </a:t>
            </a:r>
          </a:p>
          <a:p>
            <a:r>
              <a:rPr lang="en-IN" sz="2400" dirty="0"/>
              <a:t>Capable of quantitative analysis </a:t>
            </a:r>
          </a:p>
        </p:txBody>
      </p:sp>
    </p:spTree>
    <p:extLst>
      <p:ext uri="{BB962C8B-B14F-4D97-AF65-F5344CB8AC3E}">
        <p14:creationId xmlns:p14="http://schemas.microsoft.com/office/powerpoint/2010/main" val="367865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44795-BFA9-4C6A-807A-A05C1A7EBCEE}"/>
              </a:ext>
            </a:extLst>
          </p:cNvPr>
          <p:cNvSpPr>
            <a:spLocks noGrp="1"/>
          </p:cNvSpPr>
          <p:nvPr>
            <p:ph type="title"/>
          </p:nvPr>
        </p:nvSpPr>
        <p:spPr>
          <a:xfrm>
            <a:off x="360218" y="110837"/>
            <a:ext cx="10457008" cy="955964"/>
          </a:xfrm>
        </p:spPr>
        <p:style>
          <a:lnRef idx="2">
            <a:schemeClr val="accent5">
              <a:shade val="50000"/>
            </a:schemeClr>
          </a:lnRef>
          <a:fillRef idx="1">
            <a:schemeClr val="accent5"/>
          </a:fillRef>
          <a:effectRef idx="0">
            <a:schemeClr val="accent5"/>
          </a:effectRef>
          <a:fontRef idx="minor">
            <a:schemeClr val="lt1"/>
          </a:fontRef>
        </p:style>
        <p:txBody>
          <a:bodyPr/>
          <a:lstStyle/>
          <a:p>
            <a:r>
              <a:rPr lang="en-IN" dirty="0"/>
              <a:t>Flow of inpatient medical record </a:t>
            </a:r>
          </a:p>
        </p:txBody>
      </p:sp>
      <p:sp>
        <p:nvSpPr>
          <p:cNvPr id="3" name="Content Placeholder 2">
            <a:extLst>
              <a:ext uri="{FF2B5EF4-FFF2-40B4-BE49-F238E27FC236}">
                <a16:creationId xmlns:a16="http://schemas.microsoft.com/office/drawing/2014/main" id="{E3771F7F-D357-4C4D-8CA5-23ABAFA74439}"/>
              </a:ext>
            </a:extLst>
          </p:cNvPr>
          <p:cNvSpPr>
            <a:spLocks noGrp="1"/>
          </p:cNvSpPr>
          <p:nvPr>
            <p:ph idx="1"/>
          </p:nvPr>
        </p:nvSpPr>
        <p:spPr>
          <a:xfrm>
            <a:off x="360219" y="1066801"/>
            <a:ext cx="10457008" cy="4724399"/>
          </a:xfrm>
        </p:spPr>
        <p:txBody>
          <a:bodyPr>
            <a:normAutofit/>
          </a:bodyPr>
          <a:lstStyle/>
          <a:p>
            <a:r>
              <a:rPr lang="en-IN" sz="3600" b="1" u="sng" dirty="0"/>
              <a:t>Four important things should be ensured </a:t>
            </a:r>
          </a:p>
          <a:p>
            <a:pPr marL="742950" indent="-742950">
              <a:buFont typeface="+mj-lt"/>
              <a:buAutoNum type="arabicPeriod"/>
            </a:pPr>
            <a:r>
              <a:rPr lang="en-IN" sz="3600" dirty="0"/>
              <a:t>Prompt record service , for any  information </a:t>
            </a:r>
          </a:p>
          <a:p>
            <a:pPr marL="742950" indent="-742950">
              <a:buFont typeface="+mj-lt"/>
              <a:buAutoNum type="arabicPeriod"/>
            </a:pPr>
            <a:r>
              <a:rPr lang="en-IN" sz="3600" dirty="0"/>
              <a:t>Convenient and adequate accommodation</a:t>
            </a:r>
          </a:p>
          <a:p>
            <a:pPr marL="742950" indent="-742950">
              <a:buFont typeface="+mj-lt"/>
              <a:buAutoNum type="arabicPeriod"/>
            </a:pPr>
            <a:r>
              <a:rPr lang="en-IN" sz="3600" dirty="0"/>
              <a:t>Easy availability ,retrieval of record or ready availability </a:t>
            </a:r>
          </a:p>
          <a:p>
            <a:pPr marL="742950" indent="-742950">
              <a:buFont typeface="+mj-lt"/>
              <a:buAutoNum type="arabicPeriod"/>
            </a:pPr>
            <a:r>
              <a:rPr lang="en-IN" sz="3600" dirty="0"/>
              <a:t>Simple procedure  </a:t>
            </a:r>
          </a:p>
        </p:txBody>
      </p:sp>
    </p:spTree>
    <p:extLst>
      <p:ext uri="{BB962C8B-B14F-4D97-AF65-F5344CB8AC3E}">
        <p14:creationId xmlns:p14="http://schemas.microsoft.com/office/powerpoint/2010/main" val="28213084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BB33A0-5F4C-4466-A418-8F8DE714644C}"/>
              </a:ext>
            </a:extLst>
          </p:cNvPr>
          <p:cNvSpPr/>
          <p:nvPr/>
        </p:nvSpPr>
        <p:spPr>
          <a:xfrm>
            <a:off x="6575232" y="1066801"/>
            <a:ext cx="2175163" cy="73429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Nursing unit </a:t>
            </a:r>
          </a:p>
        </p:txBody>
      </p:sp>
      <p:sp>
        <p:nvSpPr>
          <p:cNvPr id="3" name="Rectangle 2">
            <a:extLst>
              <a:ext uri="{FF2B5EF4-FFF2-40B4-BE49-F238E27FC236}">
                <a16:creationId xmlns:a16="http://schemas.microsoft.com/office/drawing/2014/main" id="{25B1B27D-385A-43D8-B762-595FDC7DDD06}"/>
              </a:ext>
            </a:extLst>
          </p:cNvPr>
          <p:cNvSpPr/>
          <p:nvPr/>
        </p:nvSpPr>
        <p:spPr>
          <a:xfrm>
            <a:off x="651164" y="1233055"/>
            <a:ext cx="2466109" cy="314498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Central admission office </a:t>
            </a:r>
          </a:p>
          <a:p>
            <a:pPr algn="ctr"/>
            <a:endParaRPr lang="en-IN" dirty="0"/>
          </a:p>
          <a:p>
            <a:pPr algn="ctr"/>
            <a:r>
              <a:rPr lang="en-IN" dirty="0" err="1"/>
              <a:t>Cencus</a:t>
            </a:r>
            <a:r>
              <a:rPr lang="en-IN" dirty="0"/>
              <a:t> </a:t>
            </a:r>
          </a:p>
          <a:p>
            <a:pPr algn="ctr"/>
            <a:endParaRPr lang="en-IN" dirty="0"/>
          </a:p>
          <a:p>
            <a:pPr algn="ctr"/>
            <a:r>
              <a:rPr lang="en-IN" dirty="0"/>
              <a:t>Checking date , time of discharge and diagnosis </a:t>
            </a:r>
          </a:p>
        </p:txBody>
      </p:sp>
      <p:sp>
        <p:nvSpPr>
          <p:cNvPr id="11" name="Title 10">
            <a:extLst>
              <a:ext uri="{FF2B5EF4-FFF2-40B4-BE49-F238E27FC236}">
                <a16:creationId xmlns:a16="http://schemas.microsoft.com/office/drawing/2014/main" id="{697E3D51-0089-4E8A-A852-872739F56593}"/>
              </a:ext>
            </a:extLst>
          </p:cNvPr>
          <p:cNvSpPr>
            <a:spLocks noGrp="1"/>
          </p:cNvSpPr>
          <p:nvPr>
            <p:ph type="title"/>
          </p:nvPr>
        </p:nvSpPr>
        <p:spPr>
          <a:xfrm>
            <a:off x="685800" y="290945"/>
            <a:ext cx="3680885" cy="942110"/>
          </a:xfrm>
        </p:spPr>
        <p:txBody>
          <a:bodyPr>
            <a:normAutofit/>
          </a:bodyPr>
          <a:lstStyle/>
          <a:p>
            <a:r>
              <a:rPr lang="en-IN" dirty="0"/>
              <a:t>OPD.EMG,LABOUR</a:t>
            </a:r>
            <a:br>
              <a:rPr lang="en-IN" dirty="0"/>
            </a:br>
            <a:r>
              <a:rPr lang="en-IN" dirty="0"/>
              <a:t>NEWBORN </a:t>
            </a:r>
          </a:p>
        </p:txBody>
      </p:sp>
      <p:sp>
        <p:nvSpPr>
          <p:cNvPr id="13" name="Text Placeholder 12">
            <a:extLst>
              <a:ext uri="{FF2B5EF4-FFF2-40B4-BE49-F238E27FC236}">
                <a16:creationId xmlns:a16="http://schemas.microsoft.com/office/drawing/2014/main" id="{BB23773B-6B5D-4715-9361-1DF2161A7A00}"/>
              </a:ext>
            </a:extLst>
          </p:cNvPr>
          <p:cNvSpPr>
            <a:spLocks noGrp="1"/>
          </p:cNvSpPr>
          <p:nvPr>
            <p:ph type="body" sz="half" idx="2"/>
          </p:nvPr>
        </p:nvSpPr>
        <p:spPr/>
        <p:txBody>
          <a:bodyPr/>
          <a:lstStyle/>
          <a:p>
            <a:endParaRPr lang="en-IN" dirty="0"/>
          </a:p>
          <a:p>
            <a:endParaRPr lang="en-IN" dirty="0"/>
          </a:p>
          <a:p>
            <a:endParaRPr lang="en-IN" dirty="0"/>
          </a:p>
          <a:p>
            <a:endParaRPr lang="en-IN" dirty="0"/>
          </a:p>
          <a:p>
            <a:r>
              <a:rPr lang="en-IN" dirty="0"/>
              <a:t>ON DISCHARGE </a:t>
            </a:r>
          </a:p>
        </p:txBody>
      </p:sp>
      <p:cxnSp>
        <p:nvCxnSpPr>
          <p:cNvPr id="15" name="Straight Arrow Connector 14">
            <a:extLst>
              <a:ext uri="{FF2B5EF4-FFF2-40B4-BE49-F238E27FC236}">
                <a16:creationId xmlns:a16="http://schemas.microsoft.com/office/drawing/2014/main" id="{B2C53082-A18B-42AC-9776-AA43BD9AD1D6}"/>
              </a:ext>
            </a:extLst>
          </p:cNvPr>
          <p:cNvCxnSpPr/>
          <p:nvPr/>
        </p:nvCxnSpPr>
        <p:spPr>
          <a:xfrm>
            <a:off x="2860963" y="1233055"/>
            <a:ext cx="363681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Arrow: Right 15">
            <a:extLst>
              <a:ext uri="{FF2B5EF4-FFF2-40B4-BE49-F238E27FC236}">
                <a16:creationId xmlns:a16="http://schemas.microsoft.com/office/drawing/2014/main" id="{9A9C031B-9D0A-47BE-A93C-FEA2367888A7}"/>
              </a:ext>
            </a:extLst>
          </p:cNvPr>
          <p:cNvSpPr/>
          <p:nvPr/>
        </p:nvSpPr>
        <p:spPr>
          <a:xfrm>
            <a:off x="6331527" y="1080655"/>
            <a:ext cx="277091" cy="2632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39209874-95DA-43BF-A9C5-CC94C624C847}"/>
              </a:ext>
            </a:extLst>
          </p:cNvPr>
          <p:cNvSpPr/>
          <p:nvPr/>
        </p:nvSpPr>
        <p:spPr>
          <a:xfrm>
            <a:off x="2860963" y="4680911"/>
            <a:ext cx="1267692" cy="64115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Assembling </a:t>
            </a:r>
          </a:p>
        </p:txBody>
      </p:sp>
      <p:sp>
        <p:nvSpPr>
          <p:cNvPr id="18" name="Rectangle 17">
            <a:extLst>
              <a:ext uri="{FF2B5EF4-FFF2-40B4-BE49-F238E27FC236}">
                <a16:creationId xmlns:a16="http://schemas.microsoft.com/office/drawing/2014/main" id="{EFE7509D-456D-4F11-92B6-147E24068ECC}"/>
              </a:ext>
            </a:extLst>
          </p:cNvPr>
          <p:cNvSpPr/>
          <p:nvPr/>
        </p:nvSpPr>
        <p:spPr>
          <a:xfrm>
            <a:off x="4401321" y="4680912"/>
            <a:ext cx="1154352" cy="59378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Checking </a:t>
            </a:r>
          </a:p>
        </p:txBody>
      </p:sp>
      <p:sp>
        <p:nvSpPr>
          <p:cNvPr id="19" name="Rectangle 18">
            <a:extLst>
              <a:ext uri="{FF2B5EF4-FFF2-40B4-BE49-F238E27FC236}">
                <a16:creationId xmlns:a16="http://schemas.microsoft.com/office/drawing/2014/main" id="{37F00633-A5DC-4E79-B238-9BF067D40394}"/>
              </a:ext>
            </a:extLst>
          </p:cNvPr>
          <p:cNvSpPr/>
          <p:nvPr/>
        </p:nvSpPr>
        <p:spPr>
          <a:xfrm>
            <a:off x="5725680" y="4638532"/>
            <a:ext cx="1258262" cy="5937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Incomplete </a:t>
            </a:r>
          </a:p>
        </p:txBody>
      </p:sp>
      <p:sp>
        <p:nvSpPr>
          <p:cNvPr id="20" name="Rectangle 19">
            <a:extLst>
              <a:ext uri="{FF2B5EF4-FFF2-40B4-BE49-F238E27FC236}">
                <a16:creationId xmlns:a16="http://schemas.microsoft.com/office/drawing/2014/main" id="{6C2EF500-605F-407E-B8DC-7504E170BBF8}"/>
              </a:ext>
            </a:extLst>
          </p:cNvPr>
          <p:cNvSpPr/>
          <p:nvPr/>
        </p:nvSpPr>
        <p:spPr>
          <a:xfrm>
            <a:off x="7315199" y="4680911"/>
            <a:ext cx="1039091" cy="5937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Coding </a:t>
            </a:r>
          </a:p>
        </p:txBody>
      </p:sp>
      <p:sp>
        <p:nvSpPr>
          <p:cNvPr id="21" name="Rectangle 20">
            <a:extLst>
              <a:ext uri="{FF2B5EF4-FFF2-40B4-BE49-F238E27FC236}">
                <a16:creationId xmlns:a16="http://schemas.microsoft.com/office/drawing/2014/main" id="{A2208CE6-5ADA-46F3-94BF-4423FBD5BB3D}"/>
              </a:ext>
            </a:extLst>
          </p:cNvPr>
          <p:cNvSpPr/>
          <p:nvPr/>
        </p:nvSpPr>
        <p:spPr>
          <a:xfrm>
            <a:off x="8513617" y="4680911"/>
            <a:ext cx="1154352" cy="64115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Indexing </a:t>
            </a:r>
          </a:p>
        </p:txBody>
      </p:sp>
      <p:sp>
        <p:nvSpPr>
          <p:cNvPr id="22" name="Rectangle 21">
            <a:extLst>
              <a:ext uri="{FF2B5EF4-FFF2-40B4-BE49-F238E27FC236}">
                <a16:creationId xmlns:a16="http://schemas.microsoft.com/office/drawing/2014/main" id="{70D7AFDD-3430-4E75-9A04-3709D4266C67}"/>
              </a:ext>
            </a:extLst>
          </p:cNvPr>
          <p:cNvSpPr/>
          <p:nvPr/>
        </p:nvSpPr>
        <p:spPr>
          <a:xfrm>
            <a:off x="10474037" y="3768436"/>
            <a:ext cx="1361500" cy="55418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Analysis </a:t>
            </a:r>
          </a:p>
        </p:txBody>
      </p:sp>
      <p:sp>
        <p:nvSpPr>
          <p:cNvPr id="23" name="Rectangle 22">
            <a:extLst>
              <a:ext uri="{FF2B5EF4-FFF2-40B4-BE49-F238E27FC236}">
                <a16:creationId xmlns:a16="http://schemas.microsoft.com/office/drawing/2014/main" id="{54AF315A-251C-41CB-8243-83037D43227D}"/>
              </a:ext>
            </a:extLst>
          </p:cNvPr>
          <p:cNvSpPr/>
          <p:nvPr/>
        </p:nvSpPr>
        <p:spPr>
          <a:xfrm>
            <a:off x="10576591" y="4720273"/>
            <a:ext cx="1397875" cy="37819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Reporting </a:t>
            </a:r>
          </a:p>
        </p:txBody>
      </p:sp>
      <p:sp>
        <p:nvSpPr>
          <p:cNvPr id="24" name="Rectangle 23">
            <a:extLst>
              <a:ext uri="{FF2B5EF4-FFF2-40B4-BE49-F238E27FC236}">
                <a16:creationId xmlns:a16="http://schemas.microsoft.com/office/drawing/2014/main" id="{14C048E0-618D-4CD7-96AD-908CFF090EDB}"/>
              </a:ext>
            </a:extLst>
          </p:cNvPr>
          <p:cNvSpPr/>
          <p:nvPr/>
        </p:nvSpPr>
        <p:spPr>
          <a:xfrm>
            <a:off x="9975273" y="5527964"/>
            <a:ext cx="1361500" cy="41756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Filling </a:t>
            </a:r>
          </a:p>
        </p:txBody>
      </p:sp>
      <p:sp>
        <p:nvSpPr>
          <p:cNvPr id="25" name="Rectangle 24">
            <a:extLst>
              <a:ext uri="{FF2B5EF4-FFF2-40B4-BE49-F238E27FC236}">
                <a16:creationId xmlns:a16="http://schemas.microsoft.com/office/drawing/2014/main" id="{FA16288E-AFFE-4987-90EC-4F186D781BBC}"/>
              </a:ext>
            </a:extLst>
          </p:cNvPr>
          <p:cNvSpPr/>
          <p:nvPr/>
        </p:nvSpPr>
        <p:spPr>
          <a:xfrm>
            <a:off x="9975273" y="6094076"/>
            <a:ext cx="1361500" cy="41756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Retrieval </a:t>
            </a:r>
          </a:p>
        </p:txBody>
      </p:sp>
      <p:sp>
        <p:nvSpPr>
          <p:cNvPr id="27" name="Arrow: Right 26">
            <a:extLst>
              <a:ext uri="{FF2B5EF4-FFF2-40B4-BE49-F238E27FC236}">
                <a16:creationId xmlns:a16="http://schemas.microsoft.com/office/drawing/2014/main" id="{CFD89E29-2FE5-4EBB-A6ED-D228EF41E692}"/>
              </a:ext>
            </a:extLst>
          </p:cNvPr>
          <p:cNvSpPr/>
          <p:nvPr/>
        </p:nvSpPr>
        <p:spPr>
          <a:xfrm>
            <a:off x="4128655" y="4786155"/>
            <a:ext cx="466629"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Arrow: Right 27">
            <a:extLst>
              <a:ext uri="{FF2B5EF4-FFF2-40B4-BE49-F238E27FC236}">
                <a16:creationId xmlns:a16="http://schemas.microsoft.com/office/drawing/2014/main" id="{ADA00D46-9554-41D0-9FD1-4A3FAB5D7D73}"/>
              </a:ext>
            </a:extLst>
          </p:cNvPr>
          <p:cNvSpPr/>
          <p:nvPr/>
        </p:nvSpPr>
        <p:spPr>
          <a:xfrm>
            <a:off x="4128655" y="4790035"/>
            <a:ext cx="466629"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Arrow: Right 29">
            <a:extLst>
              <a:ext uri="{FF2B5EF4-FFF2-40B4-BE49-F238E27FC236}">
                <a16:creationId xmlns:a16="http://schemas.microsoft.com/office/drawing/2014/main" id="{9B4D39CA-CEFE-4DC6-B4F9-F224B83BBE8E}"/>
              </a:ext>
            </a:extLst>
          </p:cNvPr>
          <p:cNvSpPr/>
          <p:nvPr/>
        </p:nvSpPr>
        <p:spPr>
          <a:xfrm>
            <a:off x="5542301" y="4730737"/>
            <a:ext cx="224462" cy="41755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Arrow: Right 30">
            <a:extLst>
              <a:ext uri="{FF2B5EF4-FFF2-40B4-BE49-F238E27FC236}">
                <a16:creationId xmlns:a16="http://schemas.microsoft.com/office/drawing/2014/main" id="{EADB57DA-1CD7-4037-9F7A-5E2F2192CE91}"/>
              </a:ext>
            </a:extLst>
          </p:cNvPr>
          <p:cNvSpPr/>
          <p:nvPr/>
        </p:nvSpPr>
        <p:spPr>
          <a:xfrm>
            <a:off x="6928234" y="4831874"/>
            <a:ext cx="466629" cy="26659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Content Placeholder 31">
            <a:extLst>
              <a:ext uri="{FF2B5EF4-FFF2-40B4-BE49-F238E27FC236}">
                <a16:creationId xmlns:a16="http://schemas.microsoft.com/office/drawing/2014/main" id="{3CEF006A-CB8C-4C7B-89FA-F2BF1106EDA3}"/>
              </a:ext>
            </a:extLst>
          </p:cNvPr>
          <p:cNvSpPr>
            <a:spLocks noGrp="1"/>
          </p:cNvSpPr>
          <p:nvPr>
            <p:ph idx="1"/>
          </p:nvPr>
        </p:nvSpPr>
        <p:spPr>
          <a:xfrm rot="10969420" flipH="1" flipV="1">
            <a:off x="9716755" y="4730232"/>
            <a:ext cx="414482" cy="414212"/>
          </a:xfrm>
          <a:prstGeom prst="rightArrow">
            <a:avLst>
              <a:gd name="adj1" fmla="val 50000"/>
              <a:gd name="adj2" fmla="val 492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47500" lnSpcReduction="20000"/>
          </a:bodyPr>
          <a:lstStyle/>
          <a:p>
            <a:endParaRPr lang="en-IN" dirty="0"/>
          </a:p>
        </p:txBody>
      </p:sp>
      <p:sp>
        <p:nvSpPr>
          <p:cNvPr id="33" name="Arrow: Right 32">
            <a:extLst>
              <a:ext uri="{FF2B5EF4-FFF2-40B4-BE49-F238E27FC236}">
                <a16:creationId xmlns:a16="http://schemas.microsoft.com/office/drawing/2014/main" id="{159E86DC-5B69-4A77-A00D-DF6BEFCED9D7}"/>
              </a:ext>
            </a:extLst>
          </p:cNvPr>
          <p:cNvSpPr/>
          <p:nvPr/>
        </p:nvSpPr>
        <p:spPr>
          <a:xfrm>
            <a:off x="8200639" y="4868190"/>
            <a:ext cx="466629" cy="26659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5" name="Straight Arrow Connector 34">
            <a:extLst>
              <a:ext uri="{FF2B5EF4-FFF2-40B4-BE49-F238E27FC236}">
                <a16:creationId xmlns:a16="http://schemas.microsoft.com/office/drawing/2014/main" id="{C2E5FEE9-1123-469F-97AE-0BCE5677D2CA}"/>
              </a:ext>
            </a:extLst>
          </p:cNvPr>
          <p:cNvCxnSpPr>
            <a:cxnSpLocks/>
          </p:cNvCxnSpPr>
          <p:nvPr/>
        </p:nvCxnSpPr>
        <p:spPr>
          <a:xfrm flipH="1" flipV="1">
            <a:off x="3313738" y="1523912"/>
            <a:ext cx="3261494" cy="120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Connector: Elbow 36">
            <a:extLst>
              <a:ext uri="{FF2B5EF4-FFF2-40B4-BE49-F238E27FC236}">
                <a16:creationId xmlns:a16="http://schemas.microsoft.com/office/drawing/2014/main" id="{50303CC4-6E4A-4C8D-AF57-D2FA5DF6E00D}"/>
              </a:ext>
            </a:extLst>
          </p:cNvPr>
          <p:cNvCxnSpPr>
            <a:cxnSpLocks/>
          </p:cNvCxnSpPr>
          <p:nvPr/>
        </p:nvCxnSpPr>
        <p:spPr>
          <a:xfrm rot="16200000" flipH="1">
            <a:off x="1900260" y="3043984"/>
            <a:ext cx="3055266" cy="133831"/>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42" name="Arrow: Left-Right-Up 41">
            <a:extLst>
              <a:ext uri="{FF2B5EF4-FFF2-40B4-BE49-F238E27FC236}">
                <a16:creationId xmlns:a16="http://schemas.microsoft.com/office/drawing/2014/main" id="{A880845E-0EF6-48DF-9848-F78D5864AFC4}"/>
              </a:ext>
            </a:extLst>
          </p:cNvPr>
          <p:cNvSpPr/>
          <p:nvPr/>
        </p:nvSpPr>
        <p:spPr>
          <a:xfrm>
            <a:off x="9923996" y="4045527"/>
            <a:ext cx="51277" cy="786347"/>
          </a:xfrm>
          <a:prstGeom prst="leftRigh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Arrow: Left-Right-Up 42">
            <a:extLst>
              <a:ext uri="{FF2B5EF4-FFF2-40B4-BE49-F238E27FC236}">
                <a16:creationId xmlns:a16="http://schemas.microsoft.com/office/drawing/2014/main" id="{BA41ABC7-9A96-47A8-8FB1-886D9DE7AE32}"/>
              </a:ext>
            </a:extLst>
          </p:cNvPr>
          <p:cNvSpPr/>
          <p:nvPr/>
        </p:nvSpPr>
        <p:spPr>
          <a:xfrm>
            <a:off x="9871820" y="4141545"/>
            <a:ext cx="1204433" cy="786347"/>
          </a:xfrm>
          <a:prstGeom prst="leftRigh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Arrow: Left-Right-Up 43">
            <a:extLst>
              <a:ext uri="{FF2B5EF4-FFF2-40B4-BE49-F238E27FC236}">
                <a16:creationId xmlns:a16="http://schemas.microsoft.com/office/drawing/2014/main" id="{69367542-2D34-41D4-990C-44606ED659D7}"/>
              </a:ext>
            </a:extLst>
          </p:cNvPr>
          <p:cNvSpPr/>
          <p:nvPr/>
        </p:nvSpPr>
        <p:spPr>
          <a:xfrm>
            <a:off x="11336773" y="5098472"/>
            <a:ext cx="288439" cy="1191492"/>
          </a:xfrm>
          <a:prstGeom prst="leftRigh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Arrow: Right 44">
            <a:extLst>
              <a:ext uri="{FF2B5EF4-FFF2-40B4-BE49-F238E27FC236}">
                <a16:creationId xmlns:a16="http://schemas.microsoft.com/office/drawing/2014/main" id="{DED8B4B3-DB6E-4297-9739-0452832EB565}"/>
              </a:ext>
            </a:extLst>
          </p:cNvPr>
          <p:cNvSpPr/>
          <p:nvPr/>
        </p:nvSpPr>
        <p:spPr>
          <a:xfrm flipV="1">
            <a:off x="413134" y="6107900"/>
            <a:ext cx="9576173" cy="26659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Arrow: Up 45">
            <a:extLst>
              <a:ext uri="{FF2B5EF4-FFF2-40B4-BE49-F238E27FC236}">
                <a16:creationId xmlns:a16="http://schemas.microsoft.com/office/drawing/2014/main" id="{2816CC65-D682-4F5C-935D-DC03259BE906}"/>
              </a:ext>
            </a:extLst>
          </p:cNvPr>
          <p:cNvSpPr/>
          <p:nvPr/>
        </p:nvSpPr>
        <p:spPr>
          <a:xfrm>
            <a:off x="413134" y="3768436"/>
            <a:ext cx="238030" cy="239443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Arrow: Bent 48">
            <a:extLst>
              <a:ext uri="{FF2B5EF4-FFF2-40B4-BE49-F238E27FC236}">
                <a16:creationId xmlns:a16="http://schemas.microsoft.com/office/drawing/2014/main" id="{DFA5234D-9548-4657-84E3-DC979FB80710}"/>
              </a:ext>
            </a:extLst>
          </p:cNvPr>
          <p:cNvSpPr/>
          <p:nvPr/>
        </p:nvSpPr>
        <p:spPr>
          <a:xfrm>
            <a:off x="11506200" y="914401"/>
            <a:ext cx="252844" cy="2826836"/>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0" name="Arrow: Bent 49">
            <a:extLst>
              <a:ext uri="{FF2B5EF4-FFF2-40B4-BE49-F238E27FC236}">
                <a16:creationId xmlns:a16="http://schemas.microsoft.com/office/drawing/2014/main" id="{5D26640C-6C67-4475-94CE-9B651B12288E}"/>
              </a:ext>
            </a:extLst>
          </p:cNvPr>
          <p:cNvSpPr/>
          <p:nvPr/>
        </p:nvSpPr>
        <p:spPr>
          <a:xfrm>
            <a:off x="8513617" y="798927"/>
            <a:ext cx="3313451" cy="434128"/>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811602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824C499-648A-4E5C-842A-046D3F4D9A1B}"/>
              </a:ext>
            </a:extLst>
          </p:cNvPr>
          <p:cNvSpPr>
            <a:spLocks noGrp="1"/>
          </p:cNvSpPr>
          <p:nvPr>
            <p:ph type="title"/>
          </p:nvPr>
        </p:nvSpPr>
        <p:spPr>
          <a:xfrm>
            <a:off x="651167" y="609600"/>
            <a:ext cx="10166060" cy="956733"/>
          </a:xfrm>
        </p:spPr>
        <p:style>
          <a:lnRef idx="2">
            <a:schemeClr val="dk1"/>
          </a:lnRef>
          <a:fillRef idx="1">
            <a:schemeClr val="lt1"/>
          </a:fillRef>
          <a:effectRef idx="0">
            <a:schemeClr val="dk1"/>
          </a:effectRef>
          <a:fontRef idx="minor">
            <a:schemeClr val="dk1"/>
          </a:fontRef>
        </p:style>
        <p:txBody>
          <a:bodyPr/>
          <a:lstStyle/>
          <a:p>
            <a:r>
              <a:rPr lang="en-IN" cap="none" dirty="0">
                <a:ln w="0">
                  <a:solidFill>
                    <a:sysClr val="windowText" lastClr="000000"/>
                  </a:solidFill>
                </a:ln>
                <a:effectLst>
                  <a:glow rad="101600">
                    <a:schemeClr val="accent4">
                      <a:satMod val="175000"/>
                      <a:alpha val="40000"/>
                    </a:schemeClr>
                  </a:glow>
                  <a:outerShdw blurRad="50800" dist="38100" dir="2700000" algn="tl" rotWithShape="0">
                    <a:prstClr val="black">
                      <a:alpha val="40000"/>
                    </a:prstClr>
                  </a:outerShdw>
                </a:effectLst>
              </a:rPr>
              <a:t>FLOW CHART </a:t>
            </a:r>
          </a:p>
        </p:txBody>
      </p:sp>
      <p:sp>
        <p:nvSpPr>
          <p:cNvPr id="6" name="Content Placeholder 5">
            <a:extLst>
              <a:ext uri="{FF2B5EF4-FFF2-40B4-BE49-F238E27FC236}">
                <a16:creationId xmlns:a16="http://schemas.microsoft.com/office/drawing/2014/main" id="{3733CBA2-273E-4186-991D-782632093A83}"/>
              </a:ext>
            </a:extLst>
          </p:cNvPr>
          <p:cNvSpPr>
            <a:spLocks noGrp="1"/>
          </p:cNvSpPr>
          <p:nvPr>
            <p:ph idx="1"/>
          </p:nvPr>
        </p:nvSpPr>
        <p:spPr>
          <a:xfrm>
            <a:off x="651166" y="1888451"/>
            <a:ext cx="10131425" cy="4156364"/>
          </a:xfrm>
        </p:spPr>
        <p:txBody>
          <a:bodyPr/>
          <a:lstStyle/>
          <a:p>
            <a:pPr marL="0" indent="0">
              <a:buNone/>
            </a:pPr>
            <a:r>
              <a:rPr lang="en-IN" dirty="0"/>
              <a:t>REGISTRATION COUNTER                                           CONSULTANT </a:t>
            </a:r>
          </a:p>
          <a:p>
            <a:pPr marL="0" indent="0">
              <a:buNone/>
            </a:pPr>
            <a:r>
              <a:rPr lang="en-IN" dirty="0"/>
              <a:t>                            IP</a:t>
            </a:r>
          </a:p>
          <a:p>
            <a:pPr marL="0" indent="0">
              <a:buNone/>
            </a:pPr>
            <a:r>
              <a:rPr lang="en-IN" dirty="0"/>
              <a:t>ADMISSION                                     WARD                                            MEDICAL RECORDS</a:t>
            </a:r>
          </a:p>
          <a:p>
            <a:pPr marL="0" indent="0">
              <a:buNone/>
            </a:pPr>
            <a:endParaRPr lang="en-IN" dirty="0"/>
          </a:p>
          <a:p>
            <a:pPr marL="0" indent="0">
              <a:buNone/>
            </a:pPr>
            <a:r>
              <a:rPr lang="en-IN" dirty="0"/>
              <a:t>INDEXING                                        DEFICIENCY CHECK AND CODING                                     ASSEMBLING </a:t>
            </a:r>
          </a:p>
          <a:p>
            <a:pPr marL="0" indent="0">
              <a:buNone/>
            </a:pPr>
            <a:endParaRPr lang="en-IN" dirty="0"/>
          </a:p>
          <a:p>
            <a:pPr marL="0" indent="0">
              <a:buNone/>
            </a:pPr>
            <a:endParaRPr lang="en-IN" dirty="0"/>
          </a:p>
          <a:p>
            <a:pPr marL="0" indent="0">
              <a:buNone/>
            </a:pPr>
            <a:r>
              <a:rPr lang="en-IN" dirty="0"/>
              <a:t>COMPUTER ENTRY                                SCANNING                                                 PERMANENT FILLING </a:t>
            </a:r>
          </a:p>
        </p:txBody>
      </p:sp>
      <p:cxnSp>
        <p:nvCxnSpPr>
          <p:cNvPr id="3" name="Straight Arrow Connector 2">
            <a:extLst>
              <a:ext uri="{FF2B5EF4-FFF2-40B4-BE49-F238E27FC236}">
                <a16:creationId xmlns:a16="http://schemas.microsoft.com/office/drawing/2014/main" id="{A66185F1-30D4-4A91-AC21-80ED3AE8D0B3}"/>
              </a:ext>
            </a:extLst>
          </p:cNvPr>
          <p:cNvCxnSpPr>
            <a:cxnSpLocks/>
          </p:cNvCxnSpPr>
          <p:nvPr/>
        </p:nvCxnSpPr>
        <p:spPr>
          <a:xfrm flipV="1">
            <a:off x="3228109" y="2576946"/>
            <a:ext cx="1981200" cy="138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C8302C6-B973-4B96-B54F-3F40BD586916}"/>
              </a:ext>
            </a:extLst>
          </p:cNvPr>
          <p:cNvCxnSpPr/>
          <p:nvPr/>
        </p:nvCxnSpPr>
        <p:spPr>
          <a:xfrm>
            <a:off x="1981200" y="3429000"/>
            <a:ext cx="17318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EFEAA5C-92CD-4FCD-857A-27ED4A84723B}"/>
              </a:ext>
            </a:extLst>
          </p:cNvPr>
          <p:cNvCxnSpPr/>
          <p:nvPr/>
        </p:nvCxnSpPr>
        <p:spPr>
          <a:xfrm>
            <a:off x="4447309" y="3429000"/>
            <a:ext cx="22444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EE4EBEC-EC8F-4FED-A4F6-CEBEE4C4EB8D}"/>
              </a:ext>
            </a:extLst>
          </p:cNvPr>
          <p:cNvCxnSpPr/>
          <p:nvPr/>
        </p:nvCxnSpPr>
        <p:spPr>
          <a:xfrm flipH="1">
            <a:off x="1801091" y="2729345"/>
            <a:ext cx="3740727" cy="5680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AC35481-1119-4AC1-A437-C22E31784F9B}"/>
              </a:ext>
            </a:extLst>
          </p:cNvPr>
          <p:cNvCxnSpPr/>
          <p:nvPr/>
        </p:nvCxnSpPr>
        <p:spPr>
          <a:xfrm>
            <a:off x="5751513" y="2725881"/>
            <a:ext cx="1272742" cy="3810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F046DD5-04F3-4AF7-9FA2-62F10C9D89A3}"/>
              </a:ext>
            </a:extLst>
          </p:cNvPr>
          <p:cNvSpPr txBox="1"/>
          <p:nvPr/>
        </p:nvSpPr>
        <p:spPr>
          <a:xfrm rot="5400000">
            <a:off x="6691745" y="2729345"/>
            <a:ext cx="461665" cy="369332"/>
          </a:xfrm>
          <a:prstGeom prst="rect">
            <a:avLst/>
          </a:prstGeom>
          <a:noFill/>
        </p:spPr>
        <p:txBody>
          <a:bodyPr vert="vert270" wrap="square" rtlCol="0">
            <a:spAutoFit/>
          </a:bodyPr>
          <a:lstStyle/>
          <a:p>
            <a:r>
              <a:rPr lang="en-IN" dirty="0"/>
              <a:t>OP</a:t>
            </a:r>
          </a:p>
        </p:txBody>
      </p:sp>
      <p:cxnSp>
        <p:nvCxnSpPr>
          <p:cNvPr id="18" name="Straight Arrow Connector 17">
            <a:extLst>
              <a:ext uri="{FF2B5EF4-FFF2-40B4-BE49-F238E27FC236}">
                <a16:creationId xmlns:a16="http://schemas.microsoft.com/office/drawing/2014/main" id="{0CBC5CBB-10D4-4998-BD15-D020DCD68D03}"/>
              </a:ext>
            </a:extLst>
          </p:cNvPr>
          <p:cNvCxnSpPr/>
          <p:nvPr/>
        </p:nvCxnSpPr>
        <p:spPr>
          <a:xfrm flipH="1">
            <a:off x="7024255" y="4184073"/>
            <a:ext cx="16902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3E644B2A-0253-4979-8FB3-BEAE5FE09114}"/>
              </a:ext>
            </a:extLst>
          </p:cNvPr>
          <p:cNvCxnSpPr/>
          <p:nvPr/>
        </p:nvCxnSpPr>
        <p:spPr>
          <a:xfrm flipH="1">
            <a:off x="1801091" y="4197927"/>
            <a:ext cx="191192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F14AFBA-CC2C-4613-B8E8-16F2514245AF}"/>
              </a:ext>
            </a:extLst>
          </p:cNvPr>
          <p:cNvCxnSpPr/>
          <p:nvPr/>
        </p:nvCxnSpPr>
        <p:spPr>
          <a:xfrm>
            <a:off x="7633855" y="3429000"/>
            <a:ext cx="1496290" cy="5376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FD2F2CC-0E39-440E-9363-AFEDDA9E9B5C}"/>
              </a:ext>
            </a:extLst>
          </p:cNvPr>
          <p:cNvCxnSpPr/>
          <p:nvPr/>
        </p:nvCxnSpPr>
        <p:spPr>
          <a:xfrm>
            <a:off x="1246909" y="4197927"/>
            <a:ext cx="0" cy="1025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9746099-0B31-4054-AB69-A39C2ACEE8A4}"/>
              </a:ext>
            </a:extLst>
          </p:cNvPr>
          <p:cNvCxnSpPr/>
          <p:nvPr/>
        </p:nvCxnSpPr>
        <p:spPr>
          <a:xfrm>
            <a:off x="2632364" y="5347855"/>
            <a:ext cx="15863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24CFE5F-7187-4315-828F-7362F816DFF9}"/>
              </a:ext>
            </a:extLst>
          </p:cNvPr>
          <p:cNvCxnSpPr/>
          <p:nvPr/>
        </p:nvCxnSpPr>
        <p:spPr>
          <a:xfrm>
            <a:off x="5209309" y="5389418"/>
            <a:ext cx="25630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55012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CCE5BB-DE5B-4F9B-AD74-D58AD2F8DF7D}"/>
              </a:ext>
            </a:extLst>
          </p:cNvPr>
          <p:cNvSpPr>
            <a:spLocks noGrp="1"/>
          </p:cNvSpPr>
          <p:nvPr>
            <p:ph type="title"/>
          </p:nvPr>
        </p:nvSpPr>
        <p:spPr/>
        <p:txBody>
          <a:bodyPr/>
          <a:lstStyle/>
          <a:p>
            <a:r>
              <a:rPr lang="en-IN" dirty="0"/>
              <a:t>DIFFERENTIATION OF MEDICAL RECORD </a:t>
            </a:r>
          </a:p>
        </p:txBody>
      </p:sp>
      <p:sp>
        <p:nvSpPr>
          <p:cNvPr id="6" name="Content Placeholder 5">
            <a:extLst>
              <a:ext uri="{FF2B5EF4-FFF2-40B4-BE49-F238E27FC236}">
                <a16:creationId xmlns:a16="http://schemas.microsoft.com/office/drawing/2014/main" id="{1E42AC54-73CD-49AD-A5DB-1A48FA161581}"/>
              </a:ext>
            </a:extLst>
          </p:cNvPr>
          <p:cNvSpPr>
            <a:spLocks noGrp="1"/>
          </p:cNvSpPr>
          <p:nvPr>
            <p:ph idx="1"/>
          </p:nvPr>
        </p:nvSpPr>
        <p:spPr/>
        <p:txBody>
          <a:bodyPr/>
          <a:lstStyle/>
          <a:p>
            <a:r>
              <a:rPr lang="en-IN" dirty="0"/>
              <a:t>OUT PATIENT RECORD </a:t>
            </a:r>
          </a:p>
          <a:p>
            <a:r>
              <a:rPr lang="en-IN" dirty="0"/>
              <a:t>INPATIENT RECORD </a:t>
            </a:r>
          </a:p>
          <a:p>
            <a:r>
              <a:rPr lang="en-IN" dirty="0"/>
              <a:t>EMERGENCY RECORD </a:t>
            </a:r>
          </a:p>
        </p:txBody>
      </p:sp>
    </p:spTree>
    <p:extLst>
      <p:ext uri="{BB962C8B-B14F-4D97-AF65-F5344CB8AC3E}">
        <p14:creationId xmlns:p14="http://schemas.microsoft.com/office/powerpoint/2010/main" val="2468327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A766F-1A30-4CF4-AFF7-BAF2BEA5C3F0}"/>
              </a:ext>
            </a:extLst>
          </p:cNvPr>
          <p:cNvSpPr>
            <a:spLocks noGrp="1"/>
          </p:cNvSpPr>
          <p:nvPr>
            <p:ph type="title"/>
          </p:nvPr>
        </p:nvSpPr>
        <p:spPr>
          <a:xfrm>
            <a:off x="706582" y="609601"/>
            <a:ext cx="10110644" cy="955964"/>
          </a:xfrm>
        </p:spPr>
        <p:style>
          <a:lnRef idx="3">
            <a:schemeClr val="lt1"/>
          </a:lnRef>
          <a:fillRef idx="1">
            <a:schemeClr val="accent5"/>
          </a:fillRef>
          <a:effectRef idx="1">
            <a:schemeClr val="accent5"/>
          </a:effectRef>
          <a:fontRef idx="minor">
            <a:schemeClr val="lt1"/>
          </a:fontRef>
        </p:style>
        <p:txBody>
          <a:bodyPr/>
          <a:lstStyle/>
          <a:p>
            <a:r>
              <a:rPr lang="en-IN" dirty="0"/>
              <a:t>OUTPATIENT RECORD </a:t>
            </a:r>
          </a:p>
        </p:txBody>
      </p:sp>
      <p:sp>
        <p:nvSpPr>
          <p:cNvPr id="3" name="Content Placeholder 2">
            <a:extLst>
              <a:ext uri="{FF2B5EF4-FFF2-40B4-BE49-F238E27FC236}">
                <a16:creationId xmlns:a16="http://schemas.microsoft.com/office/drawing/2014/main" id="{9C0902B5-81D8-4242-8D49-75AA67451DB2}"/>
              </a:ext>
            </a:extLst>
          </p:cNvPr>
          <p:cNvSpPr>
            <a:spLocks noGrp="1"/>
          </p:cNvSpPr>
          <p:nvPr>
            <p:ph sz="half" idx="2"/>
          </p:nvPr>
        </p:nvSpPr>
        <p:spPr>
          <a:xfrm>
            <a:off x="706582" y="1565566"/>
            <a:ext cx="4976142" cy="5029198"/>
          </a:xfrm>
        </p:spPr>
        <p:txBody>
          <a:bodyPr>
            <a:normAutofit/>
          </a:bodyPr>
          <a:lstStyle/>
          <a:p>
            <a:r>
              <a:rPr lang="en-IN" dirty="0"/>
              <a:t>Should be located near the entrance to the OPD.</a:t>
            </a:r>
          </a:p>
          <a:p>
            <a:r>
              <a:rPr lang="en-IN" dirty="0"/>
              <a:t>Space for desk, chair, filling racks, index cabinets </a:t>
            </a:r>
          </a:p>
          <a:p>
            <a:r>
              <a:rPr lang="en-IN" dirty="0"/>
              <a:t>An outpatient identification ticket should have provision for </a:t>
            </a:r>
          </a:p>
          <a:p>
            <a:pPr marL="342900" indent="-342900">
              <a:buFont typeface="+mj-lt"/>
              <a:buAutoNum type="arabicPeriod"/>
            </a:pPr>
            <a:r>
              <a:rPr lang="en-IN" dirty="0"/>
              <a:t>Name of the patient</a:t>
            </a:r>
          </a:p>
          <a:p>
            <a:pPr marL="342900" indent="-342900">
              <a:buFont typeface="+mj-lt"/>
              <a:buAutoNum type="arabicPeriod"/>
            </a:pPr>
            <a:r>
              <a:rPr lang="en-IN" dirty="0"/>
              <a:t>Registration number</a:t>
            </a:r>
          </a:p>
          <a:p>
            <a:pPr marL="342900" indent="-342900">
              <a:buFont typeface="+mj-lt"/>
              <a:buAutoNum type="arabicPeriod"/>
            </a:pPr>
            <a:r>
              <a:rPr lang="en-IN" dirty="0"/>
              <a:t>Date </a:t>
            </a:r>
          </a:p>
          <a:p>
            <a:pPr marL="0" indent="0">
              <a:buNone/>
            </a:pPr>
            <a:endParaRPr lang="en-IN" dirty="0"/>
          </a:p>
        </p:txBody>
      </p:sp>
      <p:sp>
        <p:nvSpPr>
          <p:cNvPr id="5" name="Text Placeholder 4">
            <a:extLst>
              <a:ext uri="{FF2B5EF4-FFF2-40B4-BE49-F238E27FC236}">
                <a16:creationId xmlns:a16="http://schemas.microsoft.com/office/drawing/2014/main" id="{39877849-AAF8-40CD-8402-0043A5EF57D5}"/>
              </a:ext>
            </a:extLst>
          </p:cNvPr>
          <p:cNvSpPr>
            <a:spLocks noGrp="1"/>
          </p:cNvSpPr>
          <p:nvPr>
            <p:ph type="body" sz="quarter" idx="3"/>
          </p:nvPr>
        </p:nvSpPr>
        <p:spPr>
          <a:xfrm>
            <a:off x="6220691" y="2226734"/>
            <a:ext cx="4598126" cy="576262"/>
          </a:xfrm>
        </p:spPr>
        <p:txBody>
          <a:bodyPr/>
          <a:lstStyle/>
          <a:p>
            <a:endParaRPr lang="en-IN" b="1" u="sng" dirty="0"/>
          </a:p>
          <a:p>
            <a:pPr lvl="0">
              <a:buClr>
                <a:prstClr val="white"/>
              </a:buClr>
            </a:pPr>
            <a:r>
              <a:rPr lang="en-IN" b="1" u="sng" dirty="0">
                <a:solidFill>
                  <a:prstClr val="white"/>
                </a:solidFill>
              </a:rPr>
              <a:t>OPD RECORD CARD :</a:t>
            </a:r>
          </a:p>
          <a:p>
            <a:endParaRPr lang="en-IN" dirty="0"/>
          </a:p>
        </p:txBody>
      </p:sp>
      <p:sp>
        <p:nvSpPr>
          <p:cNvPr id="6" name="Content Placeholder 5">
            <a:extLst>
              <a:ext uri="{FF2B5EF4-FFF2-40B4-BE49-F238E27FC236}">
                <a16:creationId xmlns:a16="http://schemas.microsoft.com/office/drawing/2014/main" id="{33A45570-1582-4986-8B56-13DC71075C73}"/>
              </a:ext>
            </a:extLst>
          </p:cNvPr>
          <p:cNvSpPr>
            <a:spLocks noGrp="1"/>
          </p:cNvSpPr>
          <p:nvPr>
            <p:ph sz="quarter" idx="4"/>
          </p:nvPr>
        </p:nvSpPr>
        <p:spPr>
          <a:xfrm>
            <a:off x="6109763" y="2226734"/>
            <a:ext cx="5860564" cy="4368030"/>
          </a:xfrm>
        </p:spPr>
        <p:txBody>
          <a:bodyPr>
            <a:normAutofit/>
          </a:bodyPr>
          <a:lstStyle/>
          <a:p>
            <a:pPr marL="0" indent="0">
              <a:buNone/>
            </a:pPr>
            <a:r>
              <a:rPr lang="en-IN" dirty="0"/>
              <a:t>The size of OPD record card recommended 9’’x6’’</a:t>
            </a:r>
          </a:p>
          <a:p>
            <a:pPr marL="0" indent="0">
              <a:buNone/>
            </a:pPr>
            <a:r>
              <a:rPr lang="en-IN" dirty="0"/>
              <a:t>Provision is made for Patient Name </a:t>
            </a:r>
          </a:p>
          <a:p>
            <a:pPr marL="0" indent="0">
              <a:buNone/>
            </a:pPr>
            <a:r>
              <a:rPr lang="en-IN" dirty="0"/>
              <a:t>Identification data </a:t>
            </a:r>
          </a:p>
          <a:p>
            <a:pPr marL="0" indent="0">
              <a:buNone/>
            </a:pPr>
            <a:r>
              <a:rPr lang="en-IN" dirty="0"/>
              <a:t>History</a:t>
            </a:r>
          </a:p>
          <a:p>
            <a:pPr marL="0" indent="0">
              <a:buNone/>
            </a:pPr>
            <a:r>
              <a:rPr lang="en-IN" dirty="0"/>
              <a:t>Physical examination finding s</a:t>
            </a:r>
          </a:p>
          <a:p>
            <a:pPr marL="0" indent="0">
              <a:buNone/>
            </a:pPr>
            <a:r>
              <a:rPr lang="en-IN" dirty="0"/>
              <a:t>Provisional diagnosis </a:t>
            </a:r>
          </a:p>
          <a:p>
            <a:pPr marL="0" indent="0">
              <a:buNone/>
            </a:pPr>
            <a:r>
              <a:rPr lang="en-IN" dirty="0"/>
              <a:t>Investigation and treatment </a:t>
            </a:r>
          </a:p>
          <a:p>
            <a:pPr marL="0" indent="0">
              <a:buNone/>
            </a:pPr>
            <a:r>
              <a:rPr lang="en-IN" dirty="0"/>
              <a:t>Diagnosis </a:t>
            </a:r>
          </a:p>
          <a:p>
            <a:pPr marL="0" indent="0">
              <a:buNone/>
            </a:pPr>
            <a:r>
              <a:rPr lang="en-IN" dirty="0"/>
              <a:t>Follow up </a:t>
            </a:r>
          </a:p>
          <a:p>
            <a:endParaRPr lang="en-IN" dirty="0"/>
          </a:p>
        </p:txBody>
      </p:sp>
    </p:spTree>
    <p:extLst>
      <p:ext uri="{BB962C8B-B14F-4D97-AF65-F5344CB8AC3E}">
        <p14:creationId xmlns:p14="http://schemas.microsoft.com/office/powerpoint/2010/main" val="10495657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BC78D44E-D132-4C90-B7C4-3AE841FA820F}"/>
              </a:ext>
            </a:extLst>
          </p:cNvPr>
          <p:cNvSpPr>
            <a:spLocks noGrp="1"/>
          </p:cNvSpPr>
          <p:nvPr>
            <p:ph type="title"/>
          </p:nvPr>
        </p:nvSpPr>
        <p:spPr/>
        <p:style>
          <a:lnRef idx="3">
            <a:schemeClr val="lt1"/>
          </a:lnRef>
          <a:fillRef idx="1">
            <a:schemeClr val="accent5"/>
          </a:fillRef>
          <a:effectRef idx="1">
            <a:schemeClr val="accent5"/>
          </a:effectRef>
          <a:fontRef idx="minor">
            <a:schemeClr val="lt1"/>
          </a:fontRef>
        </p:style>
        <p:txBody>
          <a:bodyPr/>
          <a:lstStyle/>
          <a:p>
            <a:r>
              <a:rPr lang="en-IN" dirty="0"/>
              <a:t>OUTPATIENT RECORD </a:t>
            </a:r>
          </a:p>
        </p:txBody>
      </p:sp>
      <p:sp>
        <p:nvSpPr>
          <p:cNvPr id="8" name="Content Placeholder 7">
            <a:extLst>
              <a:ext uri="{FF2B5EF4-FFF2-40B4-BE49-F238E27FC236}">
                <a16:creationId xmlns:a16="http://schemas.microsoft.com/office/drawing/2014/main" id="{105E9405-0B38-4CDA-A30C-6A3C038AFE61}"/>
              </a:ext>
            </a:extLst>
          </p:cNvPr>
          <p:cNvSpPr>
            <a:spLocks noGrp="1"/>
          </p:cNvSpPr>
          <p:nvPr>
            <p:ph idx="1"/>
          </p:nvPr>
        </p:nvSpPr>
        <p:spPr/>
        <p:txBody>
          <a:bodyPr/>
          <a:lstStyle/>
          <a:p>
            <a:r>
              <a:rPr lang="en-US" dirty="0"/>
              <a:t>MEDICAL RECORDS FOR THE OUTPATIENTS SHOULD ALSO BE PREPARED, PROCESSED AND STORED IN THE SAME MANNER AS THE INPATIENT’S RECORDS. </a:t>
            </a:r>
          </a:p>
          <a:p>
            <a:r>
              <a:rPr lang="en-US" dirty="0"/>
              <a:t>EACH INDIVIDUAL ATTENDING AN OPD IS GIVEN A REGISTRATION NUMBER AND ALL THE MEDICAL RECORDS ARE KEPT IN A FOLDER BEARING THE SAME NUMBER. </a:t>
            </a:r>
          </a:p>
          <a:p>
            <a:r>
              <a:rPr lang="en-US" dirty="0"/>
              <a:t>THE PATIENT IS ISSUED A TICKET/TOKEN BEARING THE REGISTRATION NUMBER. </a:t>
            </a:r>
          </a:p>
          <a:p>
            <a:r>
              <a:rPr lang="en-US" dirty="0"/>
              <a:t> THE INDIVIDUAL AT THE OPD RECORD ROOM SENDS THE FOLDER TO THE APPROPRIATE DEPARTMENT ON THE PRESENTATION OF TOKEN. THE FOLDER IS DEPOSITED BACK AFTER THE VISIT.</a:t>
            </a:r>
            <a:endParaRPr lang="en-IN" dirty="0"/>
          </a:p>
        </p:txBody>
      </p:sp>
    </p:spTree>
    <p:extLst>
      <p:ext uri="{BB962C8B-B14F-4D97-AF65-F5344CB8AC3E}">
        <p14:creationId xmlns:p14="http://schemas.microsoft.com/office/powerpoint/2010/main" val="2674259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4308AB-6DCE-4ECD-95E2-9F52633F3919}"/>
              </a:ext>
            </a:extLst>
          </p:cNvPr>
          <p:cNvSpPr>
            <a:spLocks noGrp="1"/>
          </p:cNvSpPr>
          <p:nvPr>
            <p:ph idx="1"/>
          </p:nvPr>
        </p:nvSpPr>
        <p:spPr>
          <a:xfrm>
            <a:off x="471055" y="2142067"/>
            <a:ext cx="10346171" cy="4494260"/>
          </a:xfrm>
        </p:spPr>
        <p:txBody>
          <a:bodyPr>
            <a:normAutofit lnSpcReduction="10000"/>
          </a:bodyPr>
          <a:lstStyle/>
          <a:p>
            <a:r>
              <a:rPr lang="en-US" dirty="0">
                <a:hlinkClick r:id="rId2" tooltip="IMPORTANT ACTIONS PERFORMED BY THE&#10;ADMITTING OFFICE ARE SUM..."/>
              </a:rPr>
              <a:t> </a:t>
            </a:r>
            <a:r>
              <a:rPr lang="en-US" dirty="0"/>
              <a:t>IMPORTANT ACTIONS PERFORMED BY THE ADMITTING OFFICE ARE SUMMARIZED BELOW</a:t>
            </a:r>
          </a:p>
          <a:p>
            <a:pPr marL="0" indent="0">
              <a:buNone/>
            </a:pPr>
            <a:r>
              <a:rPr lang="en-US" dirty="0"/>
              <a:t> a) </a:t>
            </a:r>
            <a:r>
              <a:rPr lang="en-US" sz="2400" b="1" dirty="0"/>
              <a:t>ADMITTING OFFICE: </a:t>
            </a:r>
          </a:p>
          <a:p>
            <a:r>
              <a:rPr lang="en-US" dirty="0"/>
              <a:t>INITIATES PATIENT’S HOSPITALIZATION RECORDS. </a:t>
            </a:r>
          </a:p>
          <a:p>
            <a:r>
              <a:rPr lang="en-US" dirty="0"/>
              <a:t>ASSIGNS ADMISSION NUMBER. </a:t>
            </a:r>
          </a:p>
          <a:p>
            <a:r>
              <a:rPr lang="en-US" dirty="0"/>
              <a:t> PREPARES ADMISSION RECORD:</a:t>
            </a:r>
          </a:p>
          <a:p>
            <a:r>
              <a:rPr lang="en-US" dirty="0"/>
              <a:t> </a:t>
            </a:r>
            <a:r>
              <a:rPr lang="en-US" dirty="0" err="1"/>
              <a:t>i</a:t>
            </a:r>
            <a:r>
              <a:rPr lang="en-US" dirty="0"/>
              <a:t>. ADMISSION NUMBER</a:t>
            </a:r>
          </a:p>
          <a:p>
            <a:r>
              <a:rPr lang="en-US" dirty="0"/>
              <a:t> </a:t>
            </a:r>
            <a:r>
              <a:rPr lang="en-US" dirty="0" err="1"/>
              <a:t>ii.IDENTIFYING</a:t>
            </a:r>
            <a:r>
              <a:rPr lang="en-US" dirty="0"/>
              <a:t> DATA</a:t>
            </a:r>
          </a:p>
          <a:p>
            <a:r>
              <a:rPr lang="en-US" dirty="0"/>
              <a:t> </a:t>
            </a:r>
            <a:r>
              <a:rPr lang="en-US" dirty="0" err="1"/>
              <a:t>iii.SIGNATURE</a:t>
            </a:r>
            <a:r>
              <a:rPr lang="en-US" dirty="0"/>
              <a:t> OF AUTHORIZATION </a:t>
            </a:r>
          </a:p>
          <a:p>
            <a:r>
              <a:rPr lang="en-US" dirty="0"/>
              <a:t>• SENDS PATIENT TO NURSING UNIT. </a:t>
            </a:r>
          </a:p>
          <a:p>
            <a:r>
              <a:rPr lang="en-US" dirty="0"/>
              <a:t>• SENDS ADMISSION RECORD TO NURSING UNIT.</a:t>
            </a:r>
          </a:p>
          <a:p>
            <a:r>
              <a:rPr lang="en-US" dirty="0"/>
              <a:t> • SENDS COPY OF ADMISSION RECORD TO ADMISSION CHECK DESK.</a:t>
            </a:r>
          </a:p>
          <a:p>
            <a:endParaRPr lang="en-IN" dirty="0"/>
          </a:p>
        </p:txBody>
      </p:sp>
      <p:sp>
        <p:nvSpPr>
          <p:cNvPr id="5" name="Title 1">
            <a:extLst>
              <a:ext uri="{FF2B5EF4-FFF2-40B4-BE49-F238E27FC236}">
                <a16:creationId xmlns:a16="http://schemas.microsoft.com/office/drawing/2014/main" id="{47C28894-5EC9-4D79-8310-19001CD0A985}"/>
              </a:ext>
            </a:extLst>
          </p:cNvPr>
          <p:cNvSpPr>
            <a:spLocks noGrp="1"/>
          </p:cNvSpPr>
          <p:nvPr>
            <p:ph type="title"/>
          </p:nvPr>
        </p:nvSpPr>
        <p:spPr>
          <a:xfrm>
            <a:off x="685800" y="609600"/>
            <a:ext cx="10131425" cy="1455738"/>
          </a:xfrm>
        </p:spPr>
        <p:style>
          <a:lnRef idx="3">
            <a:schemeClr val="lt1"/>
          </a:lnRef>
          <a:fillRef idx="1">
            <a:schemeClr val="accent5"/>
          </a:fillRef>
          <a:effectRef idx="1">
            <a:schemeClr val="accent5"/>
          </a:effectRef>
          <a:fontRef idx="minor">
            <a:schemeClr val="lt1"/>
          </a:fontRef>
        </p:style>
        <p:txBody>
          <a:bodyPr/>
          <a:lstStyle/>
          <a:p>
            <a:r>
              <a:rPr lang="en-IN" dirty="0"/>
              <a:t>INPATIENT RECORD </a:t>
            </a:r>
          </a:p>
        </p:txBody>
      </p:sp>
    </p:spTree>
    <p:extLst>
      <p:ext uri="{BB962C8B-B14F-4D97-AF65-F5344CB8AC3E}">
        <p14:creationId xmlns:p14="http://schemas.microsoft.com/office/powerpoint/2010/main" val="5323076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1AAAB4-0535-4B08-9D70-902A581F37FA}"/>
              </a:ext>
            </a:extLst>
          </p:cNvPr>
          <p:cNvSpPr>
            <a:spLocks noGrp="1"/>
          </p:cNvSpPr>
          <p:nvPr>
            <p:ph idx="1"/>
          </p:nvPr>
        </p:nvSpPr>
        <p:spPr>
          <a:xfrm>
            <a:off x="0" y="0"/>
            <a:ext cx="12191999" cy="6857999"/>
          </a:xfrm>
        </p:spPr>
        <p:txBody>
          <a:bodyPr>
            <a:normAutofit/>
          </a:bodyPr>
          <a:lstStyle/>
          <a:p>
            <a:r>
              <a:rPr lang="en-US" sz="2800" b="1" dirty="0"/>
              <a:t>B) ADMISSION CHECK DESK: </a:t>
            </a:r>
          </a:p>
          <a:p>
            <a:r>
              <a:rPr lang="en-US" dirty="0"/>
              <a:t> RECEIVES ADMISSION ADVICE FROM ADMITTING OFFICE. ENTERS THIS ADMISSION ON PATIENT INDEX CARD OF PREVIOUS ADMISSION. </a:t>
            </a:r>
          </a:p>
          <a:p>
            <a:r>
              <a:rPr lang="en-US" dirty="0"/>
              <a:t>IF NO PREVIOUS ADMISSION, MAKE NEW PATIENT INDEX CARD. </a:t>
            </a:r>
          </a:p>
          <a:p>
            <a:r>
              <a:rPr lang="en-US" dirty="0"/>
              <a:t>SENDS INDEX CARD TO INCOMPLETE RECORD CONTROL DESK. </a:t>
            </a:r>
          </a:p>
          <a:p>
            <a:r>
              <a:rPr lang="en-US" dirty="0"/>
              <a:t>SENDS RECORDS OF PREVIOUS ADMISSION TO NURSING UNIT.</a:t>
            </a:r>
          </a:p>
          <a:p>
            <a:r>
              <a:rPr lang="en-US" dirty="0"/>
              <a:t> PREPARES RECORD FOLDER WITH ADMISSION RECORD AND NAME AND</a:t>
            </a:r>
          </a:p>
          <a:p>
            <a:r>
              <a:rPr lang="en-US" dirty="0"/>
              <a:t> SENDS IT TO COMPLETE RECORDS CONTROL DESK. </a:t>
            </a:r>
          </a:p>
          <a:p>
            <a:r>
              <a:rPr lang="en-US" dirty="0"/>
              <a:t>MAKES ENTRIES TO ACCESSION REGISTER. </a:t>
            </a:r>
          </a:p>
          <a:p>
            <a:pPr marL="0" indent="0">
              <a:buNone/>
            </a:pPr>
            <a:r>
              <a:rPr lang="en-US" dirty="0"/>
              <a:t>C) </a:t>
            </a:r>
            <a:r>
              <a:rPr lang="en-US" sz="2600" b="1" dirty="0"/>
              <a:t>CENSUS DESK: </a:t>
            </a:r>
          </a:p>
          <a:p>
            <a:r>
              <a:rPr lang="en-US" dirty="0"/>
              <a:t>PREPARES ADMISSION LIST FROM ADMITTING OFFICE </a:t>
            </a:r>
          </a:p>
          <a:p>
            <a:r>
              <a:rPr lang="en-US" dirty="0"/>
              <a:t>COLLECTS DISCHARGE PATIENT RECORDS FROM NURSING UNITS DAILY. </a:t>
            </a:r>
          </a:p>
          <a:p>
            <a:r>
              <a:rPr lang="en-US" dirty="0"/>
              <a:t> PREPARES DISCHARGE LIST. </a:t>
            </a:r>
          </a:p>
          <a:p>
            <a:r>
              <a:rPr lang="en-US" dirty="0"/>
              <a:t> PREPARES CENSUS REPORTS.</a:t>
            </a:r>
            <a:endParaRPr lang="en-IN" dirty="0"/>
          </a:p>
        </p:txBody>
      </p:sp>
    </p:spTree>
    <p:extLst>
      <p:ext uri="{BB962C8B-B14F-4D97-AF65-F5344CB8AC3E}">
        <p14:creationId xmlns:p14="http://schemas.microsoft.com/office/powerpoint/2010/main" val="1997806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7AB9FF6-4C58-4B1A-8747-AA48CCD32152}"/>
              </a:ext>
            </a:extLst>
          </p:cNvPr>
          <p:cNvPicPr>
            <a:picLocks noChangeAspect="1"/>
          </p:cNvPicPr>
          <p:nvPr/>
        </p:nvPicPr>
        <p:blipFill>
          <a:blip r:embed="rId2"/>
          <a:stretch>
            <a:fillRect/>
          </a:stretch>
        </p:blipFill>
        <p:spPr>
          <a:xfrm>
            <a:off x="235528" y="110836"/>
            <a:ext cx="11596254" cy="6594764"/>
          </a:xfrm>
          <a:prstGeom prst="rect">
            <a:avLst/>
          </a:prstGeom>
        </p:spPr>
      </p:pic>
    </p:spTree>
    <p:extLst>
      <p:ext uri="{BB962C8B-B14F-4D97-AF65-F5344CB8AC3E}">
        <p14:creationId xmlns:p14="http://schemas.microsoft.com/office/powerpoint/2010/main" val="42741412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78F2E47-2A07-4E71-B5BE-CCDF34BEA4FF}"/>
              </a:ext>
            </a:extLst>
          </p:cNvPr>
          <p:cNvPicPr>
            <a:picLocks noChangeAspect="1"/>
          </p:cNvPicPr>
          <p:nvPr/>
        </p:nvPicPr>
        <p:blipFill>
          <a:blip r:embed="rId2"/>
          <a:stretch>
            <a:fillRect/>
          </a:stretch>
        </p:blipFill>
        <p:spPr>
          <a:xfrm>
            <a:off x="96982" y="0"/>
            <a:ext cx="12095018" cy="6858000"/>
          </a:xfrm>
          <a:prstGeom prst="rect">
            <a:avLst/>
          </a:prstGeom>
        </p:spPr>
      </p:pic>
    </p:spTree>
    <p:extLst>
      <p:ext uri="{BB962C8B-B14F-4D97-AF65-F5344CB8AC3E}">
        <p14:creationId xmlns:p14="http://schemas.microsoft.com/office/powerpoint/2010/main" val="17388985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909F9D1-E9E7-44BB-8051-C2BFCD008817}"/>
              </a:ext>
            </a:extLst>
          </p:cNvPr>
          <p:cNvSpPr>
            <a:spLocks noGrp="1"/>
          </p:cNvSpPr>
          <p:nvPr>
            <p:ph type="title"/>
          </p:nvPr>
        </p:nvSpPr>
        <p:spPr>
          <a:xfrm>
            <a:off x="512619" y="443346"/>
            <a:ext cx="10304608" cy="845127"/>
          </a:xfrm>
        </p:spPr>
        <p:style>
          <a:lnRef idx="2">
            <a:schemeClr val="accent2"/>
          </a:lnRef>
          <a:fillRef idx="1">
            <a:schemeClr val="lt1"/>
          </a:fillRef>
          <a:effectRef idx="0">
            <a:schemeClr val="accent2"/>
          </a:effectRef>
          <a:fontRef idx="minor">
            <a:schemeClr val="dk1"/>
          </a:fontRef>
        </p:style>
        <p:txBody>
          <a:bodyPr/>
          <a:lstStyle/>
          <a:p>
            <a:r>
              <a:rPr lang="en-IN" b="1" dirty="0"/>
              <a:t>ASSEMBLING OF RECORDS AND DEFICIENCY CHECK</a:t>
            </a:r>
          </a:p>
        </p:txBody>
      </p:sp>
      <p:sp>
        <p:nvSpPr>
          <p:cNvPr id="4" name="Content Placeholder 3">
            <a:extLst>
              <a:ext uri="{FF2B5EF4-FFF2-40B4-BE49-F238E27FC236}">
                <a16:creationId xmlns:a16="http://schemas.microsoft.com/office/drawing/2014/main" id="{E395F5F0-F87C-4A8E-8B13-D1D0A43905A2}"/>
              </a:ext>
            </a:extLst>
          </p:cNvPr>
          <p:cNvSpPr>
            <a:spLocks noGrp="1"/>
          </p:cNvSpPr>
          <p:nvPr>
            <p:ph idx="1"/>
          </p:nvPr>
        </p:nvSpPr>
        <p:spPr>
          <a:xfrm>
            <a:off x="512619" y="1648691"/>
            <a:ext cx="10304608" cy="5070764"/>
          </a:xfrm>
        </p:spPr>
        <p:txBody>
          <a:bodyPr>
            <a:noAutofit/>
          </a:bodyPr>
          <a:lstStyle/>
          <a:p>
            <a:r>
              <a:rPr lang="en-IN" sz="2400" dirty="0"/>
              <a:t>To assemble records in the following order </a:t>
            </a:r>
          </a:p>
          <a:p>
            <a:r>
              <a:rPr lang="en-IN" sz="2400" dirty="0"/>
              <a:t>Face sheet, case </a:t>
            </a:r>
            <a:r>
              <a:rPr lang="en-IN" sz="2400" dirty="0" err="1"/>
              <a:t>summuary</a:t>
            </a:r>
            <a:r>
              <a:rPr lang="en-IN" sz="2400" dirty="0"/>
              <a:t> , and discharge records , history and physical examination labour record, consultation record, laboratory and other investigation reports, anaesthesia record, operation record, nurses record, temperature chart and OPD card .</a:t>
            </a:r>
          </a:p>
          <a:p>
            <a:r>
              <a:rPr lang="en-IN" sz="2400" dirty="0"/>
              <a:t>Tag the case sheets, keeping in view that the MR number is not missing while tagging.</a:t>
            </a:r>
          </a:p>
          <a:p>
            <a:r>
              <a:rPr lang="en-IN" sz="2400" dirty="0"/>
              <a:t>To check the complete and incomplete case sheets.</a:t>
            </a:r>
          </a:p>
          <a:p>
            <a:r>
              <a:rPr lang="en-IN" sz="2400" dirty="0"/>
              <a:t>The complete case sheets be filed in the proper filing area and incomplete case sheets be sent to doctor’s room for completion .</a:t>
            </a:r>
          </a:p>
          <a:p>
            <a:r>
              <a:rPr lang="en-IN" sz="2400" dirty="0"/>
              <a:t>The incomplete records should be filed  </a:t>
            </a:r>
            <a:r>
              <a:rPr lang="en-IN" sz="2400" dirty="0" err="1"/>
              <a:t>unitwise</a:t>
            </a:r>
            <a:r>
              <a:rPr lang="en-IN" sz="2400" dirty="0"/>
              <a:t>.</a:t>
            </a:r>
          </a:p>
          <a:p>
            <a:r>
              <a:rPr lang="en-IN" sz="2400" dirty="0"/>
              <a:t>Submission of list for incomplete records to hospital administrators periodically .</a:t>
            </a:r>
          </a:p>
        </p:txBody>
      </p:sp>
    </p:spTree>
    <p:extLst>
      <p:ext uri="{BB962C8B-B14F-4D97-AF65-F5344CB8AC3E}">
        <p14:creationId xmlns:p14="http://schemas.microsoft.com/office/powerpoint/2010/main" val="30420347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D8195-1310-4D52-AF4E-EE87B542B3B5}"/>
              </a:ext>
            </a:extLst>
          </p:cNvPr>
          <p:cNvSpPr>
            <a:spLocks noGrp="1"/>
          </p:cNvSpPr>
          <p:nvPr>
            <p:ph type="title"/>
          </p:nvPr>
        </p:nvSpPr>
        <p:spPr>
          <a:xfrm>
            <a:off x="685801" y="609600"/>
            <a:ext cx="10131425" cy="997527"/>
          </a:xfrm>
        </p:spPr>
        <p:style>
          <a:lnRef idx="2">
            <a:schemeClr val="dk1"/>
          </a:lnRef>
          <a:fillRef idx="1">
            <a:schemeClr val="lt1"/>
          </a:fillRef>
          <a:effectRef idx="0">
            <a:schemeClr val="dk1"/>
          </a:effectRef>
          <a:fontRef idx="minor">
            <a:schemeClr val="dk1"/>
          </a:fontRef>
        </p:style>
        <p:txBody>
          <a:bodyPr/>
          <a:lstStyle/>
          <a:p>
            <a:r>
              <a:rPr lang="en-IN" b="1" dirty="0"/>
              <a:t>Coding </a:t>
            </a:r>
          </a:p>
        </p:txBody>
      </p:sp>
      <p:sp>
        <p:nvSpPr>
          <p:cNvPr id="3" name="Content Placeholder 2">
            <a:extLst>
              <a:ext uri="{FF2B5EF4-FFF2-40B4-BE49-F238E27FC236}">
                <a16:creationId xmlns:a16="http://schemas.microsoft.com/office/drawing/2014/main" id="{A7B7DD47-1666-4F06-A724-B8E8D7B042B4}"/>
              </a:ext>
            </a:extLst>
          </p:cNvPr>
          <p:cNvSpPr>
            <a:spLocks noGrp="1"/>
          </p:cNvSpPr>
          <p:nvPr>
            <p:ph idx="1"/>
          </p:nvPr>
        </p:nvSpPr>
        <p:spPr>
          <a:xfrm>
            <a:off x="685801" y="1704109"/>
            <a:ext cx="10131425" cy="4087091"/>
          </a:xfrm>
        </p:spPr>
        <p:txBody>
          <a:bodyPr>
            <a:normAutofit/>
          </a:bodyPr>
          <a:lstStyle/>
          <a:p>
            <a:r>
              <a:rPr lang="en-US" dirty="0"/>
              <a:t>IN EACH MEDICAL RECORDS INTERNATIONAL CODE NUMBER IS ASSIGNED TO THE DIAGNOSIS BASED ON “INTERNATIONAL CLASSIFICATION OF DISEASE” ISSUED BY THE WORLD HEALTH ORGANISATION.  </a:t>
            </a:r>
          </a:p>
          <a:p>
            <a:r>
              <a:rPr lang="en-US" dirty="0"/>
              <a:t>THIS IS TO BRING ABOUT ACCURACY AND UNIFORMITY IN THE REPORTING OF THE DISEASES BY THE VARIOUS HOSPITALS.</a:t>
            </a:r>
            <a:endParaRPr lang="en-IN" sz="2800" b="1" dirty="0"/>
          </a:p>
        </p:txBody>
      </p:sp>
    </p:spTree>
    <p:extLst>
      <p:ext uri="{BB962C8B-B14F-4D97-AF65-F5344CB8AC3E}">
        <p14:creationId xmlns:p14="http://schemas.microsoft.com/office/powerpoint/2010/main" val="921923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678C7-203F-47A5-82E4-FF3FA81459EE}"/>
              </a:ext>
            </a:extLst>
          </p:cNvPr>
          <p:cNvSpPr>
            <a:spLocks noGrp="1"/>
          </p:cNvSpPr>
          <p:nvPr>
            <p:ph type="title"/>
          </p:nvPr>
        </p:nvSpPr>
        <p:spPr>
          <a:xfrm>
            <a:off x="554183" y="609600"/>
            <a:ext cx="10263043" cy="748145"/>
          </a:xfrm>
        </p:spPr>
        <p:style>
          <a:lnRef idx="2">
            <a:schemeClr val="dk1"/>
          </a:lnRef>
          <a:fillRef idx="1">
            <a:schemeClr val="lt1"/>
          </a:fillRef>
          <a:effectRef idx="0">
            <a:schemeClr val="dk1"/>
          </a:effectRef>
          <a:fontRef idx="minor">
            <a:schemeClr val="dk1"/>
          </a:fontRef>
        </p:style>
        <p:txBody>
          <a:bodyPr/>
          <a:lstStyle/>
          <a:p>
            <a:r>
              <a:rPr lang="en-IN" b="1" dirty="0" err="1"/>
              <a:t>Icd</a:t>
            </a:r>
            <a:r>
              <a:rPr lang="en-IN" b="1" dirty="0"/>
              <a:t> (international classification of diseases)</a:t>
            </a:r>
          </a:p>
        </p:txBody>
      </p:sp>
      <p:sp>
        <p:nvSpPr>
          <p:cNvPr id="3" name="Content Placeholder 2">
            <a:extLst>
              <a:ext uri="{FF2B5EF4-FFF2-40B4-BE49-F238E27FC236}">
                <a16:creationId xmlns:a16="http://schemas.microsoft.com/office/drawing/2014/main" id="{D76996A4-AA48-4320-A7D8-AFFE43C9CBB5}"/>
              </a:ext>
            </a:extLst>
          </p:cNvPr>
          <p:cNvSpPr>
            <a:spLocks noGrp="1"/>
          </p:cNvSpPr>
          <p:nvPr>
            <p:ph idx="1"/>
          </p:nvPr>
        </p:nvSpPr>
        <p:spPr>
          <a:xfrm>
            <a:off x="554183" y="1357745"/>
            <a:ext cx="10263044" cy="4987637"/>
          </a:xfrm>
        </p:spPr>
        <p:txBody>
          <a:bodyPr>
            <a:normAutofit/>
          </a:bodyPr>
          <a:lstStyle/>
          <a:p>
            <a:pPr algn="just"/>
            <a:r>
              <a:rPr lang="en-IN" sz="2800" dirty="0"/>
              <a:t>Classification of diseases  and operations is one of the most important functions of the </a:t>
            </a:r>
            <a:r>
              <a:rPr lang="en-IN" sz="2800" dirty="0" err="1"/>
              <a:t>medicval</a:t>
            </a:r>
            <a:r>
              <a:rPr lang="en-IN" sz="2800" dirty="0"/>
              <a:t> record department .a well organised MRD selects one of the best suited International Classification Systems to code and index diseases and operations for the collection of morbidity and mortality information .</a:t>
            </a:r>
          </a:p>
          <a:p>
            <a:pPr algn="just"/>
            <a:r>
              <a:rPr lang="en-IN" sz="2800" dirty="0"/>
              <a:t>The international conference for the tenth revision of the INTERNATIONAL CLASSIFICATION OF DISEASES was convened by the World Health Organisation  at WHO Headquarters in GENEVA from 26 </a:t>
            </a:r>
            <a:r>
              <a:rPr lang="en-IN" sz="2800" dirty="0" err="1"/>
              <a:t>th</a:t>
            </a:r>
            <a:r>
              <a:rPr lang="en-IN" sz="2800" dirty="0"/>
              <a:t> September to 2 October 1989.The conference was attended by delegates from 43 member states</a:t>
            </a:r>
            <a:r>
              <a:rPr lang="en-IN" dirty="0"/>
              <a:t>.</a:t>
            </a:r>
          </a:p>
        </p:txBody>
      </p:sp>
    </p:spTree>
    <p:extLst>
      <p:ext uri="{BB962C8B-B14F-4D97-AF65-F5344CB8AC3E}">
        <p14:creationId xmlns:p14="http://schemas.microsoft.com/office/powerpoint/2010/main" val="29418465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8266D-5793-4026-B521-B96CEDF441D4}"/>
              </a:ext>
            </a:extLst>
          </p:cNvPr>
          <p:cNvSpPr>
            <a:spLocks noGrp="1"/>
          </p:cNvSpPr>
          <p:nvPr>
            <p:ph type="title"/>
          </p:nvPr>
        </p:nvSpPr>
        <p:spPr>
          <a:xfrm>
            <a:off x="636025" y="609600"/>
            <a:ext cx="10181202" cy="831273"/>
          </a:xfrm>
        </p:spPr>
        <p:txBody>
          <a:bodyPr/>
          <a:lstStyle/>
          <a:p>
            <a:endParaRPr lang="en-IN" dirty="0"/>
          </a:p>
        </p:txBody>
      </p:sp>
      <p:sp>
        <p:nvSpPr>
          <p:cNvPr id="3" name="Content Placeholder 2">
            <a:extLst>
              <a:ext uri="{FF2B5EF4-FFF2-40B4-BE49-F238E27FC236}">
                <a16:creationId xmlns:a16="http://schemas.microsoft.com/office/drawing/2014/main" id="{599783A1-F2BB-4F53-96FE-71479873CFE6}"/>
              </a:ext>
            </a:extLst>
          </p:cNvPr>
          <p:cNvSpPr>
            <a:spLocks noGrp="1"/>
          </p:cNvSpPr>
          <p:nvPr>
            <p:ph idx="1"/>
          </p:nvPr>
        </p:nvSpPr>
        <p:spPr>
          <a:xfrm>
            <a:off x="451216" y="1440873"/>
            <a:ext cx="10784819" cy="5195454"/>
          </a:xfrm>
        </p:spPr>
        <p:txBody>
          <a:bodyPr>
            <a:normAutofit/>
          </a:bodyPr>
          <a:lstStyle/>
          <a:p>
            <a:r>
              <a:rPr lang="en-US" sz="2000" dirty="0"/>
              <a:t>a) </a:t>
            </a:r>
            <a:r>
              <a:rPr lang="en-US" sz="2000" b="1" u="sng" dirty="0"/>
              <a:t>ALPHABETIC/ MASTER INDEX</a:t>
            </a:r>
            <a:r>
              <a:rPr lang="en-US" sz="2000" dirty="0"/>
              <a:t>: INDEXING BASED ON PATIENT’S NAME SEQUENCED ALPHABETICALLY. THE PRIMARY PURPOSE OF A NAME INDEX IS TO PROVIDE ENTRY INTO THE FILING SYSTEM AND FINDING OUT MEDICAL RECORD FOR A PATIENT. </a:t>
            </a:r>
          </a:p>
          <a:p>
            <a:r>
              <a:rPr lang="en-US" sz="2000" dirty="0"/>
              <a:t>b) </a:t>
            </a:r>
            <a:r>
              <a:rPr lang="en-US" sz="2000" b="1" u="sng" dirty="0"/>
              <a:t>DISEASE INDEX</a:t>
            </a:r>
            <a:r>
              <a:rPr lang="en-US" sz="2000" dirty="0"/>
              <a:t>: DISEASE INDEX IS A CATALOGUE OF CARDS 3” X 5” OR 5” X 8”, MAINTAINED TO FIND OUT GROUPS OF CLINICAL RECORDS OF PATIENTS HAVING THE SAME DIAGNOSIS. BESIDES PATIENT’S IDENTIFICATION DATA, AGE, GENDER, RESULT OF TREATMENT AND COMPLICATION MAY ALSO BE MENTIONED.</a:t>
            </a:r>
          </a:p>
          <a:p>
            <a:r>
              <a:rPr lang="en-US" sz="2000" dirty="0"/>
              <a:t> c) </a:t>
            </a:r>
            <a:r>
              <a:rPr lang="en-US" sz="2000" b="1" u="sng" dirty="0"/>
              <a:t>OPERATION INDEX: </a:t>
            </a:r>
            <a:r>
              <a:rPr lang="en-US" sz="2000" dirty="0"/>
              <a:t>IT IS A CATALOGUE CONTAINING THE DETAILS OF PATIENTS WHO HAVE UNDERGONE THE OPERATIONS.</a:t>
            </a:r>
          </a:p>
          <a:p>
            <a:r>
              <a:rPr lang="en-US" sz="2000" dirty="0"/>
              <a:t> d) </a:t>
            </a:r>
            <a:r>
              <a:rPr lang="en-US" sz="2000" b="1" u="sng" dirty="0"/>
              <a:t>PHYSICIAN’S INDEX</a:t>
            </a:r>
            <a:r>
              <a:rPr lang="en-US" sz="2000" dirty="0"/>
              <a:t>: CATALOGUE CONTAINING THE DETAILS OF ALL PATIENTS TREATED BY PARTICULAR PHYSICIANS. ANALYSIS OF SUCH RECORDS MAY BE UTILIZED FOR EVALUATING THE PERFORMANCE OF A PHYSICIAN.</a:t>
            </a:r>
          </a:p>
          <a:p>
            <a:r>
              <a:rPr lang="en-US" sz="2000" dirty="0"/>
              <a:t> e) </a:t>
            </a:r>
            <a:r>
              <a:rPr lang="en-US" sz="2000" b="1" u="sng" dirty="0"/>
              <a:t>UNIT INDEX</a:t>
            </a:r>
            <a:r>
              <a:rPr lang="en-US" sz="2000" dirty="0"/>
              <a:t>: DETAILS OF ALL THE PATIENTS TREATED IN A PARTICULAR UNIT ARE INDEXED. THESE RECORDS MAY ULTIMATELY BE UTILIZED TO EVALUATE THE PERFORMANCE OF A PARTICULAR UNIT.</a:t>
            </a:r>
            <a:endParaRPr lang="en-IN" sz="2000" dirty="0"/>
          </a:p>
        </p:txBody>
      </p:sp>
      <p:pic>
        <p:nvPicPr>
          <p:cNvPr id="5" name="Picture 4">
            <a:extLst>
              <a:ext uri="{FF2B5EF4-FFF2-40B4-BE49-F238E27FC236}">
                <a16:creationId xmlns:a16="http://schemas.microsoft.com/office/drawing/2014/main" id="{AD51B1E6-23BA-4C03-900B-0CF0F68D259B}"/>
              </a:ext>
            </a:extLst>
          </p:cNvPr>
          <p:cNvPicPr>
            <a:picLocks noChangeAspect="1"/>
          </p:cNvPicPr>
          <p:nvPr/>
        </p:nvPicPr>
        <p:blipFill>
          <a:blip r:embed="rId2"/>
          <a:stretch>
            <a:fillRect/>
          </a:stretch>
        </p:blipFill>
        <p:spPr>
          <a:xfrm>
            <a:off x="451217" y="609600"/>
            <a:ext cx="10646274" cy="928255"/>
          </a:xfrm>
          <a:prstGeom prst="rect">
            <a:avLst/>
          </a:prstGeom>
        </p:spPr>
      </p:pic>
    </p:spTree>
    <p:extLst>
      <p:ext uri="{BB962C8B-B14F-4D97-AF65-F5344CB8AC3E}">
        <p14:creationId xmlns:p14="http://schemas.microsoft.com/office/powerpoint/2010/main" val="32014610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195FE1-2A55-449E-8899-B851B45A5FF5}"/>
              </a:ext>
            </a:extLst>
          </p:cNvPr>
          <p:cNvSpPr>
            <a:spLocks noGrp="1"/>
          </p:cNvSpPr>
          <p:nvPr>
            <p:ph type="title"/>
          </p:nvPr>
        </p:nvSpPr>
        <p:spPr>
          <a:xfrm>
            <a:off x="831273" y="609600"/>
            <a:ext cx="9985953" cy="845127"/>
          </a:xfrm>
        </p:spPr>
        <p:style>
          <a:lnRef idx="2">
            <a:schemeClr val="dk1"/>
          </a:lnRef>
          <a:fillRef idx="1">
            <a:schemeClr val="lt1"/>
          </a:fillRef>
          <a:effectRef idx="0">
            <a:schemeClr val="dk1"/>
          </a:effectRef>
          <a:fontRef idx="minor">
            <a:schemeClr val="dk1"/>
          </a:fontRef>
        </p:style>
        <p:txBody>
          <a:bodyPr/>
          <a:lstStyle/>
          <a:p>
            <a:r>
              <a:rPr lang="en-IN" b="1" dirty="0"/>
              <a:t>Indexing </a:t>
            </a:r>
          </a:p>
        </p:txBody>
      </p:sp>
      <p:sp>
        <p:nvSpPr>
          <p:cNvPr id="5" name="Content Placeholder 4">
            <a:extLst>
              <a:ext uri="{FF2B5EF4-FFF2-40B4-BE49-F238E27FC236}">
                <a16:creationId xmlns:a16="http://schemas.microsoft.com/office/drawing/2014/main" id="{459F6E6D-0F19-48C5-8727-4E8D10358613}"/>
              </a:ext>
            </a:extLst>
          </p:cNvPr>
          <p:cNvSpPr>
            <a:spLocks noGrp="1"/>
          </p:cNvSpPr>
          <p:nvPr>
            <p:ph idx="1"/>
          </p:nvPr>
        </p:nvSpPr>
        <p:spPr>
          <a:xfrm>
            <a:off x="831273" y="1454727"/>
            <a:ext cx="10529454" cy="5250873"/>
          </a:xfrm>
        </p:spPr>
        <p:txBody>
          <a:bodyPr/>
          <a:lstStyle/>
          <a:p>
            <a:pPr marL="0" indent="0">
              <a:buNone/>
            </a:pPr>
            <a:r>
              <a:rPr lang="en-IN" sz="2400" dirty="0"/>
              <a:t>A physician or a medical staff can use this index  for the following purpose.</a:t>
            </a:r>
          </a:p>
          <a:p>
            <a:pPr marL="457200" indent="-457200">
              <a:buFont typeface="+mj-lt"/>
              <a:buAutoNum type="arabicPeriod"/>
            </a:pPr>
            <a:r>
              <a:rPr lang="en-IN" sz="2400" dirty="0"/>
              <a:t>Review cases of  disease to provide the management a scenario of current health problem .</a:t>
            </a:r>
          </a:p>
          <a:p>
            <a:pPr marL="457200" indent="-457200">
              <a:buFont typeface="+mj-lt"/>
              <a:buAutoNum type="arabicPeriod"/>
            </a:pPr>
            <a:r>
              <a:rPr lang="en-IN" sz="2400" dirty="0"/>
              <a:t>Compose data on diseases in order to prepare scientific papers .</a:t>
            </a:r>
          </a:p>
          <a:p>
            <a:pPr marL="457200" indent="-457200">
              <a:buFont typeface="+mj-lt"/>
              <a:buAutoNum type="arabicPeriod"/>
            </a:pPr>
            <a:r>
              <a:rPr lang="en-IN" sz="2400" dirty="0"/>
              <a:t>Procure data on the utilization of hospital facilities and increase the needs such as equipment and beds.</a:t>
            </a:r>
          </a:p>
          <a:p>
            <a:pPr marL="457200" indent="-457200">
              <a:buFont typeface="+mj-lt"/>
              <a:buAutoNum type="arabicPeriod"/>
            </a:pPr>
            <a:r>
              <a:rPr lang="en-IN" sz="2400" dirty="0"/>
              <a:t>Evaluate the quality of care in the hospital.</a:t>
            </a:r>
          </a:p>
          <a:p>
            <a:pPr marL="457200" indent="-457200">
              <a:buFont typeface="+mj-lt"/>
              <a:buAutoNum type="arabicPeriod"/>
            </a:pPr>
            <a:r>
              <a:rPr lang="en-IN" sz="2400" dirty="0"/>
              <a:t>Providing patient care data for committees.</a:t>
            </a:r>
          </a:p>
          <a:p>
            <a:pPr marL="457200" indent="-457200">
              <a:buFont typeface="+mj-lt"/>
              <a:buAutoNum type="arabicPeriod"/>
            </a:pPr>
            <a:r>
              <a:rPr lang="en-IN" sz="2400" dirty="0"/>
              <a:t>Data on the medical practice in the hospital.</a:t>
            </a:r>
          </a:p>
          <a:p>
            <a:pPr marL="457200" indent="-457200">
              <a:buFont typeface="+mj-lt"/>
              <a:buAutoNum type="arabicPeriod"/>
            </a:pPr>
            <a:r>
              <a:rPr lang="en-IN" sz="2400" dirty="0"/>
              <a:t>Data on drug trail for research </a:t>
            </a:r>
          </a:p>
          <a:p>
            <a:endParaRPr lang="en-IN" dirty="0"/>
          </a:p>
        </p:txBody>
      </p:sp>
    </p:spTree>
    <p:extLst>
      <p:ext uri="{BB962C8B-B14F-4D97-AF65-F5344CB8AC3E}">
        <p14:creationId xmlns:p14="http://schemas.microsoft.com/office/powerpoint/2010/main" val="24898849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971F9-DB22-4B13-8069-76FBA09FCF54}"/>
              </a:ext>
            </a:extLst>
          </p:cNvPr>
          <p:cNvSpPr>
            <a:spLocks noGrp="1"/>
          </p:cNvSpPr>
          <p:nvPr>
            <p:ph type="title"/>
          </p:nvPr>
        </p:nvSpPr>
        <p:spPr>
          <a:xfrm>
            <a:off x="685801" y="360219"/>
            <a:ext cx="10131425" cy="651163"/>
          </a:xfrm>
        </p:spPr>
        <p:style>
          <a:lnRef idx="2">
            <a:schemeClr val="dk1"/>
          </a:lnRef>
          <a:fillRef idx="1">
            <a:schemeClr val="lt1"/>
          </a:fillRef>
          <a:effectRef idx="0">
            <a:schemeClr val="dk1"/>
          </a:effectRef>
          <a:fontRef idx="minor">
            <a:schemeClr val="dk1"/>
          </a:fontRef>
        </p:style>
        <p:txBody>
          <a:bodyPr/>
          <a:lstStyle/>
          <a:p>
            <a:r>
              <a:rPr lang="en-IN" b="1" dirty="0"/>
              <a:t>Patient index </a:t>
            </a:r>
          </a:p>
        </p:txBody>
      </p:sp>
      <p:sp>
        <p:nvSpPr>
          <p:cNvPr id="3" name="Content Placeholder 2">
            <a:extLst>
              <a:ext uri="{FF2B5EF4-FFF2-40B4-BE49-F238E27FC236}">
                <a16:creationId xmlns:a16="http://schemas.microsoft.com/office/drawing/2014/main" id="{631AA3A3-4DB3-4899-86A2-2CD757887153}"/>
              </a:ext>
            </a:extLst>
          </p:cNvPr>
          <p:cNvSpPr>
            <a:spLocks noGrp="1"/>
          </p:cNvSpPr>
          <p:nvPr>
            <p:ph idx="1"/>
          </p:nvPr>
        </p:nvSpPr>
        <p:spPr>
          <a:xfrm>
            <a:off x="685801" y="1011382"/>
            <a:ext cx="10131425" cy="5721928"/>
          </a:xfrm>
        </p:spPr>
        <p:txBody>
          <a:bodyPr>
            <a:noAutofit/>
          </a:bodyPr>
          <a:lstStyle/>
          <a:p>
            <a:pPr marL="0" indent="0">
              <a:buNone/>
            </a:pPr>
            <a:r>
              <a:rPr lang="en-IN" sz="2400" dirty="0"/>
              <a:t>8.Sort out the cards in the alphabetical order </a:t>
            </a:r>
          </a:p>
          <a:p>
            <a:pPr marL="0" indent="0">
              <a:buNone/>
            </a:pPr>
            <a:r>
              <a:rPr lang="en-IN" sz="2400" dirty="0"/>
              <a:t>9.File in the patient index cabinet strictly in alphabetical order.</a:t>
            </a:r>
          </a:p>
          <a:p>
            <a:pPr marL="0" indent="0">
              <a:buNone/>
            </a:pPr>
            <a:r>
              <a:rPr lang="en-IN" sz="2400" dirty="0"/>
              <a:t>10.Take help of this index if the MR number has to be found out only by name. Sometimes the patient does not remember the date of admission in the hospital .</a:t>
            </a:r>
          </a:p>
          <a:p>
            <a:pPr marL="0" indent="0">
              <a:buNone/>
            </a:pPr>
            <a:r>
              <a:rPr lang="en-IN" sz="2400" b="1" u="sng" dirty="0"/>
              <a:t>INDEXING ( DIAGNOSTIC)</a:t>
            </a:r>
          </a:p>
          <a:p>
            <a:r>
              <a:rPr lang="en-IN" sz="2400" dirty="0"/>
              <a:t>Indexing of all cases with multiple code numbers.</a:t>
            </a:r>
          </a:p>
          <a:p>
            <a:r>
              <a:rPr lang="en-IN" sz="2400" dirty="0"/>
              <a:t>Put the year and code number on the top of the card used, the first card as A1, back A2 so on.</a:t>
            </a:r>
          </a:p>
          <a:p>
            <a:r>
              <a:rPr lang="en-IN" sz="2400" dirty="0"/>
              <a:t>Make entries of MR numbers , age and sex, complication unit, duration of stay .</a:t>
            </a:r>
          </a:p>
          <a:p>
            <a:r>
              <a:rPr lang="en-IN" sz="2400" dirty="0"/>
              <a:t>Compilation of provisional diagnosis in code numbers , later on monthly basis .</a:t>
            </a:r>
          </a:p>
        </p:txBody>
      </p:sp>
    </p:spTree>
    <p:extLst>
      <p:ext uri="{BB962C8B-B14F-4D97-AF65-F5344CB8AC3E}">
        <p14:creationId xmlns:p14="http://schemas.microsoft.com/office/powerpoint/2010/main" val="509108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47D05-95B7-44CF-855A-87D173375C48}"/>
              </a:ext>
            </a:extLst>
          </p:cNvPr>
          <p:cNvSpPr>
            <a:spLocks noGrp="1"/>
          </p:cNvSpPr>
          <p:nvPr>
            <p:ph type="title"/>
          </p:nvPr>
        </p:nvSpPr>
        <p:spPr>
          <a:xfrm>
            <a:off x="512618" y="609601"/>
            <a:ext cx="10304608" cy="900544"/>
          </a:xfrm>
        </p:spPr>
        <p:style>
          <a:lnRef idx="2">
            <a:schemeClr val="dk1"/>
          </a:lnRef>
          <a:fillRef idx="1">
            <a:schemeClr val="lt1"/>
          </a:fillRef>
          <a:effectRef idx="0">
            <a:schemeClr val="dk1"/>
          </a:effectRef>
          <a:fontRef idx="minor">
            <a:schemeClr val="dk1"/>
          </a:fontRef>
        </p:style>
        <p:txBody>
          <a:bodyPr/>
          <a:lstStyle/>
          <a:p>
            <a:r>
              <a:rPr lang="en-US" b="1" dirty="0"/>
              <a:t>STORAGE AND RETRIEVAL</a:t>
            </a:r>
            <a:endParaRPr lang="en-IN" b="1" dirty="0"/>
          </a:p>
        </p:txBody>
      </p:sp>
      <p:sp>
        <p:nvSpPr>
          <p:cNvPr id="3" name="Content Placeholder 2">
            <a:extLst>
              <a:ext uri="{FF2B5EF4-FFF2-40B4-BE49-F238E27FC236}">
                <a16:creationId xmlns:a16="http://schemas.microsoft.com/office/drawing/2014/main" id="{3A05E7DC-27E9-4304-91D8-7F5D5AB5FEFA}"/>
              </a:ext>
            </a:extLst>
          </p:cNvPr>
          <p:cNvSpPr>
            <a:spLocks noGrp="1"/>
          </p:cNvSpPr>
          <p:nvPr>
            <p:ph idx="1"/>
          </p:nvPr>
        </p:nvSpPr>
        <p:spPr>
          <a:xfrm>
            <a:off x="512619" y="1648691"/>
            <a:ext cx="10304608" cy="4946073"/>
          </a:xfrm>
        </p:spPr>
        <p:txBody>
          <a:bodyPr>
            <a:normAutofit/>
          </a:bodyPr>
          <a:lstStyle/>
          <a:p>
            <a:pPr marL="0" indent="0">
              <a:buNone/>
            </a:pPr>
            <a:r>
              <a:rPr lang="en-US" sz="2000" dirty="0"/>
              <a:t> STORAGE: THE FOLLOWING FACTORS ARE CONSIDERED FOR AN EFFECTIVE FILING SYSTEM:</a:t>
            </a:r>
          </a:p>
          <a:p>
            <a:pPr marL="0" indent="0">
              <a:buNone/>
            </a:pPr>
            <a:r>
              <a:rPr lang="en-US" sz="2000" dirty="0"/>
              <a:t>a) COMPACTNESS TO REDUCE PHYSICAL EFFORT AND COST OF STORAGE SPACE. </a:t>
            </a:r>
          </a:p>
          <a:p>
            <a:pPr marL="0" indent="0">
              <a:buNone/>
            </a:pPr>
            <a:r>
              <a:rPr lang="en-US" sz="2000" dirty="0"/>
              <a:t>b) ACCESSIBILITY FOR SPEEDY LOCATION AND IDENTIFICATION. </a:t>
            </a:r>
          </a:p>
          <a:p>
            <a:pPr marL="0" indent="0">
              <a:buNone/>
            </a:pPr>
            <a:r>
              <a:rPr lang="en-US" sz="2000" dirty="0"/>
              <a:t>c) SIMPLICITY FOR UNDERSTANDING OF ALL CONCERNED. </a:t>
            </a:r>
          </a:p>
          <a:p>
            <a:pPr marL="0" indent="0">
              <a:buNone/>
            </a:pPr>
            <a:r>
              <a:rPr lang="en-US" sz="2000" dirty="0"/>
              <a:t>d) ECONOMICAL BOTH IN THE COST OF INSTALLATION AND OPERATION</a:t>
            </a:r>
          </a:p>
          <a:p>
            <a:pPr marL="0" indent="0">
              <a:buNone/>
            </a:pPr>
            <a:r>
              <a:rPr lang="en-US" sz="2000" dirty="0"/>
              <a:t>e) ELASTICITY TO EXPAND ACCORDING TO FUTURE REQUIREMENT. </a:t>
            </a:r>
          </a:p>
          <a:p>
            <a:pPr marL="0" indent="0">
              <a:buNone/>
            </a:pPr>
            <a:r>
              <a:rPr lang="en-US" sz="2000" dirty="0"/>
              <a:t>f) TRACER SYSTEM FOR DOCUMENT IN CIRCULATION.</a:t>
            </a:r>
            <a:endParaRPr lang="en-IN" sz="2000" dirty="0"/>
          </a:p>
        </p:txBody>
      </p:sp>
    </p:spTree>
    <p:extLst>
      <p:ext uri="{BB962C8B-B14F-4D97-AF65-F5344CB8AC3E}">
        <p14:creationId xmlns:p14="http://schemas.microsoft.com/office/powerpoint/2010/main" val="4816562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F8094-4670-4A93-8A31-DD1162EADBF1}"/>
              </a:ext>
            </a:extLst>
          </p:cNvPr>
          <p:cNvSpPr>
            <a:spLocks noGrp="1"/>
          </p:cNvSpPr>
          <p:nvPr>
            <p:ph type="title"/>
          </p:nvPr>
        </p:nvSpPr>
        <p:spPr>
          <a:xfrm>
            <a:off x="249383" y="609601"/>
            <a:ext cx="10567844" cy="1025236"/>
          </a:xfrm>
        </p:spPr>
        <p:style>
          <a:lnRef idx="2">
            <a:schemeClr val="dk1"/>
          </a:lnRef>
          <a:fillRef idx="1">
            <a:schemeClr val="lt1"/>
          </a:fillRef>
          <a:effectRef idx="0">
            <a:schemeClr val="dk1"/>
          </a:effectRef>
          <a:fontRef idx="minor">
            <a:schemeClr val="dk1"/>
          </a:fontRef>
        </p:style>
        <p:txBody>
          <a:bodyPr/>
          <a:lstStyle/>
          <a:p>
            <a:r>
              <a:rPr lang="en-US" dirty="0"/>
              <a:t>SYSTEMS OF FILING</a:t>
            </a:r>
            <a:endParaRPr lang="en-IN" dirty="0"/>
          </a:p>
        </p:txBody>
      </p:sp>
      <p:sp>
        <p:nvSpPr>
          <p:cNvPr id="3" name="Content Placeholder 2">
            <a:extLst>
              <a:ext uri="{FF2B5EF4-FFF2-40B4-BE49-F238E27FC236}">
                <a16:creationId xmlns:a16="http://schemas.microsoft.com/office/drawing/2014/main" id="{AFEA408B-0838-44FA-8851-477013D10FC6}"/>
              </a:ext>
            </a:extLst>
          </p:cNvPr>
          <p:cNvSpPr>
            <a:spLocks noGrp="1"/>
          </p:cNvSpPr>
          <p:nvPr>
            <p:ph idx="1"/>
          </p:nvPr>
        </p:nvSpPr>
        <p:spPr>
          <a:xfrm>
            <a:off x="249383" y="1634836"/>
            <a:ext cx="10567844" cy="4862945"/>
          </a:xfrm>
        </p:spPr>
        <p:txBody>
          <a:bodyPr>
            <a:normAutofit/>
          </a:bodyPr>
          <a:lstStyle/>
          <a:p>
            <a:pPr marL="0" indent="0">
              <a:buNone/>
            </a:pPr>
            <a:r>
              <a:rPr lang="en-US" sz="2400" b="1" u="sng" dirty="0"/>
              <a:t>DECENTRALIZED SYSTEM </a:t>
            </a:r>
          </a:p>
          <a:p>
            <a:r>
              <a:rPr lang="en-US" sz="2400" dirty="0"/>
              <a:t>UNDER THIS SYSTEM, INPATIENT AND OUTPATIENT DEPARTMENTS HAVE THEIR OWN INDIVIDUAL RECORDS AND FILE THEM INDEPENDENTLY WITHIN THEIR DEPARTMENTS.</a:t>
            </a:r>
          </a:p>
          <a:p>
            <a:r>
              <a:rPr lang="en-US" sz="2400" dirty="0"/>
              <a:t> THIS SYSTEM IS LABOUR INTENSIVE AND THE OPERATING COST ARE HIGHER. </a:t>
            </a:r>
          </a:p>
          <a:p>
            <a:pPr marL="0" indent="0">
              <a:buNone/>
            </a:pPr>
            <a:r>
              <a:rPr lang="en-US" sz="2400" b="1" u="sng" dirty="0"/>
              <a:t>CENTRALIZED SYSTEM </a:t>
            </a:r>
          </a:p>
          <a:p>
            <a:r>
              <a:rPr lang="en-US" sz="2400" dirty="0"/>
              <a:t>IN THE CENTRALIZED SYSTEM, MEDICAL RECORDS ARE FILED CENTRALLY IN THE MEDICAL RECORD DEPARTMENT. THIS SYSTEM IS MORE EFFICIENT, PROVIDES BETTER CONTROL AND IS FOLLOWED IN MOST HOSPITALS.</a:t>
            </a:r>
            <a:endParaRPr lang="en-IN" sz="2400" dirty="0"/>
          </a:p>
        </p:txBody>
      </p:sp>
    </p:spTree>
    <p:extLst>
      <p:ext uri="{BB962C8B-B14F-4D97-AF65-F5344CB8AC3E}">
        <p14:creationId xmlns:p14="http://schemas.microsoft.com/office/powerpoint/2010/main" val="38495679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2D588-5DD3-4C31-854B-5F229AD1FAA5}"/>
              </a:ext>
            </a:extLst>
          </p:cNvPr>
          <p:cNvSpPr>
            <a:spLocks noGrp="1"/>
          </p:cNvSpPr>
          <p:nvPr>
            <p:ph type="title"/>
          </p:nvPr>
        </p:nvSpPr>
        <p:spPr>
          <a:xfrm>
            <a:off x="498765" y="609601"/>
            <a:ext cx="10318462" cy="803564"/>
          </a:xfrm>
        </p:spPr>
        <p:style>
          <a:lnRef idx="2">
            <a:schemeClr val="dk1"/>
          </a:lnRef>
          <a:fillRef idx="1">
            <a:schemeClr val="lt1"/>
          </a:fillRef>
          <a:effectRef idx="0">
            <a:schemeClr val="dk1"/>
          </a:effectRef>
          <a:fontRef idx="minor">
            <a:schemeClr val="dk1"/>
          </a:fontRef>
        </p:style>
        <p:txBody>
          <a:bodyPr/>
          <a:lstStyle/>
          <a:p>
            <a:r>
              <a:rPr lang="en-IN" b="1" dirty="0"/>
              <a:t>METHODS OF FILING</a:t>
            </a:r>
          </a:p>
        </p:txBody>
      </p:sp>
      <p:sp>
        <p:nvSpPr>
          <p:cNvPr id="3" name="Content Placeholder 2">
            <a:extLst>
              <a:ext uri="{FF2B5EF4-FFF2-40B4-BE49-F238E27FC236}">
                <a16:creationId xmlns:a16="http://schemas.microsoft.com/office/drawing/2014/main" id="{7EA7F44F-0ABC-47A8-ACB9-CA5A06CEEF3F}"/>
              </a:ext>
            </a:extLst>
          </p:cNvPr>
          <p:cNvSpPr>
            <a:spLocks noGrp="1"/>
          </p:cNvSpPr>
          <p:nvPr>
            <p:ph idx="1"/>
          </p:nvPr>
        </p:nvSpPr>
        <p:spPr>
          <a:xfrm>
            <a:off x="498765" y="1413165"/>
            <a:ext cx="10318462" cy="4835233"/>
          </a:xfrm>
        </p:spPr>
        <p:txBody>
          <a:bodyPr/>
          <a:lstStyle/>
          <a:p>
            <a:endParaRPr lang="en-IN" dirty="0"/>
          </a:p>
          <a:p>
            <a:pPr marL="342900" indent="-342900">
              <a:buFont typeface="+mj-lt"/>
              <a:buAutoNum type="arabicPeriod"/>
            </a:pPr>
            <a:r>
              <a:rPr lang="en-IN" sz="2400" dirty="0"/>
              <a:t>NUMERICAL METHOD </a:t>
            </a:r>
          </a:p>
          <a:p>
            <a:pPr marL="342900" indent="-342900">
              <a:buFont typeface="+mj-lt"/>
              <a:buAutoNum type="arabicPeriod"/>
            </a:pPr>
            <a:r>
              <a:rPr lang="en-IN" sz="2400" dirty="0"/>
              <a:t>ALPHABETICAL METHOD </a:t>
            </a:r>
          </a:p>
          <a:p>
            <a:pPr marL="342900" indent="-342900">
              <a:buFont typeface="+mj-lt"/>
              <a:buAutoNum type="arabicPeriod"/>
            </a:pPr>
            <a:r>
              <a:rPr lang="en-IN" sz="2400" dirty="0"/>
              <a:t>CHRONOLOGICAL ORDER </a:t>
            </a:r>
          </a:p>
          <a:p>
            <a:pPr marL="342900" indent="-342900">
              <a:buFont typeface="+mj-lt"/>
              <a:buAutoNum type="arabicPeriod"/>
            </a:pPr>
            <a:r>
              <a:rPr lang="en-IN" sz="2400" dirty="0"/>
              <a:t> TERMINAL DIGIT SYSTEM </a:t>
            </a:r>
          </a:p>
          <a:p>
            <a:pPr marL="342900" indent="-342900">
              <a:buFont typeface="+mj-lt"/>
              <a:buAutoNum type="arabicPeriod"/>
            </a:pPr>
            <a:r>
              <a:rPr lang="en-IN" sz="2400" dirty="0"/>
              <a:t> MID DIGIT SYSTEM</a:t>
            </a:r>
          </a:p>
        </p:txBody>
      </p:sp>
    </p:spTree>
    <p:extLst>
      <p:ext uri="{BB962C8B-B14F-4D97-AF65-F5344CB8AC3E}">
        <p14:creationId xmlns:p14="http://schemas.microsoft.com/office/powerpoint/2010/main" val="1044206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432E9-1C13-4882-A606-E810F684D54A}"/>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26B53299-AE82-4856-8AD1-98B239DDFDB2}"/>
              </a:ext>
            </a:extLst>
          </p:cNvPr>
          <p:cNvPicPr>
            <a:picLocks noGrp="1" noChangeAspect="1"/>
          </p:cNvPicPr>
          <p:nvPr>
            <p:ph idx="1"/>
          </p:nvPr>
        </p:nvPicPr>
        <p:blipFill>
          <a:blip r:embed="rId2"/>
          <a:stretch>
            <a:fillRect/>
          </a:stretch>
        </p:blipFill>
        <p:spPr>
          <a:xfrm>
            <a:off x="387927" y="387926"/>
            <a:ext cx="11222182" cy="6109855"/>
          </a:xfrm>
          <a:prstGeom prst="rect">
            <a:avLst/>
          </a:prstGeom>
        </p:spPr>
      </p:pic>
    </p:spTree>
    <p:extLst>
      <p:ext uri="{BB962C8B-B14F-4D97-AF65-F5344CB8AC3E}">
        <p14:creationId xmlns:p14="http://schemas.microsoft.com/office/powerpoint/2010/main" val="24537035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1A046-548A-4E78-A880-D97E6D4B40F7}"/>
              </a:ext>
            </a:extLst>
          </p:cNvPr>
          <p:cNvSpPr>
            <a:spLocks noGrp="1"/>
          </p:cNvSpPr>
          <p:nvPr>
            <p:ph type="title"/>
          </p:nvPr>
        </p:nvSpPr>
        <p:spPr>
          <a:xfrm>
            <a:off x="685801" y="609601"/>
            <a:ext cx="10131425" cy="872836"/>
          </a:xfrm>
        </p:spPr>
        <p:style>
          <a:lnRef idx="2">
            <a:schemeClr val="dk1"/>
          </a:lnRef>
          <a:fillRef idx="1">
            <a:schemeClr val="lt1"/>
          </a:fillRef>
          <a:effectRef idx="0">
            <a:schemeClr val="dk1"/>
          </a:effectRef>
          <a:fontRef idx="minor">
            <a:schemeClr val="dk1"/>
          </a:fontRef>
        </p:style>
        <p:txBody>
          <a:bodyPr/>
          <a:lstStyle/>
          <a:p>
            <a:r>
              <a:rPr lang="en-US" b="1" dirty="0"/>
              <a:t>FILING PROCEDURES</a:t>
            </a:r>
            <a:endParaRPr lang="en-IN" b="1" dirty="0"/>
          </a:p>
        </p:txBody>
      </p:sp>
      <p:sp>
        <p:nvSpPr>
          <p:cNvPr id="3" name="Content Placeholder 2">
            <a:extLst>
              <a:ext uri="{FF2B5EF4-FFF2-40B4-BE49-F238E27FC236}">
                <a16:creationId xmlns:a16="http://schemas.microsoft.com/office/drawing/2014/main" id="{FF98AD6C-6564-407F-8C21-B33203AC46BA}"/>
              </a:ext>
            </a:extLst>
          </p:cNvPr>
          <p:cNvSpPr>
            <a:spLocks noGrp="1"/>
          </p:cNvSpPr>
          <p:nvPr>
            <p:ph idx="1"/>
          </p:nvPr>
        </p:nvSpPr>
        <p:spPr/>
        <p:txBody>
          <a:bodyPr/>
          <a:lstStyle/>
          <a:p>
            <a:r>
              <a:rPr lang="en-US" sz="2400" b="1" dirty="0"/>
              <a:t> TYPES OF FILES- </a:t>
            </a:r>
          </a:p>
          <a:p>
            <a:pPr algn="just"/>
            <a:r>
              <a:rPr lang="en-US" dirty="0"/>
              <a:t>USEFUL TO USE FILES OF DIFFERENT COLOURS FOR DIFFERENT YEARS FOR EASY RETRIEVAL </a:t>
            </a:r>
          </a:p>
          <a:p>
            <a:pPr marL="0" indent="0" algn="just">
              <a:buNone/>
            </a:pPr>
            <a:r>
              <a:rPr lang="en-US" dirty="0"/>
              <a:t>      AND  IDENTIFICATION. </a:t>
            </a:r>
          </a:p>
          <a:p>
            <a:pPr marL="0" indent="0">
              <a:buNone/>
            </a:pPr>
            <a:r>
              <a:rPr lang="en-US" dirty="0"/>
              <a:t> </a:t>
            </a:r>
            <a:r>
              <a:rPr lang="en-US" sz="2800" dirty="0"/>
              <a:t>FILING : </a:t>
            </a:r>
          </a:p>
          <a:p>
            <a:pPr marL="0" indent="0">
              <a:buNone/>
            </a:pPr>
            <a:r>
              <a:rPr lang="en-US" dirty="0"/>
              <a:t>THREE TYPES OF FILING PROCEDURE IN USE </a:t>
            </a:r>
          </a:p>
          <a:p>
            <a:pPr marL="342900" indent="-342900">
              <a:buFont typeface="+mj-lt"/>
              <a:buAutoNum type="arabicPeriod"/>
            </a:pPr>
            <a:r>
              <a:rPr lang="en-US" dirty="0"/>
              <a:t>VERTICAL- </a:t>
            </a:r>
          </a:p>
          <a:p>
            <a:pPr marL="342900" indent="-342900">
              <a:buFont typeface="+mj-lt"/>
              <a:buAutoNum type="arabicPeriod"/>
            </a:pPr>
            <a:r>
              <a:rPr lang="en-US" dirty="0"/>
              <a:t>SUSPENDED </a:t>
            </a:r>
          </a:p>
          <a:p>
            <a:pPr marL="342900" indent="-342900">
              <a:buFont typeface="+mj-lt"/>
              <a:buAutoNum type="arabicPeriod"/>
            </a:pPr>
            <a:r>
              <a:rPr lang="en-US" dirty="0"/>
              <a:t>HORIZONTAL</a:t>
            </a:r>
            <a:endParaRPr lang="en-IN" dirty="0"/>
          </a:p>
        </p:txBody>
      </p:sp>
    </p:spTree>
    <p:extLst>
      <p:ext uri="{BB962C8B-B14F-4D97-AF65-F5344CB8AC3E}">
        <p14:creationId xmlns:p14="http://schemas.microsoft.com/office/powerpoint/2010/main" val="31052591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05C3F-9027-47C4-9494-C6CF8F8CD1E6}"/>
              </a:ext>
            </a:extLst>
          </p:cNvPr>
          <p:cNvSpPr>
            <a:spLocks noGrp="1"/>
          </p:cNvSpPr>
          <p:nvPr>
            <p:ph type="title"/>
          </p:nvPr>
        </p:nvSpPr>
        <p:spPr>
          <a:xfrm>
            <a:off x="558129" y="290947"/>
            <a:ext cx="10249190" cy="831273"/>
          </a:xfrm>
        </p:spPr>
        <p:style>
          <a:lnRef idx="2">
            <a:schemeClr val="dk1"/>
          </a:lnRef>
          <a:fillRef idx="1">
            <a:schemeClr val="lt1"/>
          </a:fillRef>
          <a:effectRef idx="0">
            <a:schemeClr val="dk1"/>
          </a:effectRef>
          <a:fontRef idx="minor">
            <a:schemeClr val="dk1"/>
          </a:fontRef>
        </p:style>
        <p:txBody>
          <a:bodyPr/>
          <a:lstStyle/>
          <a:p>
            <a:r>
              <a:rPr lang="en-US" b="1" dirty="0"/>
              <a:t>MICROFILMING OF MEDICAL RECORDS</a:t>
            </a:r>
            <a:endParaRPr lang="en-IN" b="1" dirty="0"/>
          </a:p>
        </p:txBody>
      </p:sp>
      <p:sp>
        <p:nvSpPr>
          <p:cNvPr id="3" name="Content Placeholder 2">
            <a:extLst>
              <a:ext uri="{FF2B5EF4-FFF2-40B4-BE49-F238E27FC236}">
                <a16:creationId xmlns:a16="http://schemas.microsoft.com/office/drawing/2014/main" id="{FCB6E1BB-4CEC-48F7-AFC7-A4BC5A2C70C9}"/>
              </a:ext>
            </a:extLst>
          </p:cNvPr>
          <p:cNvSpPr>
            <a:spLocks noGrp="1"/>
          </p:cNvSpPr>
          <p:nvPr>
            <p:ph sz="half" idx="2"/>
          </p:nvPr>
        </p:nvSpPr>
        <p:spPr>
          <a:xfrm>
            <a:off x="558129" y="1316182"/>
            <a:ext cx="5427035" cy="4475017"/>
          </a:xfrm>
        </p:spPr>
        <p:txBody>
          <a:bodyPr>
            <a:normAutofit fontScale="92500" lnSpcReduction="10000"/>
          </a:bodyPr>
          <a:lstStyle/>
          <a:p>
            <a:pPr marL="0" indent="0">
              <a:buNone/>
            </a:pPr>
            <a:r>
              <a:rPr lang="en-US" sz="2400" dirty="0"/>
              <a:t>1.IN LARGE TEACHING HOSPITALS DUE TO CONSTRAINTS OF SPACE MICROFILMING IS RESORTED TO.</a:t>
            </a:r>
          </a:p>
          <a:p>
            <a:pPr marL="0" indent="0">
              <a:buNone/>
            </a:pPr>
            <a:endParaRPr lang="en-US" sz="2800" dirty="0"/>
          </a:p>
          <a:p>
            <a:pPr marL="0" indent="0">
              <a:buNone/>
            </a:pPr>
            <a:r>
              <a:rPr lang="en-US" sz="2800" dirty="0"/>
              <a:t>2.ADVANTAGES OF MICROFILMING :- </a:t>
            </a:r>
          </a:p>
          <a:p>
            <a:pPr marL="400050" indent="-400050">
              <a:buFont typeface="+mj-lt"/>
              <a:buAutoNum type="romanUcPeriod"/>
            </a:pPr>
            <a:r>
              <a:rPr lang="en-US" sz="2800" dirty="0"/>
              <a:t>SAVING OF SPACE BY 90%. </a:t>
            </a:r>
          </a:p>
          <a:p>
            <a:pPr marL="400050" indent="-400050">
              <a:buFont typeface="+mj-lt"/>
              <a:buAutoNum type="romanUcPeriod"/>
            </a:pPr>
            <a:r>
              <a:rPr lang="en-US" sz="2800" dirty="0"/>
              <a:t> EASY ACCESSIBILITY.  PROTECTION. </a:t>
            </a:r>
          </a:p>
          <a:p>
            <a:pPr marL="400050" indent="-400050">
              <a:buFont typeface="+mj-lt"/>
              <a:buAutoNum type="romanUcPeriod"/>
            </a:pPr>
            <a:r>
              <a:rPr lang="en-US" sz="2800" dirty="0"/>
              <a:t>ELIMINATION OF MISFIRING. </a:t>
            </a:r>
          </a:p>
          <a:p>
            <a:pPr marL="400050" indent="-400050">
              <a:buFont typeface="+mj-lt"/>
              <a:buAutoNum type="romanUcPeriod"/>
            </a:pPr>
            <a:r>
              <a:rPr lang="en-US" sz="2800" dirty="0"/>
              <a:t> SAVING OF TIME &amp; MANPOWER. </a:t>
            </a:r>
          </a:p>
        </p:txBody>
      </p:sp>
      <p:sp>
        <p:nvSpPr>
          <p:cNvPr id="6" name="Content Placeholder 5">
            <a:extLst>
              <a:ext uri="{FF2B5EF4-FFF2-40B4-BE49-F238E27FC236}">
                <a16:creationId xmlns:a16="http://schemas.microsoft.com/office/drawing/2014/main" id="{80677CA4-89DD-4828-9F60-1D4A0690D09C}"/>
              </a:ext>
            </a:extLst>
          </p:cNvPr>
          <p:cNvSpPr>
            <a:spLocks noGrp="1"/>
          </p:cNvSpPr>
          <p:nvPr>
            <p:ph sz="quarter" idx="4"/>
          </p:nvPr>
        </p:nvSpPr>
        <p:spPr>
          <a:xfrm>
            <a:off x="6095999" y="1565565"/>
            <a:ext cx="4722817" cy="4225634"/>
          </a:xfrm>
        </p:spPr>
        <p:txBody>
          <a:bodyPr>
            <a:normAutofit fontScale="92500" lnSpcReduction="10000"/>
          </a:bodyPr>
          <a:lstStyle/>
          <a:p>
            <a:r>
              <a:rPr lang="en-US" dirty="0"/>
              <a:t>SPECIAL EQUIPMENT REQUIRED INCLUDES MICROFILMING</a:t>
            </a:r>
          </a:p>
          <a:p>
            <a:pPr marL="342900" indent="-342900">
              <a:buFont typeface="+mj-lt"/>
              <a:buAutoNum type="arabicPeriod"/>
            </a:pPr>
            <a:r>
              <a:rPr lang="en-US" dirty="0"/>
              <a:t> CAMERA,</a:t>
            </a:r>
          </a:p>
          <a:p>
            <a:pPr marL="342900" indent="-342900">
              <a:buFont typeface="+mj-lt"/>
              <a:buAutoNum type="arabicPeriod"/>
            </a:pPr>
            <a:r>
              <a:rPr lang="en-US" dirty="0"/>
              <a:t>PROCESSORS</a:t>
            </a:r>
          </a:p>
          <a:p>
            <a:pPr marL="342900" indent="-342900">
              <a:buFont typeface="+mj-lt"/>
              <a:buAutoNum type="arabicPeriod"/>
            </a:pPr>
            <a:r>
              <a:rPr lang="en-US" dirty="0"/>
              <a:t>, VIEWING MACHINES,</a:t>
            </a:r>
          </a:p>
          <a:p>
            <a:pPr marL="342900" indent="-342900">
              <a:buFont typeface="+mj-lt"/>
              <a:buAutoNum type="arabicPeriod"/>
            </a:pPr>
            <a:r>
              <a:rPr lang="en-US" dirty="0"/>
              <a:t> DUPLICATING &amp; XEROX MACHINES, </a:t>
            </a:r>
          </a:p>
          <a:p>
            <a:pPr marL="342900" indent="-342900">
              <a:buFont typeface="+mj-lt"/>
              <a:buAutoNum type="arabicPeriod"/>
            </a:pPr>
            <a:r>
              <a:rPr lang="en-US" dirty="0"/>
              <a:t>MICROFILMING ROLLS,</a:t>
            </a:r>
          </a:p>
          <a:p>
            <a:pPr marL="342900" indent="-342900">
              <a:buFont typeface="+mj-lt"/>
              <a:buAutoNum type="arabicPeriod"/>
            </a:pPr>
            <a:r>
              <a:rPr lang="en-US" dirty="0"/>
              <a:t> FIXER &amp; DEVELOPER AND </a:t>
            </a:r>
          </a:p>
          <a:p>
            <a:pPr marL="342900" indent="-342900">
              <a:buFont typeface="+mj-lt"/>
              <a:buAutoNum type="arabicPeriod"/>
            </a:pPr>
            <a:r>
              <a:rPr lang="en-US" dirty="0"/>
              <a:t>MICROFILMING TECHNICIANS.</a:t>
            </a:r>
            <a:endParaRPr lang="en-IN" dirty="0"/>
          </a:p>
          <a:p>
            <a:endParaRPr lang="en-IN" dirty="0"/>
          </a:p>
        </p:txBody>
      </p:sp>
    </p:spTree>
    <p:extLst>
      <p:ext uri="{BB962C8B-B14F-4D97-AF65-F5344CB8AC3E}">
        <p14:creationId xmlns:p14="http://schemas.microsoft.com/office/powerpoint/2010/main" val="26071998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E612E3C-DCDE-47AE-AAE7-55CAF990A7FF}"/>
              </a:ext>
            </a:extLst>
          </p:cNvPr>
          <p:cNvSpPr>
            <a:spLocks noGrp="1"/>
          </p:cNvSpPr>
          <p:nvPr>
            <p:ph type="title"/>
          </p:nvPr>
        </p:nvSpPr>
        <p:spPr>
          <a:xfrm>
            <a:off x="685801" y="609600"/>
            <a:ext cx="10131425" cy="886691"/>
          </a:xfrm>
        </p:spPr>
        <p:style>
          <a:lnRef idx="2">
            <a:schemeClr val="dk1"/>
          </a:lnRef>
          <a:fillRef idx="1">
            <a:schemeClr val="lt1"/>
          </a:fillRef>
          <a:effectRef idx="0">
            <a:schemeClr val="dk1"/>
          </a:effectRef>
          <a:fontRef idx="minor">
            <a:schemeClr val="dk1"/>
          </a:fontRef>
        </p:style>
        <p:txBody>
          <a:bodyPr/>
          <a:lstStyle/>
          <a:p>
            <a:r>
              <a:rPr lang="en-US" b="1" dirty="0"/>
              <a:t>COMPUTERISATION OF MRD RECORDS</a:t>
            </a:r>
            <a:endParaRPr lang="en-IN" b="1" dirty="0"/>
          </a:p>
        </p:txBody>
      </p:sp>
      <p:sp>
        <p:nvSpPr>
          <p:cNvPr id="8" name="Content Placeholder 7">
            <a:extLst>
              <a:ext uri="{FF2B5EF4-FFF2-40B4-BE49-F238E27FC236}">
                <a16:creationId xmlns:a16="http://schemas.microsoft.com/office/drawing/2014/main" id="{50985356-C930-4124-844E-52C34310C2DB}"/>
              </a:ext>
            </a:extLst>
          </p:cNvPr>
          <p:cNvSpPr>
            <a:spLocks noGrp="1"/>
          </p:cNvSpPr>
          <p:nvPr>
            <p:ph idx="1"/>
          </p:nvPr>
        </p:nvSpPr>
        <p:spPr>
          <a:xfrm>
            <a:off x="685801" y="1496291"/>
            <a:ext cx="10131425" cy="4752109"/>
          </a:xfrm>
        </p:spPr>
        <p:txBody>
          <a:bodyPr>
            <a:normAutofit/>
          </a:bodyPr>
          <a:lstStyle/>
          <a:p>
            <a:r>
              <a:rPr lang="en-US" sz="2400" dirty="0"/>
              <a:t>TECH ADVANCEMENTS &amp; DECREASING COST OF COMPUTERISATION HAVE REVOLUTIONISED THE MED RECORD SYSTEM. </a:t>
            </a:r>
          </a:p>
          <a:p>
            <a:r>
              <a:rPr lang="en-US" sz="2400" dirty="0"/>
              <a:t>POSSIBLE TO STORE TEXT &amp; ALL TYPES OF IMAGES VIZ X-RAYS, CAT SCAN, MRI. </a:t>
            </a:r>
          </a:p>
          <a:p>
            <a:r>
              <a:rPr lang="en-US" sz="2400" dirty="0"/>
              <a:t> BY NETWORKING SYSTEM ACCESS CAN BE PROVIDED TO DRs, NURSES, TECHNICIANS &amp; ADMINISTRATOR WHILE MAINTAINING CONFIDENTIALITY.</a:t>
            </a:r>
            <a:endParaRPr lang="en-IN" sz="2400" dirty="0"/>
          </a:p>
        </p:txBody>
      </p:sp>
    </p:spTree>
    <p:extLst>
      <p:ext uri="{BB962C8B-B14F-4D97-AF65-F5344CB8AC3E}">
        <p14:creationId xmlns:p14="http://schemas.microsoft.com/office/powerpoint/2010/main" val="32863353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729C0-CDA3-43E7-AAE4-809FBA34B725}"/>
              </a:ext>
            </a:extLst>
          </p:cNvPr>
          <p:cNvSpPr>
            <a:spLocks noGrp="1"/>
          </p:cNvSpPr>
          <p:nvPr>
            <p:ph type="title"/>
          </p:nvPr>
        </p:nvSpPr>
        <p:spPr>
          <a:xfrm>
            <a:off x="581891" y="609600"/>
            <a:ext cx="10235335" cy="983673"/>
          </a:xfrm>
        </p:spPr>
        <p:style>
          <a:lnRef idx="2">
            <a:schemeClr val="dk1"/>
          </a:lnRef>
          <a:fillRef idx="1">
            <a:schemeClr val="lt1"/>
          </a:fillRef>
          <a:effectRef idx="0">
            <a:schemeClr val="dk1"/>
          </a:effectRef>
          <a:fontRef idx="minor">
            <a:schemeClr val="dk1"/>
          </a:fontRef>
        </p:style>
        <p:txBody>
          <a:bodyPr/>
          <a:lstStyle/>
          <a:p>
            <a:r>
              <a:rPr lang="en-US" b="1" dirty="0"/>
              <a:t>RETREIVAL OF MEDICAL RECORDS</a:t>
            </a:r>
            <a:endParaRPr lang="en-IN" b="1" dirty="0"/>
          </a:p>
        </p:txBody>
      </p:sp>
      <p:sp>
        <p:nvSpPr>
          <p:cNvPr id="3" name="Content Placeholder 2">
            <a:extLst>
              <a:ext uri="{FF2B5EF4-FFF2-40B4-BE49-F238E27FC236}">
                <a16:creationId xmlns:a16="http://schemas.microsoft.com/office/drawing/2014/main" id="{A5FD49A5-7CD0-402D-9489-1AD137BD4285}"/>
              </a:ext>
            </a:extLst>
          </p:cNvPr>
          <p:cNvSpPr>
            <a:spLocks noGrp="1"/>
          </p:cNvSpPr>
          <p:nvPr>
            <p:ph idx="1"/>
          </p:nvPr>
        </p:nvSpPr>
        <p:spPr>
          <a:xfrm>
            <a:off x="581891" y="1593273"/>
            <a:ext cx="10235335" cy="4655127"/>
          </a:xfrm>
        </p:spPr>
        <p:txBody>
          <a:bodyPr/>
          <a:lstStyle/>
          <a:p>
            <a:pPr marL="0" indent="0">
              <a:buNone/>
            </a:pPr>
            <a:r>
              <a:rPr lang="en-US" dirty="0"/>
              <a:t> </a:t>
            </a:r>
            <a:r>
              <a:rPr lang="en-US" sz="2400" dirty="0"/>
              <a:t>USUALLY REQD FOR </a:t>
            </a:r>
          </a:p>
          <a:p>
            <a:pPr marL="342900" indent="-342900">
              <a:buFont typeface="+mj-lt"/>
              <a:buAutoNum type="arabicPeriod"/>
            </a:pPr>
            <a:r>
              <a:rPr lang="en-US" sz="2400" dirty="0"/>
              <a:t>FOLLOW UP OF PATIENTS. </a:t>
            </a:r>
          </a:p>
          <a:p>
            <a:pPr marL="342900" indent="-342900">
              <a:buFont typeface="+mj-lt"/>
              <a:buAutoNum type="arabicPeriod"/>
            </a:pPr>
            <a:r>
              <a:rPr lang="en-US" sz="2400" dirty="0"/>
              <a:t>ADMISSION TO WARD/ CASUALTY FOR OBSERVATION. </a:t>
            </a:r>
          </a:p>
          <a:p>
            <a:pPr marL="342900" indent="-342900">
              <a:buFont typeface="+mj-lt"/>
              <a:buAutoNum type="arabicPeriod"/>
            </a:pPr>
            <a:r>
              <a:rPr lang="en-US" sz="2400" dirty="0"/>
              <a:t> RESEARCH WORKERS FOR ACADEMIC PURPOSES. </a:t>
            </a:r>
          </a:p>
          <a:p>
            <a:pPr marL="342900" indent="-342900">
              <a:buFont typeface="+mj-lt"/>
              <a:buAutoNum type="arabicPeriod"/>
            </a:pPr>
            <a:r>
              <a:rPr lang="en-US" sz="2400" dirty="0"/>
              <a:t> MEDICAL REIMBURSEMENT. </a:t>
            </a:r>
          </a:p>
          <a:p>
            <a:pPr marL="342900" indent="-342900">
              <a:buFont typeface="+mj-lt"/>
              <a:buAutoNum type="arabicPeriod"/>
            </a:pPr>
            <a:r>
              <a:rPr lang="en-US" sz="2400" dirty="0"/>
              <a:t> PRODUCING IN COURT OF LAW.</a:t>
            </a:r>
            <a:endParaRPr lang="en-IN" sz="2400" dirty="0"/>
          </a:p>
        </p:txBody>
      </p:sp>
    </p:spTree>
    <p:extLst>
      <p:ext uri="{BB962C8B-B14F-4D97-AF65-F5344CB8AC3E}">
        <p14:creationId xmlns:p14="http://schemas.microsoft.com/office/powerpoint/2010/main" val="35300802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24A3F-32CF-46E2-BAA6-E3ACFBEE9E3B}"/>
              </a:ext>
            </a:extLst>
          </p:cNvPr>
          <p:cNvSpPr>
            <a:spLocks noGrp="1"/>
          </p:cNvSpPr>
          <p:nvPr>
            <p:ph type="title"/>
          </p:nvPr>
        </p:nvSpPr>
        <p:spPr>
          <a:xfrm>
            <a:off x="685801" y="609600"/>
            <a:ext cx="10131425" cy="831273"/>
          </a:xfrm>
        </p:spPr>
        <p:style>
          <a:lnRef idx="2">
            <a:schemeClr val="dk1"/>
          </a:lnRef>
          <a:fillRef idx="1">
            <a:schemeClr val="lt1"/>
          </a:fillRef>
          <a:effectRef idx="0">
            <a:schemeClr val="dk1"/>
          </a:effectRef>
          <a:fontRef idx="minor">
            <a:schemeClr val="dk1"/>
          </a:fontRef>
        </p:style>
        <p:txBody>
          <a:bodyPr/>
          <a:lstStyle/>
          <a:p>
            <a:r>
              <a:rPr lang="en-US" b="1" dirty="0"/>
              <a:t>REPORTS AND RETURNS</a:t>
            </a:r>
            <a:endParaRPr lang="en-IN" b="1" dirty="0"/>
          </a:p>
        </p:txBody>
      </p:sp>
      <p:sp>
        <p:nvSpPr>
          <p:cNvPr id="3" name="Content Placeholder 2">
            <a:extLst>
              <a:ext uri="{FF2B5EF4-FFF2-40B4-BE49-F238E27FC236}">
                <a16:creationId xmlns:a16="http://schemas.microsoft.com/office/drawing/2014/main" id="{18BCBA87-DE96-4CFB-A329-61A0F399842D}"/>
              </a:ext>
            </a:extLst>
          </p:cNvPr>
          <p:cNvSpPr>
            <a:spLocks noGrp="1"/>
          </p:cNvSpPr>
          <p:nvPr>
            <p:ph idx="1"/>
          </p:nvPr>
        </p:nvSpPr>
        <p:spPr>
          <a:xfrm>
            <a:off x="685801" y="1440873"/>
            <a:ext cx="10131425" cy="4807527"/>
          </a:xfrm>
        </p:spPr>
        <p:txBody>
          <a:bodyPr/>
          <a:lstStyle/>
          <a:p>
            <a:pPr marL="0" indent="0">
              <a:buNone/>
            </a:pPr>
            <a:r>
              <a:rPr lang="en-US" sz="2400" b="1" dirty="0"/>
              <a:t> BASIC PURPOSE OF REPORTS ARE: </a:t>
            </a:r>
          </a:p>
          <a:p>
            <a:r>
              <a:rPr lang="en-US" dirty="0"/>
              <a:t>EVALUATING THE QUALITY OF CARE. </a:t>
            </a:r>
          </a:p>
          <a:p>
            <a:r>
              <a:rPr lang="en-US" dirty="0"/>
              <a:t> LOCATING THE DEFI IN :</a:t>
            </a:r>
          </a:p>
          <a:p>
            <a:pPr marL="0" indent="0">
              <a:buNone/>
            </a:pPr>
            <a:r>
              <a:rPr lang="en-US" dirty="0"/>
              <a:t>            a) MEANS – STAFF, PHYSICAL FACILITIES, EQPT INCL PLANTS &amp; MACHINES. </a:t>
            </a:r>
          </a:p>
          <a:p>
            <a:pPr marL="0" indent="0">
              <a:buNone/>
            </a:pPr>
            <a:r>
              <a:rPr lang="en-US" dirty="0"/>
              <a:t>            b) METHODS – OPERATING POLICIES &amp; PROCEDURES. </a:t>
            </a:r>
          </a:p>
          <a:p>
            <a:pPr marL="0" indent="0">
              <a:buNone/>
            </a:pPr>
            <a:r>
              <a:rPr lang="en-US" dirty="0"/>
              <a:t>            C)END RESULT- OUTCOME OF BENEFITS DERIVED BY THE COMMUNITY FROM THE HOSP. </a:t>
            </a:r>
          </a:p>
          <a:p>
            <a:r>
              <a:rPr lang="en-US" dirty="0"/>
              <a:t>EFFECTIVENESSOF HOSP ADMINISTRATION. PREVENION OF DISEASES</a:t>
            </a:r>
            <a:endParaRPr lang="en-IN" dirty="0"/>
          </a:p>
        </p:txBody>
      </p:sp>
    </p:spTree>
    <p:extLst>
      <p:ext uri="{BB962C8B-B14F-4D97-AF65-F5344CB8AC3E}">
        <p14:creationId xmlns:p14="http://schemas.microsoft.com/office/powerpoint/2010/main" val="2321047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B4E44-8C19-4502-8EE9-92017D6882A1}"/>
              </a:ext>
            </a:extLst>
          </p:cNvPr>
          <p:cNvSpPr>
            <a:spLocks noGrp="1"/>
          </p:cNvSpPr>
          <p:nvPr>
            <p:ph type="title"/>
          </p:nvPr>
        </p:nvSpPr>
        <p:spPr>
          <a:xfrm>
            <a:off x="685801" y="609600"/>
            <a:ext cx="10131425" cy="789709"/>
          </a:xfrm>
        </p:spPr>
        <p:style>
          <a:lnRef idx="2">
            <a:schemeClr val="dk1"/>
          </a:lnRef>
          <a:fillRef idx="1">
            <a:schemeClr val="lt1"/>
          </a:fillRef>
          <a:effectRef idx="0">
            <a:schemeClr val="dk1"/>
          </a:effectRef>
          <a:fontRef idx="minor">
            <a:schemeClr val="dk1"/>
          </a:fontRef>
        </p:style>
        <p:txBody>
          <a:bodyPr/>
          <a:lstStyle/>
          <a:p>
            <a:r>
              <a:rPr lang="en-US" b="1" dirty="0"/>
              <a:t>TYPES OF REPORTS</a:t>
            </a:r>
            <a:endParaRPr lang="en-IN" b="1" dirty="0"/>
          </a:p>
        </p:txBody>
      </p:sp>
      <p:sp>
        <p:nvSpPr>
          <p:cNvPr id="3" name="Content Placeholder 2">
            <a:extLst>
              <a:ext uri="{FF2B5EF4-FFF2-40B4-BE49-F238E27FC236}">
                <a16:creationId xmlns:a16="http://schemas.microsoft.com/office/drawing/2014/main" id="{0BD8C730-E5B5-49C4-8D9D-1B4823806540}"/>
              </a:ext>
            </a:extLst>
          </p:cNvPr>
          <p:cNvSpPr>
            <a:spLocks noGrp="1"/>
          </p:cNvSpPr>
          <p:nvPr>
            <p:ph idx="1"/>
          </p:nvPr>
        </p:nvSpPr>
        <p:spPr>
          <a:xfrm>
            <a:off x="685801" y="1399309"/>
            <a:ext cx="10131425" cy="4391891"/>
          </a:xfrm>
        </p:spPr>
        <p:txBody>
          <a:bodyPr>
            <a:noAutofit/>
          </a:bodyPr>
          <a:lstStyle/>
          <a:p>
            <a:r>
              <a:rPr lang="en-US" sz="2400" dirty="0"/>
              <a:t>TYPES OF REPORTS &amp; FREQUENCY WILL VARY WITH TYPE OF HOSPITAL &amp; ADM REQMTS.</a:t>
            </a:r>
          </a:p>
          <a:p>
            <a:r>
              <a:rPr lang="en-US" sz="2400" dirty="0"/>
              <a:t> REPORTS GENERATED DAILY, WEEKLY, FORTNIGHTLY, MONTHLY, QUARTERLY, SIX MONTHLY OR ANNUALLY DEPENDING ON REQMT . </a:t>
            </a:r>
          </a:p>
          <a:p>
            <a:r>
              <a:rPr lang="en-US" sz="2400" dirty="0"/>
              <a:t>REPORTS GENERALLY PERTAIN TO : </a:t>
            </a:r>
          </a:p>
          <a:p>
            <a:pPr marL="457200" indent="-457200">
              <a:buFont typeface="+mj-lt"/>
              <a:buAutoNum type="arabicPeriod"/>
            </a:pPr>
            <a:r>
              <a:rPr lang="en-US" sz="2400" dirty="0"/>
              <a:t>VITAL STATS. </a:t>
            </a:r>
          </a:p>
          <a:p>
            <a:pPr marL="457200" indent="-457200">
              <a:buFont typeface="+mj-lt"/>
              <a:buAutoNum type="arabicPeriod"/>
            </a:pPr>
            <a:r>
              <a:rPr lang="en-US" sz="2400" dirty="0"/>
              <a:t> ADT(ADMISION, DISCHARGEAND TRANSFER ANALYSIS. </a:t>
            </a:r>
          </a:p>
          <a:p>
            <a:pPr marL="457200" indent="-457200">
              <a:buFont typeface="+mj-lt"/>
              <a:buAutoNum type="arabicPeriod"/>
            </a:pPr>
            <a:r>
              <a:rPr lang="en-US" sz="2400" dirty="0"/>
              <a:t> GENERAL HEALTH STATS.</a:t>
            </a:r>
            <a:endParaRPr lang="en-IN" sz="2400" dirty="0"/>
          </a:p>
        </p:txBody>
      </p:sp>
    </p:spTree>
    <p:extLst>
      <p:ext uri="{BB962C8B-B14F-4D97-AF65-F5344CB8AC3E}">
        <p14:creationId xmlns:p14="http://schemas.microsoft.com/office/powerpoint/2010/main" val="26113328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04C7E"/>
      </a:dk2>
      <a:lt2>
        <a:srgbClr val="EBEBEB"/>
      </a:lt2>
      <a:accent1>
        <a:srgbClr val="94CE67"/>
      </a:accent1>
      <a:accent2>
        <a:srgbClr val="49D1CD"/>
      </a:accent2>
      <a:accent3>
        <a:srgbClr val="61A5D6"/>
      </a:accent3>
      <a:accent4>
        <a:srgbClr val="9D8CD3"/>
      </a:accent4>
      <a:accent5>
        <a:srgbClr val="E45C8A"/>
      </a:accent5>
      <a:accent6>
        <a:srgbClr val="F98C61"/>
      </a:accent6>
      <a:hlink>
        <a:srgbClr val="AAF172"/>
      </a:hlink>
      <a:folHlink>
        <a:srgbClr val="E7F19A"/>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E44E6A2F-09CD-4BE0-B42D-107FF03CEED6}"/>
    </a:ext>
  </a:extLst>
</a:theme>
</file>

<file path=docProps/app.xml><?xml version="1.0" encoding="utf-8"?>
<Properties xmlns="http://schemas.openxmlformats.org/officeDocument/2006/extended-properties" xmlns:vt="http://schemas.openxmlformats.org/officeDocument/2006/docPropsVTypes">
  <Template>Celestial</Template>
  <TotalTime>4687</TotalTime>
  <Words>2391</Words>
  <Application>Microsoft Office PowerPoint</Application>
  <PresentationFormat>Widescreen</PresentationFormat>
  <Paragraphs>264</Paragraphs>
  <Slides>35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Calibri Light</vt:lpstr>
      <vt:lpstr>Celestial</vt:lpstr>
      <vt:lpstr>MEDICAL RECORDS </vt:lpstr>
      <vt:lpstr>INTRODUCTION </vt:lpstr>
      <vt:lpstr> WHAT IS MEDICAL RECORDS?</vt:lpstr>
      <vt:lpstr>PEOPLE FORGET AND RECORDS REMEMBER /USE OF MEDICAL RECORDS </vt:lpstr>
      <vt:lpstr>PURPOSE</vt:lpstr>
      <vt:lpstr>PowerPoint Presentation</vt:lpstr>
      <vt:lpstr>PowerPoint Presentation</vt:lpstr>
      <vt:lpstr>COMPONENTS OF MEDICAL RECORD </vt:lpstr>
      <vt:lpstr>Characteristics of good medical records </vt:lpstr>
      <vt:lpstr>Flow of inpatient medical record </vt:lpstr>
      <vt:lpstr>OPD.EMG,LABOUR NEWBORN </vt:lpstr>
      <vt:lpstr>FLOW CHART </vt:lpstr>
      <vt:lpstr>DIFFERENTIATION OF MEDICAL RECORD </vt:lpstr>
      <vt:lpstr>OUTPATIENT RECORD </vt:lpstr>
      <vt:lpstr>OUTPATIENT RECORD </vt:lpstr>
      <vt:lpstr>INPATIENT RECORD </vt:lpstr>
      <vt:lpstr>PowerPoint Presentation</vt:lpstr>
      <vt:lpstr>PowerPoint Presentation</vt:lpstr>
      <vt:lpstr>PowerPoint Presentation</vt:lpstr>
      <vt:lpstr>ASSEMBLING OF RECORDS AND DEFICIENCY CHECK</vt:lpstr>
      <vt:lpstr>Coding </vt:lpstr>
      <vt:lpstr>Icd (international classification of diseases)</vt:lpstr>
      <vt:lpstr>PowerPoint Presentation</vt:lpstr>
      <vt:lpstr>Indexing </vt:lpstr>
      <vt:lpstr>Patient index </vt:lpstr>
      <vt:lpstr>STORAGE AND RETRIEVAL</vt:lpstr>
      <vt:lpstr>SYSTEMS OF FILING</vt:lpstr>
      <vt:lpstr>METHODS OF FILING</vt:lpstr>
      <vt:lpstr>PowerPoint Presentation</vt:lpstr>
      <vt:lpstr>FILING PROCEDURES</vt:lpstr>
      <vt:lpstr>MICROFILMING OF MEDICAL RECORDS</vt:lpstr>
      <vt:lpstr>COMPUTERISATION OF MRD RECORDS</vt:lpstr>
      <vt:lpstr>RETREIVAL OF MEDICAL RECORDS</vt:lpstr>
      <vt:lpstr>REPORTS AND RETURNS</vt:lpstr>
      <vt:lpstr>TYPES OF REPORTS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RECORDS</dc:title>
  <dc:creator>debjani mukherjee</dc:creator>
  <cp:lastModifiedBy>debjani mukherjee</cp:lastModifiedBy>
  <cp:revision>58</cp:revision>
  <dcterms:created xsi:type="dcterms:W3CDTF">2020-01-10T05:52:26Z</dcterms:created>
  <dcterms:modified xsi:type="dcterms:W3CDTF">2024-03-15T14:10:35Z</dcterms:modified>
</cp:coreProperties>
</file>