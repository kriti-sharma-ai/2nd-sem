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4" r:id="rId1"/>
  </p:sldMasterIdLst>
  <p:sldIdLst>
    <p:sldId id="256" r:id="rId2"/>
    <p:sldId id="257" r:id="rId3"/>
    <p:sldId id="258" r:id="rId4"/>
    <p:sldId id="259" r:id="rId5"/>
    <p:sldId id="260" r:id="rId6"/>
    <p:sldId id="261" r:id="rId7"/>
    <p:sldId id="265" r:id="rId8"/>
    <p:sldId id="262" r:id="rId9"/>
    <p:sldId id="263" r:id="rId10"/>
    <p:sldId id="264" r:id="rId11"/>
    <p:sldId id="266" r:id="rId12"/>
    <p:sldId id="267" r:id="rId13"/>
    <p:sldId id="268" r:id="rId14"/>
    <p:sldId id="282" r:id="rId15"/>
    <p:sldId id="283" r:id="rId16"/>
    <p:sldId id="284" r:id="rId17"/>
    <p:sldId id="285" r:id="rId18"/>
    <p:sldId id="270" r:id="rId19"/>
    <p:sldId id="271" r:id="rId20"/>
    <p:sldId id="272" r:id="rId21"/>
    <p:sldId id="269" r:id="rId22"/>
    <p:sldId id="273" r:id="rId23"/>
    <p:sldId id="274" r:id="rId24"/>
    <p:sldId id="275" r:id="rId25"/>
    <p:sldId id="276" r:id="rId26"/>
    <p:sldId id="277" r:id="rId27"/>
    <p:sldId id="278" r:id="rId28"/>
    <p:sldId id="279" r:id="rId29"/>
    <p:sldId id="286" r:id="rId30"/>
    <p:sldId id="289" r:id="rId31"/>
    <p:sldId id="287" r:id="rId32"/>
    <p:sldId id="28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sorterViewPr>
    <p:cViewPr>
      <p:scale>
        <a:sx n="100" d="100"/>
        <a:sy n="100" d="100"/>
      </p:scale>
      <p:origin x="0" y="-1046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96DFF08F-DC6B-4601-B491-B0F83F6DD2DA}" type="datetimeFigureOut">
              <a:rPr lang="en-US" dirty="0"/>
              <a:t>11/2/2021</a:t>
            </a:fld>
            <a:endParaRPr lang="en-US" dirty="0"/>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FAB73BC-B049-4115-A692-8D63A059BFB8}" type="slidenum">
              <a:rPr lang="en-US" dirty="0"/>
              <a:t>‹#›</a:t>
            </a:fld>
            <a:endParaRPr lang="en-US" dirty="0"/>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11/2/2021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11/2/2021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11/2/2021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11/2/2021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11/2/2021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11/2/2021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96DFF08F-DC6B-4601-B491-B0F83F6DD2DA}" type="datetimeFigureOut">
              <a:rPr lang="en-US" dirty="0"/>
              <a:pPr/>
              <a:t>11/2/2021</a:t>
            </a:fld>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BC3F1-C357-4DA5-B716-51BD57B8C537}"/>
              </a:ext>
            </a:extLst>
          </p:cNvPr>
          <p:cNvSpPr>
            <a:spLocks noGrp="1"/>
          </p:cNvSpPr>
          <p:nvPr>
            <p:ph type="ctrTitle"/>
          </p:nvPr>
        </p:nvSpPr>
        <p:spPr/>
        <p:txBody>
          <a:bodyPr/>
          <a:lstStyle/>
          <a:p>
            <a:r>
              <a:rPr lang="en-IN" dirty="0"/>
              <a:t>LEGAL ASPECTS OF MEDICAL RECORDS </a:t>
            </a:r>
          </a:p>
        </p:txBody>
      </p:sp>
      <p:sp>
        <p:nvSpPr>
          <p:cNvPr id="3" name="Subtitle 2">
            <a:extLst>
              <a:ext uri="{FF2B5EF4-FFF2-40B4-BE49-F238E27FC236}">
                <a16:creationId xmlns:a16="http://schemas.microsoft.com/office/drawing/2014/main" id="{16CFE1B0-C178-403D-9609-150329537B0D}"/>
              </a:ext>
            </a:extLst>
          </p:cNvPr>
          <p:cNvSpPr>
            <a:spLocks noGrp="1"/>
          </p:cNvSpPr>
          <p:nvPr>
            <p:ph type="subTitle" idx="1"/>
          </p:nvPr>
        </p:nvSpPr>
        <p:spPr/>
        <p:txBody>
          <a:bodyPr/>
          <a:lstStyle/>
          <a:p>
            <a:r>
              <a:rPr lang="en-IN" dirty="0"/>
              <a:t>DEBJANI MUKHER JEE</a:t>
            </a:r>
          </a:p>
        </p:txBody>
      </p:sp>
    </p:spTree>
    <p:extLst>
      <p:ext uri="{BB962C8B-B14F-4D97-AF65-F5344CB8AC3E}">
        <p14:creationId xmlns:p14="http://schemas.microsoft.com/office/powerpoint/2010/main" val="244937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2CD6D-6050-46EE-9956-66AA5F4A8244}"/>
              </a:ext>
            </a:extLst>
          </p:cNvPr>
          <p:cNvSpPr>
            <a:spLocks noGrp="1"/>
          </p:cNvSpPr>
          <p:nvPr>
            <p:ph type="title"/>
          </p:nvPr>
        </p:nvSpPr>
        <p:spPr/>
        <p:txBody>
          <a:bodyPr/>
          <a:lstStyle/>
          <a:p>
            <a:r>
              <a:rPr lang="en-IN" dirty="0"/>
              <a:t>WHAT IS MEAN BY MEDICO LEGAL CASE ?</a:t>
            </a:r>
          </a:p>
        </p:txBody>
      </p:sp>
      <p:sp>
        <p:nvSpPr>
          <p:cNvPr id="3" name="Content Placeholder 2">
            <a:extLst>
              <a:ext uri="{FF2B5EF4-FFF2-40B4-BE49-F238E27FC236}">
                <a16:creationId xmlns:a16="http://schemas.microsoft.com/office/drawing/2014/main" id="{3F34B3D5-88F1-4829-9D5F-16846FFB65F2}"/>
              </a:ext>
            </a:extLst>
          </p:cNvPr>
          <p:cNvSpPr>
            <a:spLocks noGrp="1"/>
          </p:cNvSpPr>
          <p:nvPr>
            <p:ph idx="1"/>
          </p:nvPr>
        </p:nvSpPr>
        <p:spPr>
          <a:xfrm>
            <a:off x="484910" y="1842655"/>
            <a:ext cx="11333018" cy="4682836"/>
          </a:xfrm>
        </p:spPr>
        <p:txBody>
          <a:bodyPr>
            <a:normAutofit/>
          </a:bodyPr>
          <a:lstStyle/>
          <a:p>
            <a:pPr marL="45720" indent="0">
              <a:buNone/>
            </a:pPr>
            <a:r>
              <a:rPr lang="en-IN" b="1" dirty="0">
                <a:solidFill>
                  <a:schemeClr val="tx1"/>
                </a:solidFill>
                <a:latin typeface="Arial" panose="020B0604020202020204" pitchFamily="34" charset="0"/>
                <a:cs typeface="Arial" panose="020B0604020202020204" pitchFamily="34" charset="0"/>
              </a:rPr>
              <a:t>Medico legal is something that involves  both medical and legal aspects.</a:t>
            </a:r>
          </a:p>
          <a:p>
            <a:pPr marL="45720" indent="0">
              <a:buNone/>
            </a:pPr>
            <a:r>
              <a:rPr lang="en-IN" b="1" dirty="0">
                <a:solidFill>
                  <a:schemeClr val="tx1"/>
                </a:solidFill>
                <a:latin typeface="Arial" panose="020B0604020202020204" pitchFamily="34" charset="0"/>
                <a:cs typeface="Arial" panose="020B0604020202020204" pitchFamily="34" charset="0"/>
              </a:rPr>
              <a:t>Mainly :</a:t>
            </a:r>
          </a:p>
          <a:p>
            <a:pPr marL="45720" indent="0">
              <a:buNone/>
            </a:pPr>
            <a:r>
              <a:rPr lang="en-IN" b="1" dirty="0">
                <a:solidFill>
                  <a:schemeClr val="tx1"/>
                </a:solidFill>
                <a:latin typeface="Arial" panose="020B0604020202020204" pitchFamily="34" charset="0"/>
                <a:cs typeface="Arial" panose="020B0604020202020204" pitchFamily="34" charset="0"/>
              </a:rPr>
              <a:t>Medical jurisprudence ( a BRANCH OF MEDICINE )</a:t>
            </a:r>
          </a:p>
          <a:p>
            <a:pPr marL="45720" indent="0">
              <a:buNone/>
            </a:pPr>
            <a:r>
              <a:rPr lang="en-IN" b="1" dirty="0">
                <a:solidFill>
                  <a:schemeClr val="tx1"/>
                </a:solidFill>
                <a:latin typeface="Arial" panose="020B0604020202020204" pitchFamily="34" charset="0"/>
                <a:cs typeface="Arial" panose="020B0604020202020204" pitchFamily="34" charset="0"/>
              </a:rPr>
              <a:t>Medical Law ( a BRANCH OF LAW )</a:t>
            </a:r>
          </a:p>
          <a:p>
            <a:pPr marL="45720" indent="0">
              <a:buNone/>
            </a:pPr>
            <a:r>
              <a:rPr lang="en-IN" b="1" dirty="0">
                <a:solidFill>
                  <a:schemeClr val="tx1"/>
                </a:solidFill>
                <a:latin typeface="Arial" panose="020B0604020202020204" pitchFamily="34" charset="0"/>
                <a:cs typeface="Arial" panose="020B0604020202020204" pitchFamily="34" charset="0"/>
              </a:rPr>
              <a:t>Medico legal case: it can be defined as a case of injury or ailment etc.in which investigations by the law enforcing agencies are essential to fix the responsibility regarding the causation of the said injury or ailment .</a:t>
            </a:r>
          </a:p>
          <a:p>
            <a:pPr marL="45720" indent="0">
              <a:buNone/>
            </a:pPr>
            <a:r>
              <a:rPr lang="en-IN" b="1" dirty="0">
                <a:solidFill>
                  <a:schemeClr val="tx1"/>
                </a:solidFill>
                <a:latin typeface="Arial" panose="020B0604020202020204" pitchFamily="34" charset="0"/>
                <a:cs typeface="Arial" panose="020B0604020202020204" pitchFamily="34" charset="0"/>
              </a:rPr>
              <a:t>Or we can say, it’s a medical case with legal implications for the attending doctor , where the attending doctor , after taking  history and examining the patient, thinks that some investigation by law enforcement agencies is essential and fix responsibility regarding the said injury or ailment according to the law.</a:t>
            </a:r>
          </a:p>
          <a:p>
            <a:pPr marL="45720" indent="0">
              <a:buNone/>
            </a:pPr>
            <a:endParaRPr lang="en-IN"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6719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9DDAD-4D2E-4486-93EA-DCBC11DB37E1}"/>
              </a:ext>
            </a:extLst>
          </p:cNvPr>
          <p:cNvSpPr>
            <a:spLocks noGrp="1"/>
          </p:cNvSpPr>
          <p:nvPr>
            <p:ph type="title"/>
          </p:nvPr>
        </p:nvSpPr>
        <p:spPr>
          <a:xfrm>
            <a:off x="304799" y="318655"/>
            <a:ext cx="11707091" cy="1080654"/>
          </a:xfrm>
        </p:spPr>
        <p:style>
          <a:lnRef idx="1">
            <a:schemeClr val="accent1"/>
          </a:lnRef>
          <a:fillRef idx="2">
            <a:schemeClr val="accent1"/>
          </a:fillRef>
          <a:effectRef idx="1">
            <a:schemeClr val="accent1"/>
          </a:effectRef>
          <a:fontRef idx="minor">
            <a:schemeClr val="dk1"/>
          </a:fontRef>
        </p:style>
        <p:txBody>
          <a:bodyPr/>
          <a:lstStyle/>
          <a:p>
            <a:r>
              <a:rPr lang="en-IN" dirty="0"/>
              <a:t>What are the incidents will comes under the MLC?</a:t>
            </a:r>
          </a:p>
        </p:txBody>
      </p:sp>
      <p:sp>
        <p:nvSpPr>
          <p:cNvPr id="4" name="Content Placeholder 3">
            <a:extLst>
              <a:ext uri="{FF2B5EF4-FFF2-40B4-BE49-F238E27FC236}">
                <a16:creationId xmlns:a16="http://schemas.microsoft.com/office/drawing/2014/main" id="{7C854045-20A1-4F33-B3A1-DB38FA8F06DC}"/>
              </a:ext>
            </a:extLst>
          </p:cNvPr>
          <p:cNvSpPr>
            <a:spLocks noGrp="1"/>
          </p:cNvSpPr>
          <p:nvPr>
            <p:ph sz="half" idx="1"/>
          </p:nvPr>
        </p:nvSpPr>
        <p:spPr>
          <a:xfrm>
            <a:off x="304799" y="1399308"/>
            <a:ext cx="5593081" cy="5458692"/>
          </a:xfrm>
          <a:ln/>
        </p:spPr>
        <p:style>
          <a:lnRef idx="3">
            <a:schemeClr val="lt1"/>
          </a:lnRef>
          <a:fillRef idx="1">
            <a:schemeClr val="accent3"/>
          </a:fillRef>
          <a:effectRef idx="1">
            <a:schemeClr val="accent3"/>
          </a:effectRef>
          <a:fontRef idx="minor">
            <a:schemeClr val="lt1"/>
          </a:fontRef>
        </p:style>
        <p:txBody>
          <a:bodyPr>
            <a:normAutofit lnSpcReduction="10000"/>
          </a:bodyPr>
          <a:lstStyle/>
          <a:p>
            <a:pPr marL="502920" indent="-457200">
              <a:buFont typeface="+mj-lt"/>
              <a:buAutoNum type="alphaUcPeriod"/>
            </a:pPr>
            <a:r>
              <a:rPr lang="en-IN" b="1" dirty="0">
                <a:solidFill>
                  <a:schemeClr val="tx1"/>
                </a:solidFill>
              </a:rPr>
              <a:t>Assault and battery, including domestic violence and child abuse .</a:t>
            </a:r>
          </a:p>
          <a:p>
            <a:pPr marL="502920" indent="-457200">
              <a:buFont typeface="+mj-lt"/>
              <a:buAutoNum type="alphaUcPeriod"/>
            </a:pPr>
            <a:r>
              <a:rPr lang="en-IN" b="1" dirty="0">
                <a:solidFill>
                  <a:schemeClr val="tx1"/>
                </a:solidFill>
              </a:rPr>
              <a:t>Accidents like Road Traffic Accidents ( RTA)industrial accidents etc.</a:t>
            </a:r>
          </a:p>
          <a:p>
            <a:pPr marL="502920" indent="-457200">
              <a:buFont typeface="+mj-lt"/>
              <a:buAutoNum type="alphaUcPeriod"/>
            </a:pPr>
            <a:r>
              <a:rPr lang="en-IN" b="1" dirty="0">
                <a:solidFill>
                  <a:schemeClr val="tx1"/>
                </a:solidFill>
              </a:rPr>
              <a:t>Cases of trauma </a:t>
            </a:r>
          </a:p>
          <a:p>
            <a:pPr marL="502920" indent="-457200">
              <a:buFont typeface="+mj-lt"/>
              <a:buAutoNum type="alphaUcPeriod"/>
            </a:pPr>
            <a:r>
              <a:rPr lang="en-IN" b="1" dirty="0">
                <a:solidFill>
                  <a:schemeClr val="tx1"/>
                </a:solidFill>
              </a:rPr>
              <a:t>Electrical injuries </a:t>
            </a:r>
          </a:p>
          <a:p>
            <a:pPr marL="502920" indent="-457200">
              <a:buFont typeface="+mj-lt"/>
              <a:buAutoNum type="alphaUcPeriod"/>
            </a:pPr>
            <a:r>
              <a:rPr lang="en-IN" b="1" dirty="0">
                <a:solidFill>
                  <a:schemeClr val="tx1"/>
                </a:solidFill>
              </a:rPr>
              <a:t>Poisoning , Alcohol Intoxication </a:t>
            </a:r>
          </a:p>
          <a:p>
            <a:pPr marL="502920" indent="-457200">
              <a:buFont typeface="+mj-lt"/>
              <a:buAutoNum type="alphaUcPeriod"/>
            </a:pPr>
            <a:r>
              <a:rPr lang="en-IN" b="1" dirty="0">
                <a:solidFill>
                  <a:schemeClr val="tx1"/>
                </a:solidFill>
              </a:rPr>
              <a:t>Undiagnosed coma </a:t>
            </a:r>
          </a:p>
          <a:p>
            <a:pPr marL="502920" indent="-457200">
              <a:buFont typeface="+mj-lt"/>
              <a:buAutoNum type="alphaUcPeriod"/>
            </a:pPr>
            <a:r>
              <a:rPr lang="en-IN" b="1" dirty="0">
                <a:solidFill>
                  <a:schemeClr val="tx1"/>
                </a:solidFill>
              </a:rPr>
              <a:t>Chemical injuries </a:t>
            </a:r>
          </a:p>
          <a:p>
            <a:pPr marL="502920" indent="-457200">
              <a:buFont typeface="+mj-lt"/>
              <a:buAutoNum type="alphaUcPeriod"/>
            </a:pPr>
            <a:r>
              <a:rPr lang="en-IN" b="1" dirty="0">
                <a:solidFill>
                  <a:schemeClr val="tx1"/>
                </a:solidFill>
              </a:rPr>
              <a:t>Burns and scalds </a:t>
            </a:r>
          </a:p>
          <a:p>
            <a:pPr marL="502920" indent="-457200">
              <a:buFont typeface="+mj-lt"/>
              <a:buAutoNum type="alphaUcPeriod"/>
            </a:pPr>
            <a:r>
              <a:rPr lang="en-IN" b="1" dirty="0">
                <a:solidFill>
                  <a:schemeClr val="tx1"/>
                </a:solidFill>
              </a:rPr>
              <a:t>Sexual offences </a:t>
            </a:r>
          </a:p>
          <a:p>
            <a:pPr marL="502920" indent="-457200">
              <a:buFont typeface="+mj-lt"/>
              <a:buAutoNum type="alphaUcPeriod"/>
            </a:pPr>
            <a:r>
              <a:rPr lang="en-IN" b="1" dirty="0">
                <a:solidFill>
                  <a:schemeClr val="tx1"/>
                </a:solidFill>
              </a:rPr>
              <a:t>Criminal abortions </a:t>
            </a:r>
            <a:br>
              <a:rPr lang="en-IN" b="1" dirty="0">
                <a:solidFill>
                  <a:schemeClr val="tx1"/>
                </a:solidFill>
              </a:rPr>
            </a:br>
            <a:endParaRPr lang="en-IN" b="1" dirty="0">
              <a:solidFill>
                <a:schemeClr val="tx1"/>
              </a:solidFill>
            </a:endParaRPr>
          </a:p>
        </p:txBody>
      </p:sp>
      <p:sp>
        <p:nvSpPr>
          <p:cNvPr id="5" name="Content Placeholder 4">
            <a:extLst>
              <a:ext uri="{FF2B5EF4-FFF2-40B4-BE49-F238E27FC236}">
                <a16:creationId xmlns:a16="http://schemas.microsoft.com/office/drawing/2014/main" id="{8CAE32A1-2E2C-41AF-805D-6785EAED1974}"/>
              </a:ext>
            </a:extLst>
          </p:cNvPr>
          <p:cNvSpPr>
            <a:spLocks noGrp="1"/>
          </p:cNvSpPr>
          <p:nvPr>
            <p:ph sz="half" idx="2"/>
          </p:nvPr>
        </p:nvSpPr>
        <p:spPr>
          <a:xfrm>
            <a:off x="6096001" y="1399308"/>
            <a:ext cx="5791200" cy="5458692"/>
          </a:xfrm>
        </p:spPr>
        <p:style>
          <a:lnRef idx="3">
            <a:schemeClr val="lt1"/>
          </a:lnRef>
          <a:fillRef idx="1">
            <a:schemeClr val="accent2"/>
          </a:fillRef>
          <a:effectRef idx="1">
            <a:schemeClr val="accent2"/>
          </a:effectRef>
          <a:fontRef idx="minor">
            <a:schemeClr val="lt1"/>
          </a:fontRef>
        </p:style>
        <p:txBody>
          <a:bodyPr>
            <a:normAutofit lnSpcReduction="10000"/>
          </a:bodyPr>
          <a:lstStyle/>
          <a:p>
            <a:r>
              <a:rPr lang="en-IN" b="1" dirty="0"/>
              <a:t>Attempted suicide </a:t>
            </a:r>
          </a:p>
          <a:p>
            <a:r>
              <a:rPr lang="en-IN" b="1" dirty="0"/>
              <a:t>Cases of asphyxia as a result of hanging , drowning , suffocations, strangulation, etc.</a:t>
            </a:r>
          </a:p>
          <a:p>
            <a:r>
              <a:rPr lang="en-IN" b="1" dirty="0"/>
              <a:t>Custodial deaths </a:t>
            </a:r>
          </a:p>
          <a:p>
            <a:r>
              <a:rPr lang="en-IN" b="1" dirty="0"/>
              <a:t>Death </a:t>
            </a:r>
            <a:r>
              <a:rPr lang="en-IN" b="1" dirty="0" err="1"/>
              <a:t>Iin</a:t>
            </a:r>
            <a:r>
              <a:rPr lang="en-IN" b="1" dirty="0"/>
              <a:t> the operation theatre </a:t>
            </a:r>
          </a:p>
          <a:p>
            <a:r>
              <a:rPr lang="en-IN" b="1" dirty="0"/>
              <a:t>Unnatural deaths</a:t>
            </a:r>
          </a:p>
          <a:p>
            <a:r>
              <a:rPr lang="en-IN" b="1" dirty="0"/>
              <a:t>Death due to snake bite or Animal Bite</a:t>
            </a:r>
          </a:p>
          <a:p>
            <a:r>
              <a:rPr lang="en-IN" b="1" dirty="0"/>
              <a:t>Fire arm injuries </a:t>
            </a:r>
          </a:p>
          <a:p>
            <a:r>
              <a:rPr lang="en-IN" b="1" dirty="0"/>
              <a:t>Drug overdose</a:t>
            </a:r>
          </a:p>
          <a:p>
            <a:r>
              <a:rPr lang="en-IN" b="1" dirty="0"/>
              <a:t>Dead brought to the accident and emergency dept / MI room ( Found Dead ) and death occurring within 24 hours of hospitalization without establishment of a diagnosis </a:t>
            </a:r>
          </a:p>
          <a:p>
            <a:endParaRPr lang="en-IN" b="1" dirty="0"/>
          </a:p>
        </p:txBody>
      </p:sp>
    </p:spTree>
    <p:extLst>
      <p:ext uri="{BB962C8B-B14F-4D97-AF65-F5344CB8AC3E}">
        <p14:creationId xmlns:p14="http://schemas.microsoft.com/office/powerpoint/2010/main" val="1851729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B2B8B0-831E-45F4-8D4D-4D37DAF6D280}"/>
              </a:ext>
            </a:extLst>
          </p:cNvPr>
          <p:cNvSpPr>
            <a:spLocks noGrp="1"/>
          </p:cNvSpPr>
          <p:nvPr>
            <p:ph type="title"/>
          </p:nvPr>
        </p:nvSpPr>
        <p:spPr>
          <a:xfrm>
            <a:off x="415636" y="484910"/>
            <a:ext cx="10602884" cy="872836"/>
          </a:xfrm>
        </p:spPr>
        <p:txBody>
          <a:bodyPr/>
          <a:lstStyle/>
          <a:p>
            <a:r>
              <a:rPr lang="en-IN" dirty="0"/>
              <a:t>Why To Manage MLC ?</a:t>
            </a:r>
          </a:p>
        </p:txBody>
      </p:sp>
      <p:sp>
        <p:nvSpPr>
          <p:cNvPr id="6" name="Content Placeholder 5">
            <a:extLst>
              <a:ext uri="{FF2B5EF4-FFF2-40B4-BE49-F238E27FC236}">
                <a16:creationId xmlns:a16="http://schemas.microsoft.com/office/drawing/2014/main" id="{EA1137FC-7799-475C-8290-6DA072D5FA2B}"/>
              </a:ext>
            </a:extLst>
          </p:cNvPr>
          <p:cNvSpPr>
            <a:spLocks noGrp="1"/>
          </p:cNvSpPr>
          <p:nvPr>
            <p:ph idx="1"/>
          </p:nvPr>
        </p:nvSpPr>
        <p:spPr>
          <a:xfrm>
            <a:off x="512618" y="1620982"/>
            <a:ext cx="10503253" cy="4475018"/>
          </a:xfrm>
        </p:spPr>
        <p:style>
          <a:lnRef idx="0">
            <a:schemeClr val="accent5"/>
          </a:lnRef>
          <a:fillRef idx="3">
            <a:schemeClr val="accent5"/>
          </a:fillRef>
          <a:effectRef idx="3">
            <a:schemeClr val="accent5"/>
          </a:effectRef>
          <a:fontRef idx="minor">
            <a:schemeClr val="lt1"/>
          </a:fontRef>
        </p:style>
        <p:txBody>
          <a:bodyPr/>
          <a:lstStyle/>
          <a:p>
            <a:r>
              <a:rPr lang="en-IN" b="1" dirty="0">
                <a:solidFill>
                  <a:schemeClr val="tx1"/>
                </a:solidFill>
              </a:rPr>
              <a:t>ML cases are just as  NON MLC sick / injured patients and the doctor is duty bound to treat as well as document the details.</a:t>
            </a:r>
          </a:p>
          <a:p>
            <a:endParaRPr lang="en-IN" b="1" dirty="0">
              <a:solidFill>
                <a:schemeClr val="tx1"/>
              </a:solidFill>
            </a:endParaRPr>
          </a:p>
          <a:p>
            <a:r>
              <a:rPr lang="en-IN" b="1" dirty="0">
                <a:solidFill>
                  <a:schemeClr val="tx1"/>
                </a:solidFill>
              </a:rPr>
              <a:t>It is a crucial piece of evidence </a:t>
            </a:r>
          </a:p>
          <a:p>
            <a:endParaRPr lang="en-IN" b="1" dirty="0">
              <a:solidFill>
                <a:schemeClr val="tx1"/>
              </a:solidFill>
            </a:endParaRPr>
          </a:p>
          <a:p>
            <a:r>
              <a:rPr lang="en-IN" b="1" dirty="0">
                <a:solidFill>
                  <a:schemeClr val="tx1"/>
                </a:solidFill>
              </a:rPr>
              <a:t>The responsibility of label any case as MLC rest solely with the attending medical practitioner.</a:t>
            </a:r>
          </a:p>
        </p:txBody>
      </p:sp>
    </p:spTree>
    <p:extLst>
      <p:ext uri="{BB962C8B-B14F-4D97-AF65-F5344CB8AC3E}">
        <p14:creationId xmlns:p14="http://schemas.microsoft.com/office/powerpoint/2010/main" val="1404796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89778-71C3-442E-8645-2B5C5052CD98}"/>
              </a:ext>
            </a:extLst>
          </p:cNvPr>
          <p:cNvSpPr>
            <a:spLocks noGrp="1"/>
          </p:cNvSpPr>
          <p:nvPr>
            <p:ph type="title"/>
          </p:nvPr>
        </p:nvSpPr>
        <p:spPr>
          <a:xfrm>
            <a:off x="387927" y="318655"/>
            <a:ext cx="11540835" cy="1108363"/>
          </a:xfrm>
        </p:spPr>
        <p:txBody>
          <a:bodyPr/>
          <a:lstStyle/>
          <a:p>
            <a:r>
              <a:rPr lang="en-IN" dirty="0"/>
              <a:t>What is POLICE INTIMATION </a:t>
            </a:r>
          </a:p>
        </p:txBody>
      </p:sp>
      <p:sp>
        <p:nvSpPr>
          <p:cNvPr id="3" name="Content Placeholder 2">
            <a:extLst>
              <a:ext uri="{FF2B5EF4-FFF2-40B4-BE49-F238E27FC236}">
                <a16:creationId xmlns:a16="http://schemas.microsoft.com/office/drawing/2014/main" id="{B6B3F7C7-E3C6-4430-AF7C-46139E9F0715}"/>
              </a:ext>
            </a:extLst>
          </p:cNvPr>
          <p:cNvSpPr>
            <a:spLocks noGrp="1"/>
          </p:cNvSpPr>
          <p:nvPr>
            <p:ph idx="1"/>
          </p:nvPr>
        </p:nvSpPr>
        <p:spPr>
          <a:xfrm>
            <a:off x="387927" y="1427018"/>
            <a:ext cx="11540837" cy="5430981"/>
          </a:xfrm>
        </p:spPr>
        <p:txBody>
          <a:bodyPr>
            <a:normAutofit/>
          </a:bodyPr>
          <a:lstStyle/>
          <a:p>
            <a:r>
              <a:rPr lang="en-IN" b="1" dirty="0">
                <a:solidFill>
                  <a:schemeClr val="tx1"/>
                </a:solidFill>
              </a:rPr>
              <a:t>The police should be informed , undersection 39 of criminal procedure . Code, the attending MO is legally bound to inform the police about the arrival of a MLC.</a:t>
            </a:r>
          </a:p>
          <a:p>
            <a:r>
              <a:rPr lang="en-IN" b="1" dirty="0">
                <a:solidFill>
                  <a:schemeClr val="tx1"/>
                </a:solidFill>
              </a:rPr>
              <a:t>Any failure to report the occurrence of a MLC may invite prosecution under section 176 and / or 202  of I.P.C . Simultaneously, the information should be given to ADH, STATION HEAD QUARTERS and to the concerned MILITARY Police (If req.)the communication should invariably be followed by communication in writing subsequently.</a:t>
            </a:r>
          </a:p>
          <a:p>
            <a:r>
              <a:rPr lang="en-IN" b="1" dirty="0">
                <a:solidFill>
                  <a:schemeClr val="tx1"/>
                </a:solidFill>
              </a:rPr>
              <a:t>In case of discharge / </a:t>
            </a:r>
            <a:r>
              <a:rPr lang="en-IN" b="1" dirty="0" err="1">
                <a:solidFill>
                  <a:schemeClr val="tx1"/>
                </a:solidFill>
              </a:rPr>
              <a:t>tranmsfer</a:t>
            </a:r>
            <a:r>
              <a:rPr lang="en-IN" b="1" dirty="0">
                <a:solidFill>
                  <a:schemeClr val="tx1"/>
                </a:solidFill>
              </a:rPr>
              <a:t>/ death  of such a case in the hospital, the police should be informed.</a:t>
            </a:r>
          </a:p>
          <a:p>
            <a:r>
              <a:rPr lang="en-IN" b="1" dirty="0">
                <a:solidFill>
                  <a:schemeClr val="tx1"/>
                </a:solidFill>
                <a:highlight>
                  <a:srgbClr val="FFFF00"/>
                </a:highlight>
              </a:rPr>
              <a:t>Generally 3 </a:t>
            </a:r>
            <a:r>
              <a:rPr lang="en-IN" b="1" dirty="0" err="1">
                <a:solidFill>
                  <a:schemeClr val="tx1"/>
                </a:solidFill>
                <a:highlight>
                  <a:srgbClr val="FFFF00"/>
                </a:highlight>
              </a:rPr>
              <a:t>ccopies</a:t>
            </a:r>
            <a:r>
              <a:rPr lang="en-IN" b="1" dirty="0">
                <a:solidFill>
                  <a:schemeClr val="tx1"/>
                </a:solidFill>
                <a:highlight>
                  <a:srgbClr val="FFFF00"/>
                </a:highlight>
              </a:rPr>
              <a:t> are available in the police intimation book</a:t>
            </a:r>
          </a:p>
          <a:p>
            <a:r>
              <a:rPr lang="en-IN" b="1" dirty="0">
                <a:solidFill>
                  <a:schemeClr val="tx1"/>
                </a:solidFill>
              </a:rPr>
              <a:t>1</a:t>
            </a:r>
            <a:r>
              <a:rPr lang="en-IN" b="1" baseline="30000" dirty="0">
                <a:solidFill>
                  <a:schemeClr val="tx1"/>
                </a:solidFill>
              </a:rPr>
              <a:t>st</a:t>
            </a:r>
            <a:r>
              <a:rPr lang="en-IN" b="1" dirty="0">
                <a:solidFill>
                  <a:schemeClr val="tx1"/>
                </a:solidFill>
              </a:rPr>
              <a:t> copy to nearest police station </a:t>
            </a:r>
          </a:p>
          <a:p>
            <a:r>
              <a:rPr lang="en-IN" b="1" dirty="0">
                <a:solidFill>
                  <a:schemeClr val="tx1"/>
                </a:solidFill>
              </a:rPr>
              <a:t>2</a:t>
            </a:r>
            <a:r>
              <a:rPr lang="en-IN" b="1" baseline="30000" dirty="0">
                <a:solidFill>
                  <a:schemeClr val="tx1"/>
                </a:solidFill>
              </a:rPr>
              <a:t>nd</a:t>
            </a:r>
            <a:r>
              <a:rPr lang="en-IN" b="1" dirty="0">
                <a:solidFill>
                  <a:schemeClr val="tx1"/>
                </a:solidFill>
              </a:rPr>
              <a:t> copy to incident occurred place – police station </a:t>
            </a:r>
          </a:p>
          <a:p>
            <a:r>
              <a:rPr lang="en-IN" b="1" dirty="0">
                <a:solidFill>
                  <a:schemeClr val="tx1"/>
                </a:solidFill>
              </a:rPr>
              <a:t>3</a:t>
            </a:r>
            <a:r>
              <a:rPr lang="en-IN" b="1" baseline="30000" dirty="0">
                <a:solidFill>
                  <a:schemeClr val="tx1"/>
                </a:solidFill>
              </a:rPr>
              <a:t>rd</a:t>
            </a:r>
            <a:r>
              <a:rPr lang="en-IN" b="1" dirty="0">
                <a:solidFill>
                  <a:schemeClr val="tx1"/>
                </a:solidFill>
              </a:rPr>
              <a:t> copy for medical records or in the police intimation book itself </a:t>
            </a:r>
          </a:p>
        </p:txBody>
      </p:sp>
    </p:spTree>
    <p:extLst>
      <p:ext uri="{BB962C8B-B14F-4D97-AF65-F5344CB8AC3E}">
        <p14:creationId xmlns:p14="http://schemas.microsoft.com/office/powerpoint/2010/main" val="2614219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A052C-221D-4E9E-9FDE-79C128C98B5D}"/>
              </a:ext>
            </a:extLst>
          </p:cNvPr>
          <p:cNvSpPr>
            <a:spLocks noGrp="1"/>
          </p:cNvSpPr>
          <p:nvPr>
            <p:ph type="title"/>
          </p:nvPr>
        </p:nvSpPr>
        <p:spPr>
          <a:xfrm>
            <a:off x="332509" y="290946"/>
            <a:ext cx="10686011" cy="1108364"/>
          </a:xfrm>
        </p:spPr>
        <p:txBody>
          <a:bodyPr/>
          <a:lstStyle/>
          <a:p>
            <a:r>
              <a:rPr lang="en-IN" dirty="0"/>
              <a:t>DOCUMENTATION OF A MLC </a:t>
            </a:r>
          </a:p>
        </p:txBody>
      </p:sp>
      <p:sp>
        <p:nvSpPr>
          <p:cNvPr id="3" name="Content Placeholder 2">
            <a:extLst>
              <a:ext uri="{FF2B5EF4-FFF2-40B4-BE49-F238E27FC236}">
                <a16:creationId xmlns:a16="http://schemas.microsoft.com/office/drawing/2014/main" id="{8803CFFF-30D0-4D81-BEC7-D0C4086B5984}"/>
              </a:ext>
            </a:extLst>
          </p:cNvPr>
          <p:cNvSpPr>
            <a:spLocks noGrp="1"/>
          </p:cNvSpPr>
          <p:nvPr>
            <p:ph idx="1"/>
          </p:nvPr>
        </p:nvSpPr>
        <p:spPr>
          <a:xfrm>
            <a:off x="332509" y="1759528"/>
            <a:ext cx="11263685" cy="5569527"/>
          </a:xfrm>
        </p:spPr>
        <p:txBody>
          <a:bodyPr>
            <a:normAutofit/>
          </a:bodyPr>
          <a:lstStyle/>
          <a:p>
            <a:r>
              <a:rPr lang="en-IN" b="1" dirty="0">
                <a:solidFill>
                  <a:schemeClr val="tx1"/>
                </a:solidFill>
              </a:rPr>
              <a:t>Documentation is done in duplicate in a set Performa ( as per hospital policy )preferably in a clear and legible handwriting and in complete words without using shortcuts.</a:t>
            </a:r>
          </a:p>
          <a:p>
            <a:r>
              <a:rPr lang="en-IN" b="1" dirty="0">
                <a:solidFill>
                  <a:schemeClr val="tx1"/>
                </a:solidFill>
              </a:rPr>
              <a:t>Cutting / overwriting etc should be avoided as much as possible and all corrections should be properly initialled. Abbreviations of any sort should be avoided.</a:t>
            </a:r>
          </a:p>
          <a:p>
            <a:r>
              <a:rPr lang="en-IN" b="1" dirty="0">
                <a:solidFill>
                  <a:schemeClr val="tx1"/>
                </a:solidFill>
              </a:rPr>
              <a:t>Separate </a:t>
            </a:r>
            <a:r>
              <a:rPr lang="en-IN" b="1" dirty="0" err="1">
                <a:solidFill>
                  <a:schemeClr val="tx1"/>
                </a:solidFill>
              </a:rPr>
              <a:t>performa</a:t>
            </a:r>
            <a:r>
              <a:rPr lang="en-IN" b="1" dirty="0">
                <a:solidFill>
                  <a:schemeClr val="tx1"/>
                </a:solidFill>
              </a:rPr>
              <a:t> may be available for medical examination, examination of drunkenness  etc.</a:t>
            </a:r>
          </a:p>
          <a:p>
            <a:r>
              <a:rPr lang="en-IN" b="1" dirty="0">
                <a:solidFill>
                  <a:schemeClr val="tx1"/>
                </a:solidFill>
              </a:rPr>
              <a:t>All columns are filled up carefully and by the same doctor who had examined the patient.</a:t>
            </a:r>
          </a:p>
          <a:p>
            <a:r>
              <a:rPr lang="en-IN" b="1" dirty="0">
                <a:solidFill>
                  <a:schemeClr val="tx1"/>
                </a:solidFill>
              </a:rPr>
              <a:t>The details are completed then and there, leaving no provisions as to be completed later on .</a:t>
            </a:r>
          </a:p>
        </p:txBody>
      </p:sp>
    </p:spTree>
    <p:extLst>
      <p:ext uri="{BB962C8B-B14F-4D97-AF65-F5344CB8AC3E}">
        <p14:creationId xmlns:p14="http://schemas.microsoft.com/office/powerpoint/2010/main" val="3061319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78B3B6-060D-403E-802B-BE64B12C7C5E}"/>
              </a:ext>
            </a:extLst>
          </p:cNvPr>
          <p:cNvSpPr>
            <a:spLocks noGrp="1"/>
          </p:cNvSpPr>
          <p:nvPr>
            <p:ph idx="1"/>
          </p:nvPr>
        </p:nvSpPr>
        <p:spPr>
          <a:xfrm>
            <a:off x="318655" y="263237"/>
            <a:ext cx="11582400" cy="6345382"/>
          </a:xfrm>
        </p:spPr>
        <p:txBody>
          <a:bodyPr>
            <a:normAutofit lnSpcReduction="10000"/>
          </a:bodyPr>
          <a:lstStyle/>
          <a:p>
            <a:r>
              <a:rPr lang="en-IN" b="1" dirty="0">
                <a:solidFill>
                  <a:schemeClr val="tx1"/>
                </a:solidFill>
              </a:rPr>
              <a:t>Investigation advised and findings to be entered</a:t>
            </a:r>
          </a:p>
          <a:p>
            <a:r>
              <a:rPr lang="en-IN" b="1" dirty="0">
                <a:solidFill>
                  <a:schemeClr val="tx1"/>
                </a:solidFill>
              </a:rPr>
              <a:t>Treatment given at the site or on reporting .</a:t>
            </a:r>
          </a:p>
          <a:p>
            <a:r>
              <a:rPr lang="en-IN" b="1" dirty="0">
                <a:solidFill>
                  <a:schemeClr val="tx1"/>
                </a:solidFill>
              </a:rPr>
              <a:t>The opinion to be recorded in </a:t>
            </a:r>
            <a:r>
              <a:rPr lang="en-IN" b="1" dirty="0" err="1">
                <a:solidFill>
                  <a:schemeClr val="tx1"/>
                </a:solidFill>
              </a:rPr>
              <a:t>mlc</a:t>
            </a:r>
            <a:r>
              <a:rPr lang="en-IN" b="1" dirty="0">
                <a:solidFill>
                  <a:schemeClr val="tx1"/>
                </a:solidFill>
              </a:rPr>
              <a:t> sheet, if opinion cant be given, under observation be given and singed by the doctor with name written in block letters.</a:t>
            </a:r>
          </a:p>
          <a:p>
            <a:r>
              <a:rPr lang="en-IN" b="1" dirty="0">
                <a:solidFill>
                  <a:schemeClr val="tx1"/>
                </a:solidFill>
              </a:rPr>
              <a:t>Final opinion be given by same doctor making MLC in the original MLC sheet, after all investigations are completed .</a:t>
            </a:r>
          </a:p>
          <a:p>
            <a:r>
              <a:rPr lang="en-IN" b="1" dirty="0">
                <a:solidFill>
                  <a:schemeClr val="tx1"/>
                </a:solidFill>
              </a:rPr>
              <a:t>After completion the doctor sign and mention his/her name in full below it with designation</a:t>
            </a:r>
          </a:p>
          <a:p>
            <a:r>
              <a:rPr lang="en-IN" b="1" dirty="0">
                <a:solidFill>
                  <a:schemeClr val="tx1"/>
                </a:solidFill>
              </a:rPr>
              <a:t>After registration of a case as MLC thereafter all documents and registration forms bear the same MLC number including the discharge slip .</a:t>
            </a:r>
          </a:p>
          <a:p>
            <a:r>
              <a:rPr lang="en-IN" b="1" dirty="0">
                <a:solidFill>
                  <a:schemeClr val="tx1"/>
                </a:solidFill>
              </a:rPr>
              <a:t>The patient is admitted or discharged with advice be entered into case sheet.</a:t>
            </a:r>
          </a:p>
          <a:p>
            <a:r>
              <a:rPr lang="en-IN" b="1" dirty="0">
                <a:solidFill>
                  <a:schemeClr val="tx1"/>
                </a:solidFill>
              </a:rPr>
              <a:t>All </a:t>
            </a:r>
            <a:r>
              <a:rPr lang="en-IN" b="1" dirty="0" err="1">
                <a:solidFill>
                  <a:schemeClr val="tx1"/>
                </a:solidFill>
              </a:rPr>
              <a:t>mlc</a:t>
            </a:r>
            <a:r>
              <a:rPr lang="en-IN" b="1" dirty="0">
                <a:solidFill>
                  <a:schemeClr val="tx1"/>
                </a:solidFill>
              </a:rPr>
              <a:t> x rays be kept in dept. as evidence for court of law.</a:t>
            </a:r>
          </a:p>
          <a:p>
            <a:r>
              <a:rPr lang="en-IN" b="1" dirty="0">
                <a:solidFill>
                  <a:schemeClr val="tx1"/>
                </a:solidFill>
              </a:rPr>
              <a:t>Special samples taken to be entered into the MLC sheet.</a:t>
            </a:r>
          </a:p>
          <a:p>
            <a:r>
              <a:rPr lang="en-IN" b="1" dirty="0">
                <a:solidFill>
                  <a:schemeClr val="tx1"/>
                </a:solidFill>
              </a:rPr>
              <a:t>If the patient is dead, handed over to police for post mortem and not to relatives.</a:t>
            </a:r>
          </a:p>
          <a:p>
            <a:r>
              <a:rPr lang="en-IN" b="1" dirty="0">
                <a:solidFill>
                  <a:schemeClr val="tx1"/>
                </a:solidFill>
              </a:rPr>
              <a:t>Copy of MLC sheet be handed over to police for further investigation  against his signature and number on the copy .</a:t>
            </a:r>
          </a:p>
        </p:txBody>
      </p:sp>
    </p:spTree>
    <p:extLst>
      <p:ext uri="{BB962C8B-B14F-4D97-AF65-F5344CB8AC3E}">
        <p14:creationId xmlns:p14="http://schemas.microsoft.com/office/powerpoint/2010/main" val="3966710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83068-FC8A-491B-BC43-3717B5C67E71}"/>
              </a:ext>
            </a:extLst>
          </p:cNvPr>
          <p:cNvSpPr>
            <a:spLocks noGrp="1"/>
          </p:cNvSpPr>
          <p:nvPr>
            <p:ph type="title"/>
          </p:nvPr>
        </p:nvSpPr>
        <p:spPr/>
        <p:txBody>
          <a:bodyPr/>
          <a:lstStyle/>
          <a:p>
            <a:r>
              <a:rPr lang="en-IN" dirty="0"/>
              <a:t>GENERAL DETAILS </a:t>
            </a:r>
          </a:p>
        </p:txBody>
      </p:sp>
      <p:sp>
        <p:nvSpPr>
          <p:cNvPr id="3" name="Content Placeholder 2">
            <a:extLst>
              <a:ext uri="{FF2B5EF4-FFF2-40B4-BE49-F238E27FC236}">
                <a16:creationId xmlns:a16="http://schemas.microsoft.com/office/drawing/2014/main" id="{893478A9-3670-4F33-8CB6-41AF73A8AF83}"/>
              </a:ext>
            </a:extLst>
          </p:cNvPr>
          <p:cNvSpPr>
            <a:spLocks noGrp="1"/>
          </p:cNvSpPr>
          <p:nvPr>
            <p:ph idx="1"/>
          </p:nvPr>
        </p:nvSpPr>
        <p:spPr>
          <a:xfrm>
            <a:off x="997528" y="1579418"/>
            <a:ext cx="10018344" cy="4516582"/>
          </a:xfrm>
        </p:spPr>
        <p:txBody>
          <a:bodyPr>
            <a:normAutofit fontScale="85000" lnSpcReduction="20000"/>
          </a:bodyPr>
          <a:lstStyle/>
          <a:p>
            <a:pPr marL="502920" indent="-457200">
              <a:buFont typeface="+mj-lt"/>
              <a:buAutoNum type="arabicPeriod"/>
            </a:pPr>
            <a:r>
              <a:rPr lang="en-IN" b="1" dirty="0">
                <a:solidFill>
                  <a:schemeClr val="tx1"/>
                </a:solidFill>
              </a:rPr>
              <a:t>REGISTRATION NUMBER</a:t>
            </a:r>
          </a:p>
          <a:p>
            <a:pPr marL="502920" indent="-457200">
              <a:buFont typeface="+mj-lt"/>
              <a:buAutoNum type="arabicPeriod"/>
            </a:pPr>
            <a:r>
              <a:rPr lang="en-IN" b="1" dirty="0">
                <a:solidFill>
                  <a:schemeClr val="tx1"/>
                </a:solidFill>
              </a:rPr>
              <a:t>MLC NO </a:t>
            </a:r>
          </a:p>
          <a:p>
            <a:pPr marL="502920" indent="-457200">
              <a:buFont typeface="+mj-lt"/>
              <a:buAutoNum type="arabicPeriod"/>
            </a:pPr>
            <a:r>
              <a:rPr lang="en-IN" b="1" dirty="0">
                <a:solidFill>
                  <a:schemeClr val="tx1"/>
                </a:solidFill>
              </a:rPr>
              <a:t>NAME</a:t>
            </a:r>
          </a:p>
          <a:p>
            <a:pPr marL="502920" indent="-457200">
              <a:buFont typeface="+mj-lt"/>
              <a:buAutoNum type="arabicPeriod"/>
            </a:pPr>
            <a:r>
              <a:rPr lang="en-IN" b="1" dirty="0">
                <a:solidFill>
                  <a:schemeClr val="tx1"/>
                </a:solidFill>
              </a:rPr>
              <a:t>S/D/W OF </a:t>
            </a:r>
          </a:p>
          <a:p>
            <a:pPr marL="502920" indent="-457200">
              <a:buFont typeface="+mj-lt"/>
              <a:buAutoNum type="arabicPeriod"/>
            </a:pPr>
            <a:r>
              <a:rPr lang="en-IN" b="1" dirty="0">
                <a:solidFill>
                  <a:schemeClr val="tx1"/>
                </a:solidFill>
              </a:rPr>
              <a:t>AGE </a:t>
            </a:r>
          </a:p>
          <a:p>
            <a:pPr marL="502920" indent="-457200">
              <a:buFont typeface="+mj-lt"/>
              <a:buAutoNum type="arabicPeriod"/>
            </a:pPr>
            <a:r>
              <a:rPr lang="en-IN" b="1" dirty="0">
                <a:solidFill>
                  <a:schemeClr val="tx1"/>
                </a:solidFill>
              </a:rPr>
              <a:t>SEX</a:t>
            </a:r>
          </a:p>
          <a:p>
            <a:pPr marL="502920" indent="-457200">
              <a:buFont typeface="+mj-lt"/>
              <a:buAutoNum type="arabicPeriod"/>
            </a:pPr>
            <a:r>
              <a:rPr lang="en-IN" b="1" dirty="0">
                <a:solidFill>
                  <a:schemeClr val="tx1"/>
                </a:solidFill>
              </a:rPr>
              <a:t>RELIGION </a:t>
            </a:r>
          </a:p>
          <a:p>
            <a:pPr marL="502920" indent="-457200">
              <a:buFont typeface="+mj-lt"/>
              <a:buAutoNum type="arabicPeriod"/>
            </a:pPr>
            <a:r>
              <a:rPr lang="en-IN" b="1" dirty="0">
                <a:solidFill>
                  <a:schemeClr val="tx1"/>
                </a:solidFill>
              </a:rPr>
              <a:t>OCCUPATION</a:t>
            </a:r>
          </a:p>
          <a:p>
            <a:pPr marL="502920" indent="-457200">
              <a:buFont typeface="+mj-lt"/>
              <a:buAutoNum type="arabicPeriod"/>
            </a:pPr>
            <a:r>
              <a:rPr lang="en-IN" b="1" dirty="0">
                <a:solidFill>
                  <a:schemeClr val="tx1"/>
                </a:solidFill>
              </a:rPr>
              <a:t>RESIDENTIAL ADDRESS</a:t>
            </a:r>
          </a:p>
          <a:p>
            <a:pPr marL="502920" indent="-457200">
              <a:buFont typeface="+mj-lt"/>
              <a:buAutoNum type="arabicPeriod"/>
            </a:pPr>
            <a:r>
              <a:rPr lang="en-IN" b="1" dirty="0">
                <a:solidFill>
                  <a:schemeClr val="tx1"/>
                </a:solidFill>
              </a:rPr>
              <a:t>BROUGHT BY ………………………………………….</a:t>
            </a:r>
          </a:p>
          <a:p>
            <a:pPr marL="502920" indent="-457200">
              <a:buFont typeface="+mj-lt"/>
              <a:buAutoNum type="arabicPeriod"/>
            </a:pPr>
            <a:r>
              <a:rPr lang="en-IN" b="1" dirty="0">
                <a:solidFill>
                  <a:schemeClr val="tx1"/>
                </a:solidFill>
              </a:rPr>
              <a:t>DATE &amp; TIME OF EXAMINATION </a:t>
            </a:r>
          </a:p>
          <a:p>
            <a:pPr marL="502920" indent="-457200">
              <a:buFont typeface="+mj-lt"/>
              <a:buAutoNum type="arabicPeriod"/>
            </a:pPr>
            <a:r>
              <a:rPr lang="en-IN" b="1" dirty="0">
                <a:solidFill>
                  <a:schemeClr val="tx1"/>
                </a:solidFill>
              </a:rPr>
              <a:t>NAME OF THE POLICE STATION </a:t>
            </a:r>
          </a:p>
        </p:txBody>
      </p:sp>
    </p:spTree>
    <p:extLst>
      <p:ext uri="{BB962C8B-B14F-4D97-AF65-F5344CB8AC3E}">
        <p14:creationId xmlns:p14="http://schemas.microsoft.com/office/powerpoint/2010/main" val="2980359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9E5BF-3A0A-456F-A2A3-8C352BF628AA}"/>
              </a:ext>
            </a:extLst>
          </p:cNvPr>
          <p:cNvSpPr>
            <a:spLocks noGrp="1"/>
          </p:cNvSpPr>
          <p:nvPr>
            <p:ph type="title"/>
          </p:nvPr>
        </p:nvSpPr>
        <p:spPr/>
        <p:txBody>
          <a:bodyPr/>
          <a:lstStyle/>
          <a:p>
            <a:r>
              <a:rPr lang="en-IN" dirty="0"/>
              <a:t>TRANSFER OF MLC’S </a:t>
            </a:r>
          </a:p>
        </p:txBody>
      </p:sp>
      <p:sp>
        <p:nvSpPr>
          <p:cNvPr id="3" name="Content Placeholder 2">
            <a:extLst>
              <a:ext uri="{FF2B5EF4-FFF2-40B4-BE49-F238E27FC236}">
                <a16:creationId xmlns:a16="http://schemas.microsoft.com/office/drawing/2014/main" id="{6A5673A6-D487-44BA-86BF-611610577B7B}"/>
              </a:ext>
            </a:extLst>
          </p:cNvPr>
          <p:cNvSpPr>
            <a:spLocks noGrp="1"/>
          </p:cNvSpPr>
          <p:nvPr>
            <p:ph idx="1"/>
          </p:nvPr>
        </p:nvSpPr>
        <p:spPr>
          <a:xfrm>
            <a:off x="734292" y="1690255"/>
            <a:ext cx="10281580" cy="4876800"/>
          </a:xfrm>
        </p:spPr>
        <p:txBody>
          <a:bodyPr>
            <a:normAutofit/>
          </a:bodyPr>
          <a:lstStyle/>
          <a:p>
            <a:r>
              <a:rPr lang="en-IN" b="1" dirty="0">
                <a:solidFill>
                  <a:schemeClr val="tx1"/>
                </a:solidFill>
              </a:rPr>
              <a:t>The transfer hospital provides medical treatment within its capacity that minimizes the risks to the patient .</a:t>
            </a:r>
          </a:p>
          <a:p>
            <a:r>
              <a:rPr lang="en-IN" b="1" dirty="0">
                <a:solidFill>
                  <a:schemeClr val="tx1"/>
                </a:solidFill>
              </a:rPr>
              <a:t>The receiving hospital:</a:t>
            </a:r>
          </a:p>
          <a:p>
            <a:r>
              <a:rPr lang="en-IN" b="1" dirty="0">
                <a:solidFill>
                  <a:schemeClr val="tx1"/>
                </a:solidFill>
              </a:rPr>
              <a:t>A)has available space and qualified personnel for the treatment , &amp;</a:t>
            </a:r>
          </a:p>
          <a:p>
            <a:r>
              <a:rPr lang="en-IN" b="1" dirty="0">
                <a:solidFill>
                  <a:schemeClr val="tx1"/>
                </a:solidFill>
              </a:rPr>
              <a:t>b)has agreed to accept transfer and to provide appropriate treatment .</a:t>
            </a:r>
          </a:p>
          <a:p>
            <a:r>
              <a:rPr lang="en-IN" b="1" dirty="0">
                <a:solidFill>
                  <a:schemeClr val="tx1"/>
                </a:solidFill>
              </a:rPr>
              <a:t>The transferring hospital sends all medical records (history , examination findings, </a:t>
            </a:r>
            <a:r>
              <a:rPr lang="en-IN" b="1" dirty="0" err="1">
                <a:solidFill>
                  <a:schemeClr val="tx1"/>
                </a:solidFill>
              </a:rPr>
              <a:t>resultsof</a:t>
            </a:r>
            <a:r>
              <a:rPr lang="en-IN" b="1" dirty="0">
                <a:solidFill>
                  <a:schemeClr val="tx1"/>
                </a:solidFill>
              </a:rPr>
              <a:t> all diagnostic tests, provisional diagnosis, and treatment provided)that are available at that time .</a:t>
            </a:r>
          </a:p>
          <a:p>
            <a:r>
              <a:rPr lang="en-IN" b="1" dirty="0">
                <a:solidFill>
                  <a:schemeClr val="tx1"/>
                </a:solidFill>
              </a:rPr>
              <a:t>The informed written consent or certification as required.</a:t>
            </a:r>
          </a:p>
          <a:p>
            <a:r>
              <a:rPr lang="en-IN" b="1" dirty="0">
                <a:solidFill>
                  <a:schemeClr val="tx1"/>
                </a:solidFill>
              </a:rPr>
              <a:t>The transfer is effected through qualified personnel and transportation equipment to </a:t>
            </a:r>
            <a:r>
              <a:rPr lang="en-IN" b="1" dirty="0" err="1">
                <a:solidFill>
                  <a:schemeClr val="tx1"/>
                </a:solidFill>
              </a:rPr>
              <a:t>providelife</a:t>
            </a:r>
            <a:r>
              <a:rPr lang="en-IN" b="1" dirty="0">
                <a:solidFill>
                  <a:schemeClr val="tx1"/>
                </a:solidFill>
              </a:rPr>
              <a:t> support measures during the transfer.</a:t>
            </a:r>
          </a:p>
        </p:txBody>
      </p:sp>
    </p:spTree>
    <p:extLst>
      <p:ext uri="{BB962C8B-B14F-4D97-AF65-F5344CB8AC3E}">
        <p14:creationId xmlns:p14="http://schemas.microsoft.com/office/powerpoint/2010/main" val="63225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D72D9-72DD-461E-AE36-6DB6D8CF757A}"/>
              </a:ext>
            </a:extLst>
          </p:cNvPr>
          <p:cNvSpPr>
            <a:spLocks noGrp="1"/>
          </p:cNvSpPr>
          <p:nvPr>
            <p:ph type="title"/>
          </p:nvPr>
        </p:nvSpPr>
        <p:spPr/>
        <p:txBody>
          <a:bodyPr/>
          <a:lstStyle/>
          <a:p>
            <a:r>
              <a:rPr lang="en-IN" dirty="0"/>
              <a:t>BROUGHT DEAD CASES</a:t>
            </a:r>
          </a:p>
        </p:txBody>
      </p:sp>
      <p:sp>
        <p:nvSpPr>
          <p:cNvPr id="3" name="Content Placeholder 2">
            <a:extLst>
              <a:ext uri="{FF2B5EF4-FFF2-40B4-BE49-F238E27FC236}">
                <a16:creationId xmlns:a16="http://schemas.microsoft.com/office/drawing/2014/main" id="{0E1E54AB-61BA-4D2E-844C-2082A224113A}"/>
              </a:ext>
            </a:extLst>
          </p:cNvPr>
          <p:cNvSpPr>
            <a:spLocks noGrp="1"/>
          </p:cNvSpPr>
          <p:nvPr>
            <p:ph idx="1"/>
          </p:nvPr>
        </p:nvSpPr>
        <p:spPr>
          <a:xfrm>
            <a:off x="512617" y="1634836"/>
            <a:ext cx="11208327" cy="4973782"/>
          </a:xfrm>
        </p:spPr>
        <p:txBody>
          <a:bodyPr/>
          <a:lstStyle/>
          <a:p>
            <a:pPr marL="45720" indent="0">
              <a:buNone/>
            </a:pPr>
            <a:r>
              <a:rPr lang="en-IN" b="1" dirty="0">
                <a:solidFill>
                  <a:schemeClr val="tx1"/>
                </a:solidFill>
              </a:rPr>
              <a:t>All the cases of unnatural deaths like accidents, </a:t>
            </a:r>
            <a:r>
              <a:rPr lang="en-IN" b="1" dirty="0" err="1">
                <a:solidFill>
                  <a:schemeClr val="tx1"/>
                </a:solidFill>
              </a:rPr>
              <a:t>burns,violence</a:t>
            </a:r>
            <a:r>
              <a:rPr lang="en-IN" b="1" dirty="0">
                <a:solidFill>
                  <a:schemeClr val="tx1"/>
                </a:solidFill>
              </a:rPr>
              <a:t> and sexual assaults etc. depending  on the history obtained from the relatives or police accompanying the case should be labelled as medico  legal and all the formalities must be done with informing the police constable on duty.</a:t>
            </a:r>
          </a:p>
          <a:p>
            <a:pPr marL="45720" indent="0">
              <a:buNone/>
            </a:pPr>
            <a:r>
              <a:rPr lang="en-IN" b="1" dirty="0">
                <a:solidFill>
                  <a:schemeClr val="tx1"/>
                </a:solidFill>
              </a:rPr>
              <a:t>In all the brought dead cases where causality duty officer is very much satisfied after taking history and going through the records available, that the death was natural , he may not label them as medico legal  purely as his discretion </a:t>
            </a:r>
          </a:p>
          <a:p>
            <a:pPr marL="45720" indent="0">
              <a:buNone/>
            </a:pPr>
            <a:r>
              <a:rPr lang="en-IN" b="1" dirty="0">
                <a:solidFill>
                  <a:schemeClr val="tx1"/>
                </a:solidFill>
              </a:rPr>
              <a:t>In death certificate from against the column of cause of death one should write ‘NOT KNOWN BROUGHT DEAD’ . In no case it should be mentioned that cause of death should be determined after post mortem</a:t>
            </a:r>
          </a:p>
        </p:txBody>
      </p:sp>
    </p:spTree>
    <p:extLst>
      <p:ext uri="{BB962C8B-B14F-4D97-AF65-F5344CB8AC3E}">
        <p14:creationId xmlns:p14="http://schemas.microsoft.com/office/powerpoint/2010/main" val="1363396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1EE72-28A3-42F8-A8A6-A601CA8D0EC7}"/>
              </a:ext>
            </a:extLst>
          </p:cNvPr>
          <p:cNvSpPr>
            <a:spLocks noGrp="1"/>
          </p:cNvSpPr>
          <p:nvPr>
            <p:ph type="title"/>
          </p:nvPr>
        </p:nvSpPr>
        <p:spPr/>
        <p:txBody>
          <a:bodyPr/>
          <a:lstStyle/>
          <a:p>
            <a:r>
              <a:rPr lang="en-IN" dirty="0"/>
              <a:t>BULLET INJURY CASES </a:t>
            </a:r>
          </a:p>
        </p:txBody>
      </p:sp>
      <p:sp>
        <p:nvSpPr>
          <p:cNvPr id="3" name="Content Placeholder 2">
            <a:extLst>
              <a:ext uri="{FF2B5EF4-FFF2-40B4-BE49-F238E27FC236}">
                <a16:creationId xmlns:a16="http://schemas.microsoft.com/office/drawing/2014/main" id="{8CF029BE-F275-4DB8-B18F-CFDD539757D5}"/>
              </a:ext>
            </a:extLst>
          </p:cNvPr>
          <p:cNvSpPr>
            <a:spLocks noGrp="1"/>
          </p:cNvSpPr>
          <p:nvPr>
            <p:ph idx="1"/>
          </p:nvPr>
        </p:nvSpPr>
        <p:spPr/>
        <p:txBody>
          <a:bodyPr/>
          <a:lstStyle/>
          <a:p>
            <a:r>
              <a:rPr lang="en-IN" b="1" dirty="0">
                <a:solidFill>
                  <a:schemeClr val="tx1"/>
                </a:solidFill>
              </a:rPr>
              <a:t>The evidence required to be preserved is </a:t>
            </a:r>
            <a:r>
              <a:rPr lang="en-IN" b="1" dirty="0" err="1">
                <a:solidFill>
                  <a:schemeClr val="tx1"/>
                </a:solidFill>
              </a:rPr>
              <a:t>re;lated</a:t>
            </a:r>
            <a:r>
              <a:rPr lang="en-IN" b="1" dirty="0">
                <a:solidFill>
                  <a:schemeClr val="tx1"/>
                </a:solidFill>
              </a:rPr>
              <a:t> t the nature of a case. In injury cases, (like bullet injury / stab injury / burn )the following articles should be preserved in sealed envelopes :</a:t>
            </a:r>
          </a:p>
          <a:p>
            <a:r>
              <a:rPr lang="en-IN" b="1" dirty="0">
                <a:solidFill>
                  <a:schemeClr val="tx1"/>
                </a:solidFill>
              </a:rPr>
              <a:t>Clothing worn by the patient showing evidence of injury such as tears, </a:t>
            </a:r>
            <a:r>
              <a:rPr lang="en-IN" b="1" dirty="0" err="1">
                <a:solidFill>
                  <a:schemeClr val="tx1"/>
                </a:solidFill>
              </a:rPr>
              <a:t>bulet</a:t>
            </a:r>
            <a:r>
              <a:rPr lang="en-IN" b="1" dirty="0">
                <a:solidFill>
                  <a:schemeClr val="tx1"/>
                </a:solidFill>
              </a:rPr>
              <a:t> holes, cuts, blood stains etc.</a:t>
            </a:r>
          </a:p>
          <a:p>
            <a:r>
              <a:rPr lang="en-IN" b="1" dirty="0">
                <a:solidFill>
                  <a:schemeClr val="tx1"/>
                </a:solidFill>
              </a:rPr>
              <a:t>In case of multiple tears, cut or holes etc, each piece of evidence will encircled and numbered with matching description in the MLC report and case sheet</a:t>
            </a:r>
          </a:p>
          <a:p>
            <a:r>
              <a:rPr lang="en-IN" b="1" dirty="0">
                <a:solidFill>
                  <a:schemeClr val="tx1"/>
                </a:solidFill>
              </a:rPr>
              <a:t>Bullets recovered from a body should be marked by etching an </a:t>
            </a:r>
            <a:r>
              <a:rPr lang="en-IN" b="1" dirty="0" err="1">
                <a:solidFill>
                  <a:schemeClr val="tx1"/>
                </a:solidFill>
              </a:rPr>
              <a:t>intial</a:t>
            </a:r>
            <a:r>
              <a:rPr lang="en-IN" b="1" dirty="0">
                <a:solidFill>
                  <a:schemeClr val="tx1"/>
                </a:solidFill>
              </a:rPr>
              <a:t> or a mark on bottom before preservation .</a:t>
            </a:r>
          </a:p>
          <a:p>
            <a:r>
              <a:rPr lang="en-IN" b="1" dirty="0">
                <a:solidFill>
                  <a:schemeClr val="tx1"/>
                </a:solidFill>
              </a:rPr>
              <a:t>All evidence collected should be mentioned</a:t>
            </a:r>
          </a:p>
        </p:txBody>
      </p:sp>
    </p:spTree>
    <p:extLst>
      <p:ext uri="{BB962C8B-B14F-4D97-AF65-F5344CB8AC3E}">
        <p14:creationId xmlns:p14="http://schemas.microsoft.com/office/powerpoint/2010/main" val="4220500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AA087-DB37-46F2-BAF4-AA6F3056A7F4}"/>
              </a:ext>
            </a:extLst>
          </p:cNvPr>
          <p:cNvSpPr>
            <a:spLocks noGrp="1"/>
          </p:cNvSpPr>
          <p:nvPr>
            <p:ph type="title"/>
          </p:nvPr>
        </p:nvSpPr>
        <p:spPr/>
        <p:txBody>
          <a:bodyPr/>
          <a:lstStyle/>
          <a:p>
            <a:r>
              <a:rPr lang="en-IN" dirty="0"/>
              <a:t>POISONING CASES</a:t>
            </a:r>
          </a:p>
        </p:txBody>
      </p:sp>
      <p:sp>
        <p:nvSpPr>
          <p:cNvPr id="3" name="Content Placeholder 2">
            <a:extLst>
              <a:ext uri="{FF2B5EF4-FFF2-40B4-BE49-F238E27FC236}">
                <a16:creationId xmlns:a16="http://schemas.microsoft.com/office/drawing/2014/main" id="{A5A8E178-8E13-4EB2-89B9-350BCBC1D893}"/>
              </a:ext>
            </a:extLst>
          </p:cNvPr>
          <p:cNvSpPr>
            <a:spLocks noGrp="1"/>
          </p:cNvSpPr>
          <p:nvPr>
            <p:ph idx="1"/>
          </p:nvPr>
        </p:nvSpPr>
        <p:spPr/>
        <p:txBody>
          <a:bodyPr/>
          <a:lstStyle/>
          <a:p>
            <a:r>
              <a:rPr lang="en-IN" b="1" dirty="0">
                <a:solidFill>
                  <a:schemeClr val="tx1"/>
                </a:solidFill>
              </a:rPr>
              <a:t>In cases of suspected poisoning the following articles will be preserved and ensured that they are forwarded for forensic examination</a:t>
            </a:r>
          </a:p>
          <a:p>
            <a:r>
              <a:rPr lang="en-IN" b="1" dirty="0">
                <a:solidFill>
                  <a:schemeClr val="tx1"/>
                </a:solidFill>
              </a:rPr>
              <a:t>Gastric  lavage/ gastric contents/ vomitus  and soiled clothing</a:t>
            </a:r>
          </a:p>
          <a:p>
            <a:r>
              <a:rPr lang="en-IN" b="1" dirty="0">
                <a:solidFill>
                  <a:schemeClr val="tx1"/>
                </a:solidFill>
              </a:rPr>
              <a:t>Blood urine and any other relevant body fluid depending on the poison ingested.</a:t>
            </a:r>
          </a:p>
          <a:p>
            <a:pPr marL="45720" indent="0">
              <a:buNone/>
            </a:pPr>
            <a:r>
              <a:rPr lang="en-IN" b="1" dirty="0">
                <a:solidFill>
                  <a:schemeClr val="tx1"/>
                </a:solidFill>
              </a:rPr>
              <a:t>IN SEXUAL OFFENCES , </a:t>
            </a:r>
          </a:p>
          <a:p>
            <a:pPr marL="45720" indent="0">
              <a:buNone/>
            </a:pPr>
            <a:r>
              <a:rPr lang="en-IN" b="1" dirty="0">
                <a:solidFill>
                  <a:schemeClr val="tx1"/>
                </a:solidFill>
              </a:rPr>
              <a:t>Clothing worn by the patient and showing evidence of blood stains or seminal stains, stains of mud , tears/ cuts etc.</a:t>
            </a:r>
          </a:p>
          <a:p>
            <a:pPr marL="45720" indent="0">
              <a:buNone/>
            </a:pPr>
            <a:r>
              <a:rPr lang="en-IN" b="1" dirty="0">
                <a:solidFill>
                  <a:schemeClr val="tx1"/>
                </a:solidFill>
              </a:rPr>
              <a:t>Vaginal swab  </a:t>
            </a:r>
          </a:p>
        </p:txBody>
      </p:sp>
    </p:spTree>
    <p:extLst>
      <p:ext uri="{BB962C8B-B14F-4D97-AF65-F5344CB8AC3E}">
        <p14:creationId xmlns:p14="http://schemas.microsoft.com/office/powerpoint/2010/main" val="3889980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8033F-F8AB-4A23-9F2E-0CC4BE4AF835}"/>
              </a:ext>
            </a:extLst>
          </p:cNvPr>
          <p:cNvSpPr>
            <a:spLocks noGrp="1"/>
          </p:cNvSpPr>
          <p:nvPr>
            <p:ph type="title"/>
          </p:nvPr>
        </p:nvSpPr>
        <p:spPr>
          <a:xfrm>
            <a:off x="608847" y="609600"/>
            <a:ext cx="10409673" cy="1356360"/>
          </a:xfrm>
        </p:spPr>
        <p:style>
          <a:lnRef idx="2">
            <a:schemeClr val="accent4">
              <a:shade val="50000"/>
            </a:schemeClr>
          </a:lnRef>
          <a:fillRef idx="1">
            <a:schemeClr val="accent4"/>
          </a:fillRef>
          <a:effectRef idx="0">
            <a:schemeClr val="accent4"/>
          </a:effectRef>
          <a:fontRef idx="minor">
            <a:schemeClr val="lt1"/>
          </a:fontRef>
        </p:style>
        <p:txBody>
          <a:bodyPr/>
          <a:lstStyle/>
          <a:p>
            <a:r>
              <a:rPr lang="en-IN" dirty="0"/>
              <a:t>MEDICO LEGAL CASE MANAGEMENT </a:t>
            </a:r>
          </a:p>
        </p:txBody>
      </p:sp>
      <p:sp>
        <p:nvSpPr>
          <p:cNvPr id="3" name="Content Placeholder 2">
            <a:extLst>
              <a:ext uri="{FF2B5EF4-FFF2-40B4-BE49-F238E27FC236}">
                <a16:creationId xmlns:a16="http://schemas.microsoft.com/office/drawing/2014/main" id="{F2AF0BB8-BB16-4600-B806-042528D11B97}"/>
              </a:ext>
            </a:extLst>
          </p:cNvPr>
          <p:cNvSpPr>
            <a:spLocks noGrp="1"/>
          </p:cNvSpPr>
          <p:nvPr>
            <p:ph idx="1"/>
          </p:nvPr>
        </p:nvSpPr>
        <p:spPr>
          <a:xfrm>
            <a:off x="608847" y="1468582"/>
            <a:ext cx="10489398" cy="4627418"/>
          </a:xfrm>
        </p:spPr>
        <p:txBody>
          <a:bodyPr/>
          <a:lstStyle/>
          <a:p>
            <a:r>
              <a:rPr lang="en-IN" dirty="0">
                <a:highlight>
                  <a:srgbClr val="FFFF00"/>
                </a:highlight>
              </a:rPr>
              <a:t>The Management of a MLC may be described in following heads :</a:t>
            </a:r>
          </a:p>
        </p:txBody>
      </p:sp>
      <p:sp>
        <p:nvSpPr>
          <p:cNvPr id="4" name="Oval 3">
            <a:extLst>
              <a:ext uri="{FF2B5EF4-FFF2-40B4-BE49-F238E27FC236}">
                <a16:creationId xmlns:a16="http://schemas.microsoft.com/office/drawing/2014/main" id="{CB0CDA79-79D8-42CA-8CDD-EBE404AB237C}"/>
              </a:ext>
            </a:extLst>
          </p:cNvPr>
          <p:cNvSpPr/>
          <p:nvPr/>
        </p:nvSpPr>
        <p:spPr>
          <a:xfrm>
            <a:off x="4170218" y="3283527"/>
            <a:ext cx="3048000" cy="1233055"/>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MLC</a:t>
            </a:r>
          </a:p>
        </p:txBody>
      </p:sp>
      <p:sp>
        <p:nvSpPr>
          <p:cNvPr id="5" name="Rectangle 4">
            <a:extLst>
              <a:ext uri="{FF2B5EF4-FFF2-40B4-BE49-F238E27FC236}">
                <a16:creationId xmlns:a16="http://schemas.microsoft.com/office/drawing/2014/main" id="{96455D49-D592-4EF8-B59A-D39E98DDCBE6}"/>
              </a:ext>
            </a:extLst>
          </p:cNvPr>
          <p:cNvSpPr/>
          <p:nvPr/>
        </p:nvSpPr>
        <p:spPr>
          <a:xfrm>
            <a:off x="8340436" y="2154727"/>
            <a:ext cx="2521527" cy="58189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REGISTRATION AND REPORTING </a:t>
            </a:r>
          </a:p>
        </p:txBody>
      </p:sp>
      <p:sp>
        <p:nvSpPr>
          <p:cNvPr id="6" name="Rectangle 5">
            <a:extLst>
              <a:ext uri="{FF2B5EF4-FFF2-40B4-BE49-F238E27FC236}">
                <a16:creationId xmlns:a16="http://schemas.microsoft.com/office/drawing/2014/main" id="{4FF47F9B-325B-4FF1-BF89-FDE199E3B43E}"/>
              </a:ext>
            </a:extLst>
          </p:cNvPr>
          <p:cNvSpPr/>
          <p:nvPr/>
        </p:nvSpPr>
        <p:spPr>
          <a:xfrm>
            <a:off x="8577471" y="3408218"/>
            <a:ext cx="2369128" cy="7481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CASE EXAM&amp; GIVING OPINION </a:t>
            </a:r>
          </a:p>
        </p:txBody>
      </p:sp>
      <p:sp>
        <p:nvSpPr>
          <p:cNvPr id="7" name="Rectangle 6">
            <a:extLst>
              <a:ext uri="{FF2B5EF4-FFF2-40B4-BE49-F238E27FC236}">
                <a16:creationId xmlns:a16="http://schemas.microsoft.com/office/drawing/2014/main" id="{21C7415D-11C3-436F-A6E8-E632F87F5AC6}"/>
              </a:ext>
            </a:extLst>
          </p:cNvPr>
          <p:cNvSpPr/>
          <p:nvPr/>
        </p:nvSpPr>
        <p:spPr>
          <a:xfrm>
            <a:off x="8132618" y="5375564"/>
            <a:ext cx="2396837" cy="7204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PREPARATION OF RECORD </a:t>
            </a:r>
          </a:p>
        </p:txBody>
      </p:sp>
      <p:sp>
        <p:nvSpPr>
          <p:cNvPr id="8" name="Rectangle 7">
            <a:extLst>
              <a:ext uri="{FF2B5EF4-FFF2-40B4-BE49-F238E27FC236}">
                <a16:creationId xmlns:a16="http://schemas.microsoft.com/office/drawing/2014/main" id="{AC5F9937-F834-4518-ADEF-2D3B5DDC1C06}"/>
              </a:ext>
            </a:extLst>
          </p:cNvPr>
          <p:cNvSpPr/>
          <p:nvPr/>
        </p:nvSpPr>
        <p:spPr>
          <a:xfrm>
            <a:off x="547256" y="2047009"/>
            <a:ext cx="2521527" cy="900546"/>
          </a:xfrm>
          <a:prstGeom prst="rect">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dirty="0">
                <a:ln w="0"/>
                <a:solidFill>
                  <a:schemeClr val="tx1"/>
                </a:solidFill>
                <a:effectLst>
                  <a:outerShdw blurRad="38100" dist="19050" dir="2700000" algn="tl" rotWithShape="0">
                    <a:schemeClr val="dk1">
                      <a:alpha val="40000"/>
                    </a:schemeClr>
                  </a:outerShdw>
                </a:effectLst>
              </a:rPr>
              <a:t>IDENTIFICATION </a:t>
            </a:r>
          </a:p>
        </p:txBody>
      </p:sp>
      <p:sp>
        <p:nvSpPr>
          <p:cNvPr id="9" name="Rectangle 8">
            <a:extLst>
              <a:ext uri="{FF2B5EF4-FFF2-40B4-BE49-F238E27FC236}">
                <a16:creationId xmlns:a16="http://schemas.microsoft.com/office/drawing/2014/main" id="{76530C6D-272E-4059-A521-D69A6B1AD23E}"/>
              </a:ext>
            </a:extLst>
          </p:cNvPr>
          <p:cNvSpPr/>
          <p:nvPr/>
        </p:nvSpPr>
        <p:spPr>
          <a:xfrm>
            <a:off x="491837" y="3507277"/>
            <a:ext cx="2632363" cy="7481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FINAL OPINION </a:t>
            </a:r>
          </a:p>
        </p:txBody>
      </p:sp>
      <p:sp>
        <p:nvSpPr>
          <p:cNvPr id="10" name="Rectangle 9">
            <a:extLst>
              <a:ext uri="{FF2B5EF4-FFF2-40B4-BE49-F238E27FC236}">
                <a16:creationId xmlns:a16="http://schemas.microsoft.com/office/drawing/2014/main" id="{40F900CF-7C8C-4E15-9703-01DDEC1A26C9}"/>
              </a:ext>
            </a:extLst>
          </p:cNvPr>
          <p:cNvSpPr/>
          <p:nvPr/>
        </p:nvSpPr>
        <p:spPr>
          <a:xfrm>
            <a:off x="491837" y="5169823"/>
            <a:ext cx="3027218" cy="7204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INVESTIGATION &amp; TREATMENT</a:t>
            </a:r>
          </a:p>
        </p:txBody>
      </p:sp>
      <p:cxnSp>
        <p:nvCxnSpPr>
          <p:cNvPr id="12" name="Straight Arrow Connector 11">
            <a:extLst>
              <a:ext uri="{FF2B5EF4-FFF2-40B4-BE49-F238E27FC236}">
                <a16:creationId xmlns:a16="http://schemas.microsoft.com/office/drawing/2014/main" id="{8DDA16DE-6BE8-46B9-98E4-B6A22ED12255}"/>
              </a:ext>
            </a:extLst>
          </p:cNvPr>
          <p:cNvCxnSpPr/>
          <p:nvPr/>
        </p:nvCxnSpPr>
        <p:spPr>
          <a:xfrm flipV="1">
            <a:off x="6830291" y="2632364"/>
            <a:ext cx="1302327" cy="7183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10994E4-8ED9-4483-9CAB-9DBDEB538D55}"/>
              </a:ext>
            </a:extLst>
          </p:cNvPr>
          <p:cNvCxnSpPr>
            <a:stCxn id="4" idx="6"/>
          </p:cNvCxnSpPr>
          <p:nvPr/>
        </p:nvCxnSpPr>
        <p:spPr>
          <a:xfrm flipV="1">
            <a:off x="7218218" y="3881350"/>
            <a:ext cx="1288850" cy="187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18E8B64-2F14-48E1-92C8-A87ED177CD24}"/>
              </a:ext>
            </a:extLst>
          </p:cNvPr>
          <p:cNvCxnSpPr/>
          <p:nvPr/>
        </p:nvCxnSpPr>
        <p:spPr>
          <a:xfrm>
            <a:off x="6830291" y="4353791"/>
            <a:ext cx="1071960" cy="1176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B87445C-C132-4287-B8F7-F6A5F1F48BC4}"/>
              </a:ext>
            </a:extLst>
          </p:cNvPr>
          <p:cNvCxnSpPr/>
          <p:nvPr/>
        </p:nvCxnSpPr>
        <p:spPr>
          <a:xfrm flipH="1">
            <a:off x="3634297" y="4516582"/>
            <a:ext cx="1369557" cy="766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ECFD696-629D-4F8C-A879-0AEFDA9826D2}"/>
              </a:ext>
            </a:extLst>
          </p:cNvPr>
          <p:cNvCxnSpPr/>
          <p:nvPr/>
        </p:nvCxnSpPr>
        <p:spPr>
          <a:xfrm flipH="1" flipV="1">
            <a:off x="3338945" y="2632364"/>
            <a:ext cx="1454728" cy="6511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1177C24-2C95-4DFF-A32B-109752428287}"/>
              </a:ext>
            </a:extLst>
          </p:cNvPr>
          <p:cNvCxnSpPr/>
          <p:nvPr/>
        </p:nvCxnSpPr>
        <p:spPr>
          <a:xfrm flipH="1" flipV="1">
            <a:off x="3255818" y="3881350"/>
            <a:ext cx="858983" cy="18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3642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AD113D0-518B-4ED9-B0BF-278D27FE64DF}"/>
              </a:ext>
            </a:extLst>
          </p:cNvPr>
          <p:cNvPicPr>
            <a:picLocks noChangeAspect="1"/>
          </p:cNvPicPr>
          <p:nvPr/>
        </p:nvPicPr>
        <p:blipFill>
          <a:blip r:embed="rId2"/>
          <a:stretch>
            <a:fillRect/>
          </a:stretch>
        </p:blipFill>
        <p:spPr>
          <a:xfrm>
            <a:off x="207818" y="290945"/>
            <a:ext cx="11596255" cy="6386946"/>
          </a:xfrm>
          <a:prstGeom prst="rect">
            <a:avLst/>
          </a:prstGeom>
        </p:spPr>
      </p:pic>
    </p:spTree>
    <p:extLst>
      <p:ext uri="{BB962C8B-B14F-4D97-AF65-F5344CB8AC3E}">
        <p14:creationId xmlns:p14="http://schemas.microsoft.com/office/powerpoint/2010/main" val="1316628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D826923-2CB9-400C-A80E-1C46188AEAF3}"/>
              </a:ext>
            </a:extLst>
          </p:cNvPr>
          <p:cNvPicPr>
            <a:picLocks noChangeAspect="1"/>
          </p:cNvPicPr>
          <p:nvPr/>
        </p:nvPicPr>
        <p:blipFill>
          <a:blip r:embed="rId2"/>
          <a:stretch>
            <a:fillRect/>
          </a:stretch>
        </p:blipFill>
        <p:spPr>
          <a:xfrm>
            <a:off x="235527" y="249382"/>
            <a:ext cx="11734800" cy="6483927"/>
          </a:xfrm>
          <a:prstGeom prst="rect">
            <a:avLst/>
          </a:prstGeom>
        </p:spPr>
      </p:pic>
    </p:spTree>
    <p:extLst>
      <p:ext uri="{BB962C8B-B14F-4D97-AF65-F5344CB8AC3E}">
        <p14:creationId xmlns:p14="http://schemas.microsoft.com/office/powerpoint/2010/main" val="3071216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6D03CDE-3DF5-4102-8B69-4856D0D4E305}"/>
              </a:ext>
            </a:extLst>
          </p:cNvPr>
          <p:cNvPicPr>
            <a:picLocks noChangeAspect="1"/>
          </p:cNvPicPr>
          <p:nvPr/>
        </p:nvPicPr>
        <p:blipFill>
          <a:blip r:embed="rId2"/>
          <a:stretch>
            <a:fillRect/>
          </a:stretch>
        </p:blipFill>
        <p:spPr>
          <a:xfrm>
            <a:off x="193964" y="277091"/>
            <a:ext cx="11804072" cy="6442364"/>
          </a:xfrm>
          <a:prstGeom prst="rect">
            <a:avLst/>
          </a:prstGeom>
        </p:spPr>
      </p:pic>
    </p:spTree>
    <p:extLst>
      <p:ext uri="{BB962C8B-B14F-4D97-AF65-F5344CB8AC3E}">
        <p14:creationId xmlns:p14="http://schemas.microsoft.com/office/powerpoint/2010/main" val="3629019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0E0ED5D-0DA1-4953-BEBC-E1AB687BAA67}"/>
              </a:ext>
            </a:extLst>
          </p:cNvPr>
          <p:cNvPicPr>
            <a:picLocks noChangeAspect="1"/>
          </p:cNvPicPr>
          <p:nvPr/>
        </p:nvPicPr>
        <p:blipFill>
          <a:blip r:embed="rId2"/>
          <a:stretch>
            <a:fillRect/>
          </a:stretch>
        </p:blipFill>
        <p:spPr>
          <a:xfrm>
            <a:off x="263235" y="290944"/>
            <a:ext cx="11693237" cy="6359237"/>
          </a:xfrm>
          <a:prstGeom prst="rect">
            <a:avLst/>
          </a:prstGeom>
        </p:spPr>
      </p:pic>
    </p:spTree>
    <p:extLst>
      <p:ext uri="{BB962C8B-B14F-4D97-AF65-F5344CB8AC3E}">
        <p14:creationId xmlns:p14="http://schemas.microsoft.com/office/powerpoint/2010/main" val="2010029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BB07E-0230-4305-8FF9-F3DC173E01E5}"/>
              </a:ext>
            </a:extLst>
          </p:cNvPr>
          <p:cNvPicPr>
            <a:picLocks noChangeAspect="1"/>
          </p:cNvPicPr>
          <p:nvPr/>
        </p:nvPicPr>
        <p:blipFill rotWithShape="1">
          <a:blip r:embed="rId2"/>
          <a:srcRect b="10628"/>
          <a:stretch/>
        </p:blipFill>
        <p:spPr>
          <a:xfrm>
            <a:off x="235527" y="249381"/>
            <a:ext cx="11554691" cy="633152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243955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222061-E1E8-4C6F-B45F-2D046D4FCD0B}"/>
              </a:ext>
            </a:extLst>
          </p:cNvPr>
          <p:cNvPicPr>
            <a:picLocks noChangeAspect="1"/>
          </p:cNvPicPr>
          <p:nvPr/>
        </p:nvPicPr>
        <p:blipFill rotWithShape="1">
          <a:blip r:embed="rId2"/>
          <a:srcRect l="4646" t="3247" r="4845" b="6977"/>
          <a:stretch/>
        </p:blipFill>
        <p:spPr>
          <a:xfrm>
            <a:off x="595745" y="304800"/>
            <a:ext cx="11083637" cy="6012873"/>
          </a:xfrm>
          <a:prstGeom prst="rect">
            <a:avLst/>
          </a:prstGeom>
        </p:spPr>
      </p:pic>
    </p:spTree>
    <p:extLst>
      <p:ext uri="{BB962C8B-B14F-4D97-AF65-F5344CB8AC3E}">
        <p14:creationId xmlns:p14="http://schemas.microsoft.com/office/powerpoint/2010/main" val="3792480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06DBE7-CD95-4A7F-8E66-138F33CF041B}"/>
              </a:ext>
            </a:extLst>
          </p:cNvPr>
          <p:cNvPicPr>
            <a:picLocks noChangeAspect="1"/>
          </p:cNvPicPr>
          <p:nvPr/>
        </p:nvPicPr>
        <p:blipFill rotWithShape="1">
          <a:blip r:embed="rId2"/>
          <a:srcRect l="1848" t="3780" r="1848" b="9108"/>
          <a:stretch/>
        </p:blipFill>
        <p:spPr>
          <a:xfrm>
            <a:off x="942109" y="512618"/>
            <a:ext cx="10363200" cy="5985164"/>
          </a:xfrm>
          <a:prstGeom prst="rect">
            <a:avLst/>
          </a:prstGeom>
        </p:spPr>
      </p:pic>
    </p:spTree>
    <p:extLst>
      <p:ext uri="{BB962C8B-B14F-4D97-AF65-F5344CB8AC3E}">
        <p14:creationId xmlns:p14="http://schemas.microsoft.com/office/powerpoint/2010/main" val="1671671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65727D-0F91-47C4-BD9F-7723ED35A382}"/>
              </a:ext>
            </a:extLst>
          </p:cNvPr>
          <p:cNvPicPr>
            <a:picLocks noChangeAspect="1"/>
          </p:cNvPicPr>
          <p:nvPr/>
        </p:nvPicPr>
        <p:blipFill rotWithShape="1">
          <a:blip r:embed="rId2"/>
          <a:srcRect l="2048" t="8840" r="1848" b="6977"/>
          <a:stretch/>
        </p:blipFill>
        <p:spPr>
          <a:xfrm>
            <a:off x="858982" y="304800"/>
            <a:ext cx="10266218" cy="6289964"/>
          </a:xfrm>
          <a:prstGeom prst="rect">
            <a:avLst/>
          </a:prstGeom>
        </p:spPr>
      </p:pic>
    </p:spTree>
    <p:extLst>
      <p:ext uri="{BB962C8B-B14F-4D97-AF65-F5344CB8AC3E}">
        <p14:creationId xmlns:p14="http://schemas.microsoft.com/office/powerpoint/2010/main" val="34098682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3F019F4-2A8F-4295-BAFA-0D3EA83B2B28}"/>
              </a:ext>
            </a:extLst>
          </p:cNvPr>
          <p:cNvPicPr>
            <a:picLocks noChangeAspect="1"/>
          </p:cNvPicPr>
          <p:nvPr/>
        </p:nvPicPr>
        <p:blipFill rotWithShape="1">
          <a:blip r:embed="rId2"/>
          <a:srcRect l="1855" t="2182" r="2409" b="5111"/>
          <a:stretch/>
        </p:blipFill>
        <p:spPr>
          <a:xfrm>
            <a:off x="277091" y="221673"/>
            <a:ext cx="11610109" cy="641465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8504841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730EDD3-0D98-406B-8209-1388EEE811EA}"/>
              </a:ext>
            </a:extLst>
          </p:cNvPr>
          <p:cNvPicPr>
            <a:picLocks noChangeAspect="1"/>
          </p:cNvPicPr>
          <p:nvPr/>
        </p:nvPicPr>
        <p:blipFill rotWithShape="1">
          <a:blip r:embed="rId2"/>
          <a:srcRect l="2447" t="2942" r="3247" b="6576"/>
          <a:stretch/>
        </p:blipFill>
        <p:spPr>
          <a:xfrm>
            <a:off x="360219" y="360219"/>
            <a:ext cx="11291454" cy="6220690"/>
          </a:xfrm>
          <a:prstGeom prst="rect">
            <a:avLst/>
          </a:prstGeom>
        </p:spPr>
      </p:pic>
    </p:spTree>
    <p:extLst>
      <p:ext uri="{BB962C8B-B14F-4D97-AF65-F5344CB8AC3E}">
        <p14:creationId xmlns:p14="http://schemas.microsoft.com/office/powerpoint/2010/main" val="3155578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A036E7B-D95F-4FB8-AF8B-DB7BDD30EFEA}"/>
              </a:ext>
            </a:extLst>
          </p:cNvPr>
          <p:cNvPicPr>
            <a:picLocks noChangeAspect="1"/>
          </p:cNvPicPr>
          <p:nvPr/>
        </p:nvPicPr>
        <p:blipFill rotWithShape="1">
          <a:blip r:embed="rId2"/>
          <a:srcRect l="4445" t="3514" r="6244" b="12837"/>
          <a:stretch/>
        </p:blipFill>
        <p:spPr>
          <a:xfrm>
            <a:off x="762000" y="360217"/>
            <a:ext cx="10931236" cy="6179127"/>
          </a:xfrm>
          <a:prstGeom prst="rect">
            <a:avLst/>
          </a:prstGeom>
        </p:spPr>
      </p:pic>
    </p:spTree>
    <p:extLst>
      <p:ext uri="{BB962C8B-B14F-4D97-AF65-F5344CB8AC3E}">
        <p14:creationId xmlns:p14="http://schemas.microsoft.com/office/powerpoint/2010/main" val="13423829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41A76B-2B48-4AEE-94C6-0EB15C5C516D}"/>
              </a:ext>
            </a:extLst>
          </p:cNvPr>
          <p:cNvPicPr>
            <a:picLocks noChangeAspect="1"/>
          </p:cNvPicPr>
          <p:nvPr/>
        </p:nvPicPr>
        <p:blipFill rotWithShape="1">
          <a:blip r:embed="rId2"/>
          <a:srcRect l="6244" t="5378" r="6044" b="7509"/>
          <a:stretch/>
        </p:blipFill>
        <p:spPr>
          <a:xfrm>
            <a:off x="762000" y="304800"/>
            <a:ext cx="11055927" cy="6151417"/>
          </a:xfrm>
          <a:prstGeom prst="rect">
            <a:avLst/>
          </a:prstGeom>
        </p:spPr>
      </p:pic>
    </p:spTree>
    <p:extLst>
      <p:ext uri="{BB962C8B-B14F-4D97-AF65-F5344CB8AC3E}">
        <p14:creationId xmlns:p14="http://schemas.microsoft.com/office/powerpoint/2010/main" val="2360313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BCE91CB-1B21-44E4-AA94-F8F96DF8B71B}"/>
              </a:ext>
            </a:extLst>
          </p:cNvPr>
          <p:cNvPicPr>
            <a:picLocks noChangeAspect="1"/>
          </p:cNvPicPr>
          <p:nvPr/>
        </p:nvPicPr>
        <p:blipFill rotWithShape="1">
          <a:blip r:embed="rId2"/>
          <a:srcRect l="6044" t="5111" r="8842" b="10973"/>
          <a:stretch/>
        </p:blipFill>
        <p:spPr>
          <a:xfrm>
            <a:off x="526473" y="263235"/>
            <a:ext cx="11083636" cy="6317673"/>
          </a:xfrm>
          <a:prstGeom prst="rect">
            <a:avLst/>
          </a:prstGeom>
        </p:spPr>
      </p:pic>
    </p:spTree>
    <p:extLst>
      <p:ext uri="{BB962C8B-B14F-4D97-AF65-F5344CB8AC3E}">
        <p14:creationId xmlns:p14="http://schemas.microsoft.com/office/powerpoint/2010/main" val="17708888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428892A-AD17-41D9-9BE6-461B99CF2C02}"/>
              </a:ext>
            </a:extLst>
          </p:cNvPr>
          <p:cNvPicPr>
            <a:picLocks noChangeAspect="1"/>
          </p:cNvPicPr>
          <p:nvPr/>
        </p:nvPicPr>
        <p:blipFill rotWithShape="1">
          <a:blip r:embed="rId2"/>
          <a:srcRect l="2648" t="3780" r="6444" b="9906"/>
          <a:stretch/>
        </p:blipFill>
        <p:spPr>
          <a:xfrm>
            <a:off x="720436" y="318655"/>
            <a:ext cx="10626437" cy="6192981"/>
          </a:xfrm>
          <a:prstGeom prst="rect">
            <a:avLst/>
          </a:prstGeom>
        </p:spPr>
      </p:pic>
    </p:spTree>
    <p:extLst>
      <p:ext uri="{BB962C8B-B14F-4D97-AF65-F5344CB8AC3E}">
        <p14:creationId xmlns:p14="http://schemas.microsoft.com/office/powerpoint/2010/main" val="2423983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0071E3F-920A-43C0-A0CB-3B8FFED915AA}"/>
              </a:ext>
            </a:extLst>
          </p:cNvPr>
          <p:cNvPicPr>
            <a:picLocks noChangeAspect="1"/>
          </p:cNvPicPr>
          <p:nvPr/>
        </p:nvPicPr>
        <p:blipFill rotWithShape="1">
          <a:blip r:embed="rId2"/>
          <a:srcRect l="6444" t="2446" r="6843" b="17633"/>
          <a:stretch/>
        </p:blipFill>
        <p:spPr>
          <a:xfrm>
            <a:off x="775854" y="443344"/>
            <a:ext cx="10390909" cy="6206837"/>
          </a:xfrm>
          <a:prstGeom prst="rect">
            <a:avLst/>
          </a:prstGeom>
        </p:spPr>
      </p:pic>
    </p:spTree>
    <p:extLst>
      <p:ext uri="{BB962C8B-B14F-4D97-AF65-F5344CB8AC3E}">
        <p14:creationId xmlns:p14="http://schemas.microsoft.com/office/powerpoint/2010/main" val="35645977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0317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07789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3997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6939323"/>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TM03457444[[fn=Basis]]</Template>
  <TotalTime>357</TotalTime>
  <Words>1277</Words>
  <Application>Microsoft Office PowerPoint</Application>
  <PresentationFormat>Widescreen</PresentationFormat>
  <Paragraphs>107</Paragraphs>
  <Slides>32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Corbel</vt:lpstr>
      <vt:lpstr>Basis</vt:lpstr>
      <vt:lpstr>LEGAL ASPECTS OF MEDICAL RECORDS </vt:lpstr>
      <vt:lpstr>WHAT IS MEAN BY MEDICO LEGAL CASE ?</vt:lpstr>
      <vt:lpstr>What are the incidents will comes under the MLC?</vt:lpstr>
      <vt:lpstr>Why To Manage MLC ?</vt:lpstr>
      <vt:lpstr>What is POLICE INTIMATION </vt:lpstr>
      <vt:lpstr>DOCUMENTATION OF A MLC </vt:lpstr>
      <vt:lpstr>PowerPoint Presentation</vt:lpstr>
      <vt:lpstr>GENERAL DETAILS </vt:lpstr>
      <vt:lpstr>TRANSFER OF MLC’S </vt:lpstr>
      <vt:lpstr>BROUGHT DEAD CASES</vt:lpstr>
      <vt:lpstr>BULLET INJURY CASES </vt:lpstr>
      <vt:lpstr>POISONING CASES</vt:lpstr>
      <vt:lpstr>MEDICO LEGAL CASE MANAGEMENT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LEGAL ASPECTS OF MEDICAL RECORDS </dc:title>
  <dc:creator>debjani mukherjee</dc:creator>
  <cp:lastModifiedBy>debjani mukherjee</cp:lastModifiedBy>
  <cp:revision>31</cp:revision>
  <dcterms:created xsi:type="dcterms:W3CDTF">2020-03-17T04:51:17Z</dcterms:created>
  <dcterms:modified xsi:type="dcterms:W3CDTF">2021-11-02T06:05:02Z</dcterms:modified>
</cp:coreProperties>
</file>