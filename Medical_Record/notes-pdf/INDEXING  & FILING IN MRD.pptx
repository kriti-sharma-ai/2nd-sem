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60" r:id="rId5"/>
    <p:sldId id="258" r:id="rId6"/>
    <p:sldId id="262" r:id="rId7"/>
    <p:sldId id="261"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C54D6-2A05-06D8-024C-C1BD54CE03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6530F5-062A-0A10-1E17-B28DD95712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00F688-3DAB-558C-1555-60031A323D58}"/>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5" name="Footer Placeholder 4">
            <a:extLst>
              <a:ext uri="{FF2B5EF4-FFF2-40B4-BE49-F238E27FC236}">
                <a16:creationId xmlns:a16="http://schemas.microsoft.com/office/drawing/2014/main" id="{79D24066-2B25-6C89-3C81-D2549DC2BF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C22EA7-BFD3-EC1C-AD01-4323954B064D}"/>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1606175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43E7-FDB5-3ADE-1629-CF8AAF2B11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48206A-BE82-A2EA-DF33-E56B8DD43A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0036AE-CC9B-DEF6-DE10-0FD0253A8911}"/>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5" name="Footer Placeholder 4">
            <a:extLst>
              <a:ext uri="{FF2B5EF4-FFF2-40B4-BE49-F238E27FC236}">
                <a16:creationId xmlns:a16="http://schemas.microsoft.com/office/drawing/2014/main" id="{BCD13822-94F1-0794-5981-214597EFF4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9DBA60-C1B9-5D8E-6CEA-6590267B2776}"/>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3953140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92877-D358-B5A4-7C38-59DEF69743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D5443C-2737-B2CB-BD86-BF7AE48B25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F47822-CEE9-B917-F741-E3A642C3C26E}"/>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5" name="Footer Placeholder 4">
            <a:extLst>
              <a:ext uri="{FF2B5EF4-FFF2-40B4-BE49-F238E27FC236}">
                <a16:creationId xmlns:a16="http://schemas.microsoft.com/office/drawing/2014/main" id="{13E1A045-0146-4403-3764-4C597380A0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99C7E5-E199-A880-A5AB-39C458604F97}"/>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1424679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780D1-B60F-BD47-E6EE-E4561EAD4B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5588B8-74A0-23E3-C40F-A1E6856F8E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D47E1A-C04C-C4FB-CE85-B11C3EF7E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3529D9-8DAC-DDB4-31C6-EF6F9C978162}"/>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6" name="Footer Placeholder 5">
            <a:extLst>
              <a:ext uri="{FF2B5EF4-FFF2-40B4-BE49-F238E27FC236}">
                <a16:creationId xmlns:a16="http://schemas.microsoft.com/office/drawing/2014/main" id="{4F0C53B6-816F-01A0-F27D-9961B91572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026944-D30F-704E-EC9C-1B26F3CBB99A}"/>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490114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7DB05-F4CC-965D-27E9-BDAE956C9F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30D75F-476D-10A7-DD41-8D4F240FD1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6E4937-AD26-EF63-1A6F-8F5E0EE8D1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BC5B4B-5B32-C0B3-FD71-A9A8CE3BD8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CF903-17D4-E77D-FF2A-F3FF245BBB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E1FEAF7-B82F-8635-9DF4-1EAE4968F560}"/>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8" name="Footer Placeholder 7">
            <a:extLst>
              <a:ext uri="{FF2B5EF4-FFF2-40B4-BE49-F238E27FC236}">
                <a16:creationId xmlns:a16="http://schemas.microsoft.com/office/drawing/2014/main" id="{F50AC2FA-6828-4CF6-1D27-D5C17AEEB2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FBCA87-536A-99E7-5B2C-4A28DF917E91}"/>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1590065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2C675-95F8-0DDF-B5C2-24EA1C2F2E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8664B7-6D48-8862-2272-D3D6CB4FA4E4}"/>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4" name="Footer Placeholder 3">
            <a:extLst>
              <a:ext uri="{FF2B5EF4-FFF2-40B4-BE49-F238E27FC236}">
                <a16:creationId xmlns:a16="http://schemas.microsoft.com/office/drawing/2014/main" id="{6A550C11-F6BA-9B70-67E4-8048C5327D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D1B2AE-527D-14B7-3ED2-BAD1CF0CB40E}"/>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395643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83EA52-DF81-EA5F-6DC7-DBB1950E669B}"/>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3" name="Footer Placeholder 2">
            <a:extLst>
              <a:ext uri="{FF2B5EF4-FFF2-40B4-BE49-F238E27FC236}">
                <a16:creationId xmlns:a16="http://schemas.microsoft.com/office/drawing/2014/main" id="{748E5D05-5BC5-F9BE-9AC3-AFDA4AA88C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A5435B4-654C-C0DA-70CB-A9CB0AA9C520}"/>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140454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1690-8185-DA05-2C11-0F5752BD52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83883F-F17B-6C15-3575-9A9CCE8B8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1B993A8-C2B9-99BB-599F-9F527264C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7F6FFD-1291-4C5E-FFC7-C462543BE97E}"/>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6" name="Footer Placeholder 5">
            <a:extLst>
              <a:ext uri="{FF2B5EF4-FFF2-40B4-BE49-F238E27FC236}">
                <a16:creationId xmlns:a16="http://schemas.microsoft.com/office/drawing/2014/main" id="{A2921787-9DDA-6984-7BC0-A989F12F46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E82D10-9201-6938-FA12-F12830844144}"/>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2153199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1B625-CB75-D911-9F20-8E4ED778D3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8891F7-9D4E-FDFA-4E78-E6903BDD23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2C75A2-E753-CBB2-5021-A673CA9A6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938A6-DA7B-3DC6-DFA1-F0AEAF88D65C}"/>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6" name="Footer Placeholder 5">
            <a:extLst>
              <a:ext uri="{FF2B5EF4-FFF2-40B4-BE49-F238E27FC236}">
                <a16:creationId xmlns:a16="http://schemas.microsoft.com/office/drawing/2014/main" id="{FCC7D5EE-E82D-9715-7B03-78AEB9AADA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C05B9C-AEB1-E1BE-1427-97C89B8CEB09}"/>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3070802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004CC-491C-50CD-B56B-4A6BD0620E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92765A-F3FC-9572-4E32-9C75B7AE8B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681A0-8B85-BAE0-198C-5C207AE1BAC6}"/>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5" name="Footer Placeholder 4">
            <a:extLst>
              <a:ext uri="{FF2B5EF4-FFF2-40B4-BE49-F238E27FC236}">
                <a16:creationId xmlns:a16="http://schemas.microsoft.com/office/drawing/2014/main" id="{6FCD2B86-9F1C-3CB1-8B1E-3ADF84CE02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5FE2BE-E93A-3186-725A-A471EC7DC663}"/>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2121433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5D31D4-75BF-953C-5D0F-D9289CBEE5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8D83EC-081D-8124-A7AA-41B86DC854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904209-2F4D-4C4C-F973-C80134E269A3}"/>
              </a:ext>
            </a:extLst>
          </p:cNvPr>
          <p:cNvSpPr>
            <a:spLocks noGrp="1"/>
          </p:cNvSpPr>
          <p:nvPr>
            <p:ph type="dt" sz="half" idx="10"/>
          </p:nvPr>
        </p:nvSpPr>
        <p:spPr/>
        <p:txBody>
          <a:bodyPr/>
          <a:lstStyle/>
          <a:p>
            <a:fld id="{BA22876A-2A7F-4415-B21E-BE4D0580BF81}" type="datetimeFigureOut">
              <a:rPr lang="en-IN" smtClean="0"/>
              <a:t>07-08-2023</a:t>
            </a:fld>
            <a:endParaRPr lang="en-IN"/>
          </a:p>
        </p:txBody>
      </p:sp>
      <p:sp>
        <p:nvSpPr>
          <p:cNvPr id="5" name="Footer Placeholder 4">
            <a:extLst>
              <a:ext uri="{FF2B5EF4-FFF2-40B4-BE49-F238E27FC236}">
                <a16:creationId xmlns:a16="http://schemas.microsoft.com/office/drawing/2014/main" id="{90D6B522-3781-2DFF-E33A-C992A2F5D2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460E12-A33F-1971-52C2-2D73267A3FF6}"/>
              </a:ext>
            </a:extLst>
          </p:cNvPr>
          <p:cNvSpPr>
            <a:spLocks noGrp="1"/>
          </p:cNvSpPr>
          <p:nvPr>
            <p:ph type="sldNum" sz="quarter" idx="12"/>
          </p:nvPr>
        </p:nvSpPr>
        <p:spPr/>
        <p:txBody>
          <a:bodyPr/>
          <a:lstStyle/>
          <a:p>
            <a:fld id="{B89E2813-B520-494D-B00B-71323C2BB366}" type="slidenum">
              <a:rPr lang="en-IN" smtClean="0"/>
              <a:t>‹#›</a:t>
            </a:fld>
            <a:endParaRPr lang="en-IN"/>
          </a:p>
        </p:txBody>
      </p:sp>
    </p:spTree>
    <p:extLst>
      <p:ext uri="{BB962C8B-B14F-4D97-AF65-F5344CB8AC3E}">
        <p14:creationId xmlns:p14="http://schemas.microsoft.com/office/powerpoint/2010/main" val="127895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D1ECD4-3194-0026-6F73-510EF6C386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ED2785-661B-044C-9774-01209F450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3B110F-0905-B534-AF31-8B794809A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2876A-2A7F-4415-B21E-BE4D0580BF81}" type="datetimeFigureOut">
              <a:rPr lang="en-IN" smtClean="0"/>
              <a:t>07-08-2023</a:t>
            </a:fld>
            <a:endParaRPr lang="en-IN"/>
          </a:p>
        </p:txBody>
      </p:sp>
      <p:sp>
        <p:nvSpPr>
          <p:cNvPr id="5" name="Footer Placeholder 4">
            <a:extLst>
              <a:ext uri="{FF2B5EF4-FFF2-40B4-BE49-F238E27FC236}">
                <a16:creationId xmlns:a16="http://schemas.microsoft.com/office/drawing/2014/main" id="{846E9CFB-8205-1926-50E0-04BE680CED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788B453-E1F1-43F6-B851-71AF05F30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9E2813-B520-494D-B00B-71323C2BB366}" type="slidenum">
              <a:rPr lang="en-IN" smtClean="0"/>
              <a:t>‹#›</a:t>
            </a:fld>
            <a:endParaRPr lang="en-IN"/>
          </a:p>
        </p:txBody>
      </p:sp>
    </p:spTree>
    <p:extLst>
      <p:ext uri="{BB962C8B-B14F-4D97-AF65-F5344CB8AC3E}">
        <p14:creationId xmlns:p14="http://schemas.microsoft.com/office/powerpoint/2010/main" val="1922916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97DAC3-4398-C128-60A9-68911A1B529F}"/>
              </a:ext>
            </a:extLst>
          </p:cNvPr>
          <p:cNvPicPr>
            <a:picLocks noChangeAspect="1"/>
          </p:cNvPicPr>
          <p:nvPr/>
        </p:nvPicPr>
        <p:blipFill>
          <a:blip r:embed="rId2"/>
          <a:stretch>
            <a:fillRect/>
          </a:stretch>
        </p:blipFill>
        <p:spPr>
          <a:xfrm>
            <a:off x="1524000" y="1049609"/>
            <a:ext cx="8924543" cy="4332016"/>
          </a:xfrm>
          <a:prstGeom prst="rect">
            <a:avLst/>
          </a:prstGeom>
        </p:spPr>
      </p:pic>
      <p:sp>
        <p:nvSpPr>
          <p:cNvPr id="2" name="Title 1">
            <a:extLst>
              <a:ext uri="{FF2B5EF4-FFF2-40B4-BE49-F238E27FC236}">
                <a16:creationId xmlns:a16="http://schemas.microsoft.com/office/drawing/2014/main" id="{CF4F7251-7820-1714-0DC1-FFBF5D4C6F17}"/>
              </a:ext>
            </a:extLst>
          </p:cNvPr>
          <p:cNvSpPr>
            <a:spLocks noGrp="1"/>
          </p:cNvSpPr>
          <p:nvPr>
            <p:ph type="ctrTitle"/>
          </p:nvPr>
        </p:nvSpPr>
        <p:spPr/>
        <p:txBody>
          <a:bodyPr/>
          <a:lstStyle/>
          <a:p>
            <a:r>
              <a:rPr lang="en-IN" dirty="0">
                <a:highlight>
                  <a:srgbClr val="FFFF00"/>
                </a:highlight>
              </a:rPr>
              <a:t>INDEXING&amp; FILING OF MEDICAL RECORDS </a:t>
            </a:r>
          </a:p>
        </p:txBody>
      </p:sp>
      <p:sp>
        <p:nvSpPr>
          <p:cNvPr id="3" name="Subtitle 2">
            <a:extLst>
              <a:ext uri="{FF2B5EF4-FFF2-40B4-BE49-F238E27FC236}">
                <a16:creationId xmlns:a16="http://schemas.microsoft.com/office/drawing/2014/main" id="{33D1A294-CD18-95D6-69C8-97D4D58F716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25341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E73D-DEFD-F449-531D-7B90866C250C}"/>
              </a:ext>
            </a:extLst>
          </p:cNvPr>
          <p:cNvSpPr>
            <a:spLocks noGrp="1"/>
          </p:cNvSpPr>
          <p:nvPr>
            <p:ph type="title"/>
          </p:nvPr>
        </p:nvSpPr>
        <p:spPr/>
        <p:txBody>
          <a:bodyPr/>
          <a:lstStyle/>
          <a:p>
            <a:r>
              <a:rPr lang="en-IN" dirty="0"/>
              <a:t>What is Indexing and its importance ?</a:t>
            </a:r>
          </a:p>
        </p:txBody>
      </p:sp>
      <p:sp>
        <p:nvSpPr>
          <p:cNvPr id="3" name="Content Placeholder 2">
            <a:extLst>
              <a:ext uri="{FF2B5EF4-FFF2-40B4-BE49-F238E27FC236}">
                <a16:creationId xmlns:a16="http://schemas.microsoft.com/office/drawing/2014/main" id="{60AB7B0E-9506-34BB-DD04-0EED39C8A79E}"/>
              </a:ext>
            </a:extLst>
          </p:cNvPr>
          <p:cNvSpPr>
            <a:spLocks noGrp="1"/>
          </p:cNvSpPr>
          <p:nvPr>
            <p:ph idx="1"/>
          </p:nvPr>
        </p:nvSpPr>
        <p:spPr/>
        <p:txBody>
          <a:bodyPr>
            <a:normAutofit lnSpcReduction="10000"/>
          </a:bodyPr>
          <a:lstStyle/>
          <a:p>
            <a:r>
              <a:rPr lang="en-US" b="1" i="0" dirty="0">
                <a:solidFill>
                  <a:srgbClr val="333333"/>
                </a:solidFill>
                <a:effectLst/>
                <a:latin typeface="Libre Franklin" panose="020B0604020202020204" pitchFamily="2" charset="0"/>
              </a:rPr>
              <a:t>Medical Records Indexing</a:t>
            </a:r>
            <a:r>
              <a:rPr lang="en-US" b="0" i="0" dirty="0">
                <a:solidFill>
                  <a:srgbClr val="333333"/>
                </a:solidFill>
                <a:effectLst/>
                <a:latin typeface="Libre Franklin" panose="020B0604020202020204" pitchFamily="2" charset="0"/>
              </a:rPr>
              <a:t> is the process of maintaining or arranging the patient’s medical reports in Chronological order or in alphabetical, numerical or by DOS, Specialty, Physician Name, etc., or by any particular methodology, the practice or the physician requires.</a:t>
            </a:r>
          </a:p>
          <a:p>
            <a:r>
              <a:rPr lang="en-US" b="0" i="0" dirty="0">
                <a:solidFill>
                  <a:srgbClr val="202124"/>
                </a:solidFill>
                <a:effectLst/>
                <a:latin typeface="arial" panose="020B0604020202020204" pitchFamily="34" charset="0"/>
              </a:rPr>
              <a:t>Indexing helps to locate the position of the specific document in files at a short period of time.</a:t>
            </a:r>
          </a:p>
          <a:p>
            <a:r>
              <a:rPr lang="en-US" b="0" i="0" dirty="0">
                <a:solidFill>
                  <a:srgbClr val="202124"/>
                </a:solidFill>
                <a:effectLst/>
                <a:latin typeface="arial" panose="020B0604020202020204" pitchFamily="34" charset="0"/>
              </a:rPr>
              <a:t> It helps to make a quick decision by providing necessary information stored in files.</a:t>
            </a:r>
          </a:p>
          <a:p>
            <a:pPr marL="0" indent="0">
              <a:buNone/>
            </a:pPr>
            <a:r>
              <a:rPr lang="en-US" b="0" i="0" dirty="0">
                <a:solidFill>
                  <a:srgbClr val="202124"/>
                </a:solidFill>
                <a:effectLst/>
                <a:latin typeface="arial" panose="020B0604020202020204" pitchFamily="34" charset="0"/>
              </a:rPr>
              <a:t> Therefore, indexing is very important to save time and effort of employees.</a:t>
            </a:r>
            <a:endParaRPr lang="en-IN" dirty="0"/>
          </a:p>
        </p:txBody>
      </p:sp>
    </p:spTree>
    <p:extLst>
      <p:ext uri="{BB962C8B-B14F-4D97-AF65-F5344CB8AC3E}">
        <p14:creationId xmlns:p14="http://schemas.microsoft.com/office/powerpoint/2010/main" val="1015917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y do you need Medical Record Indexing Solutions? - YouTube">
            <a:extLst>
              <a:ext uri="{FF2B5EF4-FFF2-40B4-BE49-F238E27FC236}">
                <a16:creationId xmlns:a16="http://schemas.microsoft.com/office/drawing/2014/main" id="{20E70EDA-9FFF-9CA1-3600-3A1BDD487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37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92EB20-B6C0-08C6-992E-5A3C7EAB382E}"/>
              </a:ext>
            </a:extLst>
          </p:cNvPr>
          <p:cNvSpPr>
            <a:spLocks noGrp="1"/>
          </p:cNvSpPr>
          <p:nvPr>
            <p:ph idx="4294967295"/>
          </p:nvPr>
        </p:nvSpPr>
        <p:spPr>
          <a:xfrm>
            <a:off x="838200" y="1253331"/>
            <a:ext cx="10515600" cy="4351338"/>
          </a:xfrm>
        </p:spPr>
        <p:txBody>
          <a:bodyPr>
            <a:normAutofit fontScale="92500"/>
          </a:bodyPr>
          <a:lstStyle/>
          <a:p>
            <a:r>
              <a:rPr lang="en-US" b="0" i="0" dirty="0">
                <a:solidFill>
                  <a:srgbClr val="202124"/>
                </a:solidFill>
                <a:effectLst/>
                <a:latin typeface="arial" panose="020B0604020202020204" pitchFamily="34" charset="0"/>
              </a:rPr>
              <a:t>Medical records indexing is used </a:t>
            </a:r>
            <a:r>
              <a:rPr lang="en-US" b="1" i="0" dirty="0">
                <a:solidFill>
                  <a:srgbClr val="202124"/>
                </a:solidFill>
                <a:effectLst/>
                <a:latin typeface="arial" panose="020B0604020202020204" pitchFamily="34" charset="0"/>
              </a:rPr>
              <a:t>to store two different medical record documentation patterns, the source-oriented medical record and the problem-oriented medical record</a:t>
            </a:r>
            <a:r>
              <a:rPr lang="en-US" b="0" i="0" dirty="0">
                <a:solidFill>
                  <a:srgbClr val="202124"/>
                </a:solidFill>
                <a:effectLst/>
                <a:latin typeface="arial" panose="020B0604020202020204" pitchFamily="34" charset="0"/>
              </a:rPr>
              <a:t>. </a:t>
            </a:r>
          </a:p>
          <a:p>
            <a:r>
              <a:rPr lang="en-US" b="0" i="0" dirty="0">
                <a:solidFill>
                  <a:srgbClr val="202124"/>
                </a:solidFill>
                <a:effectLst/>
                <a:latin typeface="arial" panose="020B0604020202020204" pitchFamily="34" charset="0"/>
              </a:rPr>
              <a:t>Medical records indexing helps medical staff to locate the position of the specific medical record in files at a short span of time.</a:t>
            </a:r>
          </a:p>
          <a:p>
            <a:r>
              <a:rPr lang="en-US" b="0" i="0" dirty="0">
                <a:solidFill>
                  <a:srgbClr val="202124"/>
                </a:solidFill>
                <a:effectLst/>
                <a:latin typeface="arial" panose="020B0604020202020204" pitchFamily="34" charset="0"/>
              </a:rPr>
              <a:t>Having unique records dramatically improves search time. Easier Categorization: Records indexing </a:t>
            </a:r>
            <a:r>
              <a:rPr lang="en-US" b="1" i="0" dirty="0">
                <a:solidFill>
                  <a:srgbClr val="202124"/>
                </a:solidFill>
                <a:effectLst/>
                <a:latin typeface="arial" panose="020B0604020202020204" pitchFamily="34" charset="0"/>
              </a:rPr>
              <a:t>makes it easier to group documents by categories</a:t>
            </a:r>
            <a:r>
              <a:rPr lang="en-US" b="0" i="0" dirty="0">
                <a:solidFill>
                  <a:srgbClr val="202124"/>
                </a:solidFill>
                <a:effectLst/>
                <a:latin typeface="arial" panose="020B0604020202020204" pitchFamily="34" charset="0"/>
              </a:rPr>
              <a:t>. </a:t>
            </a:r>
          </a:p>
          <a:p>
            <a:r>
              <a:rPr lang="en-US" b="0" i="0" dirty="0">
                <a:solidFill>
                  <a:srgbClr val="202124"/>
                </a:solidFill>
                <a:effectLst/>
                <a:latin typeface="arial" panose="020B0604020202020204" pitchFamily="34" charset="0"/>
              </a:rPr>
              <a:t>Grouping documents into two or more categories improves search time and makes life easier for everyone.</a:t>
            </a:r>
            <a:endParaRPr lang="en-IN" dirty="0"/>
          </a:p>
        </p:txBody>
      </p:sp>
    </p:spTree>
    <p:extLst>
      <p:ext uri="{BB962C8B-B14F-4D97-AF65-F5344CB8AC3E}">
        <p14:creationId xmlns:p14="http://schemas.microsoft.com/office/powerpoint/2010/main" val="4238681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92B8F1-C2DD-E768-CCF4-543BA779F22E}"/>
              </a:ext>
            </a:extLst>
          </p:cNvPr>
          <p:cNvPicPr>
            <a:picLocks noChangeAspect="1"/>
          </p:cNvPicPr>
          <p:nvPr/>
        </p:nvPicPr>
        <p:blipFill>
          <a:blip r:embed="rId2"/>
          <a:stretch>
            <a:fillRect/>
          </a:stretch>
        </p:blipFill>
        <p:spPr>
          <a:xfrm>
            <a:off x="280416" y="464718"/>
            <a:ext cx="6339840" cy="5436210"/>
          </a:xfrm>
          <a:prstGeom prst="rect">
            <a:avLst/>
          </a:prstGeom>
        </p:spPr>
      </p:pic>
      <p:sp>
        <p:nvSpPr>
          <p:cNvPr id="4" name="TextBox 3">
            <a:extLst>
              <a:ext uri="{FF2B5EF4-FFF2-40B4-BE49-F238E27FC236}">
                <a16:creationId xmlns:a16="http://schemas.microsoft.com/office/drawing/2014/main" id="{925A6DDC-2AB0-D807-B2F3-8621A0880DAF}"/>
              </a:ext>
            </a:extLst>
          </p:cNvPr>
          <p:cNvSpPr txBox="1"/>
          <p:nvPr/>
        </p:nvSpPr>
        <p:spPr>
          <a:xfrm>
            <a:off x="6559296" y="1213008"/>
            <a:ext cx="5352288" cy="4524315"/>
          </a:xfrm>
          <a:prstGeom prst="rect">
            <a:avLst/>
          </a:prstGeom>
          <a:noFill/>
        </p:spPr>
        <p:txBody>
          <a:bodyPr wrap="square">
            <a:spAutoFit/>
          </a:bodyPr>
          <a:lstStyle/>
          <a:p>
            <a:r>
              <a:rPr lang="en-US" dirty="0"/>
              <a:t>Indexing is regarded as the process of describing and identifying documents in terms of their subject contents. Here, The concepts are extracted from documents by the process of analysis, and then transcribed into the elements of the indexing systems,</a:t>
            </a:r>
          </a:p>
          <a:p>
            <a:endParaRPr lang="en-US" dirty="0"/>
          </a:p>
          <a:p>
            <a:pPr algn="l"/>
            <a:r>
              <a:rPr lang="en-US" b="0" i="0" dirty="0">
                <a:solidFill>
                  <a:srgbClr val="333333"/>
                </a:solidFill>
                <a:effectLst/>
              </a:rPr>
              <a:t>With technological improvement, Medical records are now electronically stored which necessitates indexing them to locate and retrieve them later. Files are electronically saved on</a:t>
            </a:r>
          </a:p>
          <a:p>
            <a:pPr algn="l">
              <a:buFont typeface="Arial" panose="020B0604020202020204" pitchFamily="34" charset="0"/>
              <a:buChar char="•"/>
            </a:pPr>
            <a:r>
              <a:rPr lang="en-US" b="1" i="0" dirty="0">
                <a:solidFill>
                  <a:srgbClr val="333333"/>
                </a:solidFill>
                <a:effectLst/>
              </a:rPr>
              <a:t>Electronic Medical Records</a:t>
            </a:r>
            <a:r>
              <a:rPr lang="en-US" b="0" i="0" dirty="0">
                <a:solidFill>
                  <a:srgbClr val="333333"/>
                </a:solidFill>
                <a:effectLst/>
              </a:rPr>
              <a:t> (EMR) – This saves Medical reports from an individual practice or hospital</a:t>
            </a:r>
          </a:p>
          <a:p>
            <a:pPr algn="l">
              <a:buFont typeface="Arial" panose="020B0604020202020204" pitchFamily="34" charset="0"/>
              <a:buChar char="•"/>
            </a:pPr>
            <a:r>
              <a:rPr lang="en-US" b="1" i="0" dirty="0">
                <a:solidFill>
                  <a:srgbClr val="333333"/>
                </a:solidFill>
                <a:effectLst/>
              </a:rPr>
              <a:t>Electronic Health Records</a:t>
            </a:r>
            <a:r>
              <a:rPr lang="en-US" b="0" i="0" dirty="0">
                <a:solidFill>
                  <a:srgbClr val="333333"/>
                </a:solidFill>
                <a:effectLst/>
              </a:rPr>
              <a:t> (EHR) – Can be accessed anywhere and help transmit medical records as required.</a:t>
            </a:r>
          </a:p>
          <a:p>
            <a:r>
              <a:rPr lang="en-US" dirty="0"/>
              <a:t> </a:t>
            </a:r>
          </a:p>
        </p:txBody>
      </p:sp>
      <p:sp>
        <p:nvSpPr>
          <p:cNvPr id="6" name="TextBox 5">
            <a:extLst>
              <a:ext uri="{FF2B5EF4-FFF2-40B4-BE49-F238E27FC236}">
                <a16:creationId xmlns:a16="http://schemas.microsoft.com/office/drawing/2014/main" id="{F7612832-554F-8497-C692-F23993B130CB}"/>
              </a:ext>
            </a:extLst>
          </p:cNvPr>
          <p:cNvSpPr txBox="1"/>
          <p:nvPr/>
        </p:nvSpPr>
        <p:spPr>
          <a:xfrm>
            <a:off x="5541264" y="587740"/>
            <a:ext cx="6370320" cy="369332"/>
          </a:xfrm>
          <a:prstGeom prst="rect">
            <a:avLst/>
          </a:prstGeom>
          <a:noFill/>
        </p:spPr>
        <p:txBody>
          <a:bodyPr wrap="square">
            <a:spAutoFit/>
          </a:bodyPr>
          <a:lstStyle/>
          <a:p>
            <a:r>
              <a:rPr lang="en-US" b="1" i="0" dirty="0">
                <a:solidFill>
                  <a:srgbClr val="333333"/>
                </a:solidFill>
                <a:effectLst/>
                <a:latin typeface="Libre Franklin" pitchFamily="2" charset="0"/>
              </a:rPr>
              <a:t>How to Index Medical Records?</a:t>
            </a:r>
            <a:endParaRPr lang="en-IN" dirty="0"/>
          </a:p>
        </p:txBody>
      </p:sp>
    </p:spTree>
    <p:extLst>
      <p:ext uri="{BB962C8B-B14F-4D97-AF65-F5344CB8AC3E}">
        <p14:creationId xmlns:p14="http://schemas.microsoft.com/office/powerpoint/2010/main" val="418999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A1B719-C2C3-B33B-139D-9290F70336FF}"/>
              </a:ext>
            </a:extLst>
          </p:cNvPr>
          <p:cNvSpPr txBox="1"/>
          <p:nvPr/>
        </p:nvSpPr>
        <p:spPr>
          <a:xfrm>
            <a:off x="2816352" y="626102"/>
            <a:ext cx="6803136" cy="523220"/>
          </a:xfrm>
          <a:prstGeom prst="rect">
            <a:avLst/>
          </a:prstGeom>
          <a:noFill/>
        </p:spPr>
        <p:txBody>
          <a:bodyPr wrap="square">
            <a:spAutoFit/>
          </a:bodyPr>
          <a:lstStyle/>
          <a:p>
            <a:r>
              <a:rPr lang="en-US" sz="2800" b="1" i="0" dirty="0">
                <a:solidFill>
                  <a:srgbClr val="333333"/>
                </a:solidFill>
                <a:effectLst/>
              </a:rPr>
              <a:t>Outsourcing Indexing Medical Records</a:t>
            </a:r>
            <a:r>
              <a:rPr lang="en-US" sz="2800" b="0" i="0" dirty="0">
                <a:solidFill>
                  <a:srgbClr val="333333"/>
                </a:solidFill>
                <a:effectLst/>
              </a:rPr>
              <a:t> </a:t>
            </a:r>
            <a:endParaRPr lang="en-IN" sz="2800" dirty="0"/>
          </a:p>
        </p:txBody>
      </p:sp>
      <p:sp>
        <p:nvSpPr>
          <p:cNvPr id="5" name="TextBox 4">
            <a:extLst>
              <a:ext uri="{FF2B5EF4-FFF2-40B4-BE49-F238E27FC236}">
                <a16:creationId xmlns:a16="http://schemas.microsoft.com/office/drawing/2014/main" id="{26B1448C-FA51-B98A-FA96-6C239717F21F}"/>
              </a:ext>
            </a:extLst>
          </p:cNvPr>
          <p:cNvSpPr txBox="1"/>
          <p:nvPr/>
        </p:nvSpPr>
        <p:spPr>
          <a:xfrm>
            <a:off x="1280160" y="1377696"/>
            <a:ext cx="9302496" cy="3970318"/>
          </a:xfrm>
          <a:prstGeom prst="rect">
            <a:avLst/>
          </a:prstGeom>
          <a:noFill/>
        </p:spPr>
        <p:txBody>
          <a:bodyPr wrap="square">
            <a:spAutoFit/>
          </a:bodyPr>
          <a:lstStyle/>
          <a:p>
            <a:r>
              <a:rPr lang="en-US" dirty="0">
                <a:solidFill>
                  <a:srgbClr val="333333"/>
                </a:solidFill>
                <a:latin typeface="Libre Franklin" pitchFamily="2" charset="0"/>
              </a:rPr>
              <a:t>It i</a:t>
            </a:r>
            <a:r>
              <a:rPr lang="en-US" b="0" i="0" dirty="0">
                <a:solidFill>
                  <a:srgbClr val="333333"/>
                </a:solidFill>
                <a:effectLst/>
                <a:latin typeface="Libre Franklin" pitchFamily="2" charset="0"/>
              </a:rPr>
              <a:t>s proven to be effortless, efficient and cost-effective comparatively as having in-house staff to handle such complex and laborious processes can mostly lead to additional costs and ineptitude processes causing stress during patient care and affecting Medical Billing Quality.</a:t>
            </a:r>
          </a:p>
          <a:p>
            <a:endParaRPr lang="en-US" dirty="0">
              <a:solidFill>
                <a:srgbClr val="333333"/>
              </a:solidFill>
              <a:latin typeface="Libre Franklin" pitchFamily="2" charset="0"/>
            </a:endParaRPr>
          </a:p>
          <a:p>
            <a:pPr algn="l"/>
            <a:r>
              <a:rPr lang="en-US" b="1" i="0" dirty="0">
                <a:solidFill>
                  <a:srgbClr val="333333"/>
                </a:solidFill>
                <a:effectLst/>
                <a:latin typeface="Libre Franklin" pitchFamily="2" charset="0"/>
              </a:rPr>
              <a:t>Benefits of Outsourcing Medical Record Indexing Process</a:t>
            </a:r>
            <a:endParaRPr lang="en-US" b="0" i="0" dirty="0">
              <a:solidFill>
                <a:srgbClr val="333333"/>
              </a:solidFill>
              <a:effectLst/>
              <a:latin typeface="Libre Franklin" pitchFamily="2" charset="0"/>
            </a:endParaRPr>
          </a:p>
          <a:p>
            <a:pPr algn="l">
              <a:buFont typeface="Arial" panose="020B0604020202020204" pitchFamily="34" charset="0"/>
              <a:buChar char="•"/>
            </a:pPr>
            <a:r>
              <a:rPr lang="en-US" b="0" i="0" dirty="0">
                <a:solidFill>
                  <a:srgbClr val="333333"/>
                </a:solidFill>
                <a:effectLst/>
                <a:latin typeface="Libre Franklin" pitchFamily="2" charset="0"/>
              </a:rPr>
              <a:t>Skilled workforce producing quality results at a competitive price</a:t>
            </a:r>
          </a:p>
          <a:p>
            <a:pPr algn="l">
              <a:buFont typeface="Arial" panose="020B0604020202020204" pitchFamily="34" charset="0"/>
              <a:buChar char="•"/>
            </a:pPr>
            <a:r>
              <a:rPr lang="en-US" b="0" i="0" dirty="0">
                <a:solidFill>
                  <a:srgbClr val="333333"/>
                </a:solidFill>
                <a:effectLst/>
                <a:latin typeface="Libre Franklin" pitchFamily="2" charset="0"/>
              </a:rPr>
              <a:t>Quick and timely Process resulting in great patient care and Quality Medical Billing</a:t>
            </a:r>
          </a:p>
          <a:p>
            <a:pPr algn="l">
              <a:buFont typeface="Arial" panose="020B0604020202020204" pitchFamily="34" charset="0"/>
              <a:buChar char="•"/>
            </a:pPr>
            <a:r>
              <a:rPr lang="en-US" b="0" i="0" dirty="0">
                <a:solidFill>
                  <a:srgbClr val="333333"/>
                </a:solidFill>
                <a:effectLst/>
                <a:latin typeface="Libre Franklin" pitchFamily="2" charset="0"/>
              </a:rPr>
              <a:t>Instantly retrievable data Indexed as per the clients’ requisition</a:t>
            </a:r>
          </a:p>
          <a:p>
            <a:pPr algn="l">
              <a:buFont typeface="Arial" panose="020B0604020202020204" pitchFamily="34" charset="0"/>
              <a:buChar char="•"/>
            </a:pPr>
            <a:r>
              <a:rPr lang="en-US" b="0" i="0" dirty="0">
                <a:solidFill>
                  <a:srgbClr val="333333"/>
                </a:solidFill>
                <a:effectLst/>
                <a:latin typeface="Libre Franklin" pitchFamily="2" charset="0"/>
              </a:rPr>
              <a:t>Efficient Indexing of Medical Records leads to Quality and Timely Patient Care</a:t>
            </a:r>
          </a:p>
          <a:p>
            <a:pPr algn="l">
              <a:buFont typeface="Arial" panose="020B0604020202020204" pitchFamily="34" charset="0"/>
              <a:buChar char="•"/>
            </a:pPr>
            <a:r>
              <a:rPr lang="en-US" b="0" i="0" dirty="0">
                <a:solidFill>
                  <a:srgbClr val="333333"/>
                </a:solidFill>
                <a:effectLst/>
                <a:latin typeface="Libre Franklin" pitchFamily="2" charset="0"/>
              </a:rPr>
              <a:t>Safe and secure Data Management to ensure PHI is accessible only to authorized users</a:t>
            </a:r>
          </a:p>
          <a:p>
            <a:pPr algn="l">
              <a:buFont typeface="Arial" panose="020B0604020202020204" pitchFamily="34" charset="0"/>
              <a:buChar char="•"/>
            </a:pPr>
            <a:r>
              <a:rPr lang="en-US" b="0" i="0" dirty="0">
                <a:solidFill>
                  <a:srgbClr val="333333"/>
                </a:solidFill>
                <a:effectLst/>
                <a:latin typeface="Libre Franklin" pitchFamily="2" charset="0"/>
              </a:rPr>
              <a:t>Easy location of specific data or reports by Healthcare Practitioners and Physicians</a:t>
            </a:r>
          </a:p>
          <a:p>
            <a:endParaRPr lang="en-IN" dirty="0"/>
          </a:p>
        </p:txBody>
      </p:sp>
    </p:spTree>
    <p:extLst>
      <p:ext uri="{BB962C8B-B14F-4D97-AF65-F5344CB8AC3E}">
        <p14:creationId xmlns:p14="http://schemas.microsoft.com/office/powerpoint/2010/main" val="245093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605C4F-7D89-86BA-78E8-9304F79E7D9D}"/>
              </a:ext>
            </a:extLst>
          </p:cNvPr>
          <p:cNvPicPr>
            <a:picLocks noChangeAspect="1"/>
          </p:cNvPicPr>
          <p:nvPr/>
        </p:nvPicPr>
        <p:blipFill>
          <a:blip r:embed="rId2"/>
          <a:stretch>
            <a:fillRect/>
          </a:stretch>
        </p:blipFill>
        <p:spPr>
          <a:xfrm>
            <a:off x="2727707" y="1709738"/>
            <a:ext cx="8632443" cy="4379912"/>
          </a:xfrm>
          <a:prstGeom prst="rect">
            <a:avLst/>
          </a:prstGeom>
        </p:spPr>
      </p:pic>
      <p:sp>
        <p:nvSpPr>
          <p:cNvPr id="8" name="Title 7">
            <a:extLst>
              <a:ext uri="{FF2B5EF4-FFF2-40B4-BE49-F238E27FC236}">
                <a16:creationId xmlns:a16="http://schemas.microsoft.com/office/drawing/2014/main" id="{D428E787-4B2F-1B75-51D9-0EFA50E3FBE1}"/>
              </a:ext>
            </a:extLst>
          </p:cNvPr>
          <p:cNvSpPr>
            <a:spLocks noGrp="1"/>
          </p:cNvSpPr>
          <p:nvPr>
            <p:ph type="title"/>
          </p:nvPr>
        </p:nvSpPr>
        <p:spPr/>
        <p:txBody>
          <a:bodyPr/>
          <a:lstStyle/>
          <a:p>
            <a:r>
              <a:rPr lang="en-IN" dirty="0">
                <a:highlight>
                  <a:srgbClr val="FFFF00"/>
                </a:highlight>
              </a:rPr>
              <a:t>FILING IN MEDICAL RECORD</a:t>
            </a:r>
          </a:p>
        </p:txBody>
      </p:sp>
      <p:sp>
        <p:nvSpPr>
          <p:cNvPr id="9" name="Text Placeholder 8">
            <a:extLst>
              <a:ext uri="{FF2B5EF4-FFF2-40B4-BE49-F238E27FC236}">
                <a16:creationId xmlns:a16="http://schemas.microsoft.com/office/drawing/2014/main" id="{8ACEE59B-2046-3C94-B470-CA339DDA1FB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55638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0C05FA-084B-D949-089A-D739C45356E9}"/>
              </a:ext>
            </a:extLst>
          </p:cNvPr>
          <p:cNvSpPr>
            <a:spLocks noGrp="1"/>
          </p:cNvSpPr>
          <p:nvPr>
            <p:ph type="title"/>
          </p:nvPr>
        </p:nvSpPr>
        <p:spPr/>
        <p:txBody>
          <a:bodyPr/>
          <a:lstStyle/>
          <a:p>
            <a:r>
              <a:rPr lang="en-US" b="0" i="0" dirty="0">
                <a:solidFill>
                  <a:srgbClr val="333333"/>
                </a:solidFill>
                <a:effectLst/>
                <a:latin typeface="inherit"/>
              </a:rPr>
              <a:t>Medical Records Numbering System</a:t>
            </a:r>
            <a:br>
              <a:rPr lang="en-US" b="0" i="0" dirty="0">
                <a:solidFill>
                  <a:srgbClr val="333333"/>
                </a:solidFill>
                <a:effectLst/>
                <a:latin typeface="inherit"/>
              </a:rPr>
            </a:br>
            <a:endParaRPr lang="en-IN" dirty="0"/>
          </a:p>
        </p:txBody>
      </p:sp>
      <p:sp>
        <p:nvSpPr>
          <p:cNvPr id="5" name="Content Placeholder 4">
            <a:extLst>
              <a:ext uri="{FF2B5EF4-FFF2-40B4-BE49-F238E27FC236}">
                <a16:creationId xmlns:a16="http://schemas.microsoft.com/office/drawing/2014/main" id="{B8C98F27-B148-77E4-1F41-E92BC5EDDAB9}"/>
              </a:ext>
            </a:extLst>
          </p:cNvPr>
          <p:cNvSpPr>
            <a:spLocks noGrp="1"/>
          </p:cNvSpPr>
          <p:nvPr>
            <p:ph idx="1"/>
          </p:nvPr>
        </p:nvSpPr>
        <p:spPr/>
        <p:txBody>
          <a:bodyPr>
            <a:normAutofit fontScale="85000" lnSpcReduction="10000"/>
          </a:bodyPr>
          <a:lstStyle/>
          <a:p>
            <a:r>
              <a:rPr lang="en-US" b="0" i="0" dirty="0">
                <a:solidFill>
                  <a:srgbClr val="000000"/>
                </a:solidFill>
                <a:effectLst/>
                <a:latin typeface="Palatino Linotype" panose="02040502050505030304" pitchFamily="18" charset="0"/>
              </a:rPr>
              <a:t>Three types of numbering systems are currently in use in health care facilities-serial, unit, and </a:t>
            </a:r>
            <a:r>
              <a:rPr lang="en-IN" b="0" i="0" dirty="0">
                <a:solidFill>
                  <a:srgbClr val="000000"/>
                </a:solidFill>
                <a:effectLst/>
                <a:latin typeface="Palatino Linotype" panose="02040502050505030304" pitchFamily="18" charset="0"/>
              </a:rPr>
              <a:t>serial unit.</a:t>
            </a:r>
          </a:p>
          <a:p>
            <a:r>
              <a:rPr lang="en-IN" b="0" i="0" dirty="0">
                <a:solidFill>
                  <a:srgbClr val="333333"/>
                </a:solidFill>
                <a:effectLst/>
                <a:highlight>
                  <a:srgbClr val="FFFF00"/>
                </a:highlight>
                <a:latin typeface="Ubuntu" panose="020B0504030602030204" pitchFamily="34" charset="0"/>
              </a:rPr>
              <a:t>Serial numbering</a:t>
            </a:r>
          </a:p>
          <a:p>
            <a:r>
              <a:rPr lang="en-US" b="0" i="0" dirty="0">
                <a:solidFill>
                  <a:srgbClr val="000000"/>
                </a:solidFill>
                <a:effectLst/>
                <a:latin typeface="Palatino Linotype" panose="02040502050505030304" pitchFamily="18" charset="0"/>
              </a:rPr>
              <a:t>In serial numbering the patient receives a new medical record number each time he is registered or treated by the hospital. If he is registered five times, he acquires five different medical record numbers.</a:t>
            </a:r>
          </a:p>
          <a:p>
            <a:r>
              <a:rPr lang="en-US" b="0" i="0" dirty="0" err="1">
                <a:solidFill>
                  <a:srgbClr val="000000"/>
                </a:solidFill>
                <a:effectLst/>
                <a:latin typeface="Palatino Linotype" panose="02040502050505030304" pitchFamily="18" charset="0"/>
              </a:rPr>
              <a:t>Eg</a:t>
            </a:r>
            <a:r>
              <a:rPr lang="en-US" b="0" i="0" dirty="0">
                <a:solidFill>
                  <a:srgbClr val="000000"/>
                </a:solidFill>
                <a:effectLst/>
                <a:latin typeface="Palatino Linotype" panose="02040502050505030304" pitchFamily="18" charset="0"/>
              </a:rPr>
              <a:t> : Patient, Ravi, gets registered in the hospital and receives a number of 13650.When he returns for follow-up one month after treatment, he is registered under medical record number 14020. If he is visiting the hospital again the following year, he would receive still a third number such as 19560. Although all medical record numbers assigned to this patient has been recorded in the system, his medical records are filed in as many places as the number of times he has been treated in the facility.</a:t>
            </a:r>
            <a:endParaRPr lang="en-IN" dirty="0"/>
          </a:p>
        </p:txBody>
      </p:sp>
    </p:spTree>
    <p:extLst>
      <p:ext uri="{BB962C8B-B14F-4D97-AF65-F5344CB8AC3E}">
        <p14:creationId xmlns:p14="http://schemas.microsoft.com/office/powerpoint/2010/main" val="3650061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403025-D662-4A01-C974-856623831F71}"/>
              </a:ext>
            </a:extLst>
          </p:cNvPr>
          <p:cNvPicPr>
            <a:picLocks noChangeAspect="1"/>
          </p:cNvPicPr>
          <p:nvPr/>
        </p:nvPicPr>
        <p:blipFill>
          <a:blip r:embed="rId2"/>
          <a:stretch>
            <a:fillRect/>
          </a:stretch>
        </p:blipFill>
        <p:spPr>
          <a:xfrm>
            <a:off x="836613" y="2057400"/>
            <a:ext cx="3935412" cy="3803649"/>
          </a:xfrm>
          <a:prstGeom prst="rect">
            <a:avLst/>
          </a:prstGeom>
        </p:spPr>
      </p:pic>
      <p:sp>
        <p:nvSpPr>
          <p:cNvPr id="4" name="Title 3">
            <a:extLst>
              <a:ext uri="{FF2B5EF4-FFF2-40B4-BE49-F238E27FC236}">
                <a16:creationId xmlns:a16="http://schemas.microsoft.com/office/drawing/2014/main" id="{D00B9CA3-60EB-A915-39F2-5A9723B05D8C}"/>
              </a:ext>
            </a:extLst>
          </p:cNvPr>
          <p:cNvSpPr>
            <a:spLocks noGrp="1"/>
          </p:cNvSpPr>
          <p:nvPr>
            <p:ph type="title"/>
          </p:nvPr>
        </p:nvSpPr>
        <p:spPr/>
        <p:txBody>
          <a:bodyPr/>
          <a:lstStyle/>
          <a:p>
            <a:r>
              <a:rPr lang="en-IN" b="0" i="0" dirty="0">
                <a:solidFill>
                  <a:srgbClr val="333333"/>
                </a:solidFill>
                <a:effectLst/>
                <a:highlight>
                  <a:srgbClr val="FFFF00"/>
                </a:highlight>
                <a:latin typeface="Ubuntu" panose="020B0504030602030204" pitchFamily="34" charset="0"/>
              </a:rPr>
              <a:t>Unit numbering</a:t>
            </a:r>
            <a:br>
              <a:rPr lang="en-IN" b="0" i="0" dirty="0">
                <a:solidFill>
                  <a:srgbClr val="333333"/>
                </a:solidFill>
                <a:effectLst/>
                <a:highlight>
                  <a:srgbClr val="FFFF00"/>
                </a:highlight>
                <a:latin typeface="Ubuntu" panose="020B0504030602030204" pitchFamily="34" charset="0"/>
              </a:rPr>
            </a:br>
            <a:endParaRPr lang="en-IN" dirty="0"/>
          </a:p>
        </p:txBody>
      </p:sp>
      <p:sp>
        <p:nvSpPr>
          <p:cNvPr id="3" name="Content Placeholder 2">
            <a:extLst>
              <a:ext uri="{FF2B5EF4-FFF2-40B4-BE49-F238E27FC236}">
                <a16:creationId xmlns:a16="http://schemas.microsoft.com/office/drawing/2014/main" id="{42137980-FCBA-C09C-407B-8F64EC63CA73}"/>
              </a:ext>
            </a:extLst>
          </p:cNvPr>
          <p:cNvSpPr>
            <a:spLocks noGrp="1"/>
          </p:cNvSpPr>
          <p:nvPr>
            <p:ph idx="1"/>
          </p:nvPr>
        </p:nvSpPr>
        <p:spPr/>
        <p:txBody>
          <a:bodyPr>
            <a:normAutofit fontScale="77500" lnSpcReduction="20000"/>
          </a:bodyPr>
          <a:lstStyle/>
          <a:p>
            <a:pPr algn="l"/>
            <a:r>
              <a:rPr lang="en-US" b="0" i="0" dirty="0">
                <a:solidFill>
                  <a:srgbClr val="000000"/>
                </a:solidFill>
                <a:effectLst/>
                <a:latin typeface="Palatino Linotype" panose="02040502050505030304" pitchFamily="18" charset="0"/>
              </a:rPr>
              <a:t>Similar to the serial numbering system, the unit numbering system provides a single record, which is composite of all data gathered on a given patient, whether as an outpatient, inpatient or emergency patient.</a:t>
            </a:r>
          </a:p>
          <a:p>
            <a:pPr algn="l"/>
            <a:r>
              <a:rPr lang="en-US" b="0" i="0" dirty="0">
                <a:solidFill>
                  <a:srgbClr val="000000"/>
                </a:solidFill>
                <a:effectLst/>
                <a:latin typeface="Palatino Linotype" panose="02040502050505030304" pitchFamily="18" charset="0"/>
              </a:rPr>
              <a:t>The patient is assigned a medical record on his first visit, which is used for all subsequent visits and treatments. His entire medical treatment is thus available in one folder under one medical record number. </a:t>
            </a:r>
          </a:p>
          <a:p>
            <a:pPr algn="l"/>
            <a:r>
              <a:rPr lang="en-US" b="0" i="0" dirty="0">
                <a:solidFill>
                  <a:srgbClr val="000000"/>
                </a:solidFill>
                <a:effectLst/>
                <a:latin typeface="Palatino Linotype" panose="02040502050505030304" pitchFamily="18" charset="0"/>
              </a:rPr>
              <a:t>For example: With unit numbering, each time Ravi arrived at the hospital for treatment, he would receive the first number he had been assigned –13650.</a:t>
            </a:r>
          </a:p>
          <a:p>
            <a:endParaRPr lang="en-IN" dirty="0"/>
          </a:p>
        </p:txBody>
      </p:sp>
      <p:sp>
        <p:nvSpPr>
          <p:cNvPr id="5" name="Text Placeholder 4">
            <a:extLst>
              <a:ext uri="{FF2B5EF4-FFF2-40B4-BE49-F238E27FC236}">
                <a16:creationId xmlns:a16="http://schemas.microsoft.com/office/drawing/2014/main" id="{9A55E707-1B49-134F-F3BA-8D68E8629FE7}"/>
              </a:ext>
            </a:extLst>
          </p:cNvPr>
          <p:cNvSpPr>
            <a:spLocks noGrp="1"/>
          </p:cNvSpPr>
          <p:nvPr>
            <p:ph type="body" sz="half" idx="2"/>
          </p:nvPr>
        </p:nvSpPr>
        <p:spPr/>
        <p:txBody>
          <a:bodyPr/>
          <a:lstStyle/>
          <a:p>
            <a:endParaRPr lang="en-IN" dirty="0"/>
          </a:p>
        </p:txBody>
      </p:sp>
    </p:spTree>
    <p:extLst>
      <p:ext uri="{BB962C8B-B14F-4D97-AF65-F5344CB8AC3E}">
        <p14:creationId xmlns:p14="http://schemas.microsoft.com/office/powerpoint/2010/main" val="3536281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4385E-6B31-E93E-F535-658D095D9352}"/>
              </a:ext>
            </a:extLst>
          </p:cNvPr>
          <p:cNvSpPr>
            <a:spLocks noGrp="1"/>
          </p:cNvSpPr>
          <p:nvPr>
            <p:ph type="title"/>
          </p:nvPr>
        </p:nvSpPr>
        <p:spPr/>
        <p:txBody>
          <a:bodyPr/>
          <a:lstStyle/>
          <a:p>
            <a:r>
              <a:rPr lang="en-US" b="0" i="0" dirty="0">
                <a:solidFill>
                  <a:srgbClr val="333333"/>
                </a:solidFill>
                <a:effectLst/>
                <a:highlight>
                  <a:srgbClr val="FFFF00"/>
                </a:highlight>
                <a:latin typeface="Ubuntu" panose="020B0504030602030204" pitchFamily="34" charset="0"/>
              </a:rPr>
              <a:t>Serial unit numbering</a:t>
            </a:r>
            <a:br>
              <a:rPr lang="en-US" b="0" i="0" dirty="0">
                <a:solidFill>
                  <a:srgbClr val="333333"/>
                </a:solidFill>
                <a:effectLst/>
                <a:highlight>
                  <a:srgbClr val="FFFF00"/>
                </a:highlight>
                <a:latin typeface="Ubuntu" panose="020B0504030602030204" pitchFamily="34" charset="0"/>
              </a:rPr>
            </a:br>
            <a:endParaRPr lang="en-IN" dirty="0"/>
          </a:p>
        </p:txBody>
      </p:sp>
      <p:sp>
        <p:nvSpPr>
          <p:cNvPr id="3" name="Content Placeholder 2">
            <a:extLst>
              <a:ext uri="{FF2B5EF4-FFF2-40B4-BE49-F238E27FC236}">
                <a16:creationId xmlns:a16="http://schemas.microsoft.com/office/drawing/2014/main" id="{F0DAE88B-FD03-194F-02C7-DEE216F65A7E}"/>
              </a:ext>
            </a:extLst>
          </p:cNvPr>
          <p:cNvSpPr>
            <a:spLocks noGrp="1"/>
          </p:cNvSpPr>
          <p:nvPr>
            <p:ph idx="1"/>
          </p:nvPr>
        </p:nvSpPr>
        <p:spPr/>
        <p:txBody>
          <a:bodyPr>
            <a:normAutofit fontScale="62500" lnSpcReduction="20000"/>
          </a:bodyPr>
          <a:lstStyle/>
          <a:p>
            <a:pPr marL="0" indent="0" algn="l">
              <a:buNone/>
            </a:pPr>
            <a:r>
              <a:rPr lang="en-US" b="0" i="0" dirty="0">
                <a:solidFill>
                  <a:srgbClr val="000000"/>
                </a:solidFill>
                <a:effectLst/>
                <a:latin typeface="Palatino Linotype" panose="02040502050505030304" pitchFamily="18" charset="0"/>
              </a:rPr>
              <a:t>This numbering system is a combination of the serial and unit numbering systems. </a:t>
            </a:r>
          </a:p>
          <a:p>
            <a:pPr marL="0" indent="0" algn="l">
              <a:buNone/>
            </a:pPr>
            <a:r>
              <a:rPr lang="en-US" b="0" i="0" dirty="0">
                <a:solidFill>
                  <a:srgbClr val="000000"/>
                </a:solidFill>
                <a:effectLst/>
                <a:latin typeface="Palatino Linotype" panose="02040502050505030304" pitchFamily="18" charset="0"/>
              </a:rPr>
              <a:t>Although each time the patient is registered he receives a new medical record number, his previous record are continually brought forward and filed under the latest issued number. </a:t>
            </a:r>
          </a:p>
          <a:p>
            <a:pPr marL="0" indent="0" algn="l">
              <a:buNone/>
            </a:pPr>
            <a:r>
              <a:rPr lang="en-US" b="0" i="0" dirty="0">
                <a:solidFill>
                  <a:srgbClr val="000000"/>
                </a:solidFill>
                <a:effectLst/>
                <a:latin typeface="Palatino Linotype" panose="02040502050505030304" pitchFamily="18" charset="0"/>
              </a:rPr>
              <a:t>For example: When patient Ravi returned for his follow-up one month after treatment, he would receive number 14020, but his out patient treatment data, filed under 13650, would also be brought forward to be filed with the old medical record made during his most recent visit. A unit record is thus created.</a:t>
            </a:r>
          </a:p>
          <a:p>
            <a:pPr algn="l"/>
            <a:r>
              <a:rPr lang="en-US" b="0" i="0" dirty="0">
                <a:solidFill>
                  <a:srgbClr val="000000"/>
                </a:solidFill>
                <a:effectLst/>
                <a:latin typeface="Palatino Linotype" panose="02040502050505030304" pitchFamily="18" charset="0"/>
              </a:rPr>
              <a:t>When the older records are brought forward, tracer card must be left in the shelf where the old record has been pulled, to indicate the new number under which the record is now filed. The tracer card marked with a referral note to the new number is a satisfactory method for accomplishing this.</a:t>
            </a:r>
          </a:p>
          <a:p>
            <a:endParaRPr lang="en-IN" dirty="0"/>
          </a:p>
        </p:txBody>
      </p:sp>
      <p:sp>
        <p:nvSpPr>
          <p:cNvPr id="4" name="Text Placeholder 3">
            <a:extLst>
              <a:ext uri="{FF2B5EF4-FFF2-40B4-BE49-F238E27FC236}">
                <a16:creationId xmlns:a16="http://schemas.microsoft.com/office/drawing/2014/main" id="{4AEDE517-4ABA-BFD4-CBE7-5CF02328F3CC}"/>
              </a:ext>
            </a:extLst>
          </p:cNvPr>
          <p:cNvSpPr>
            <a:spLocks noGrp="1"/>
          </p:cNvSpPr>
          <p:nvPr>
            <p:ph type="body" sz="half" idx="2"/>
          </p:nvPr>
        </p:nvSpPr>
        <p:spPr/>
        <p:txBody>
          <a:bodyPr/>
          <a:lstStyle/>
          <a:p>
            <a:endParaRPr lang="en-IN"/>
          </a:p>
        </p:txBody>
      </p:sp>
      <p:pic>
        <p:nvPicPr>
          <p:cNvPr id="3074" name="Picture 2" descr="Medical Records Images – Browse 175,639 Stock Photos, Vectors, and Video |  Adobe Stock">
            <a:extLst>
              <a:ext uri="{FF2B5EF4-FFF2-40B4-BE49-F238E27FC236}">
                <a16:creationId xmlns:a16="http://schemas.microsoft.com/office/drawing/2014/main" id="{6EFEA98B-C4AA-3D3F-B1CC-7568AFAAAA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2" y="2034111"/>
            <a:ext cx="3932237" cy="4241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162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A247A6C-3CFB-28D1-3658-6498A956EAFB}"/>
              </a:ext>
            </a:extLst>
          </p:cNvPr>
          <p:cNvSpPr txBox="1"/>
          <p:nvPr/>
        </p:nvSpPr>
        <p:spPr>
          <a:xfrm>
            <a:off x="838200" y="1868871"/>
            <a:ext cx="6096000" cy="369332"/>
          </a:xfrm>
          <a:prstGeom prst="rect">
            <a:avLst/>
          </a:prstGeom>
          <a:noFill/>
        </p:spPr>
        <p:txBody>
          <a:bodyPr wrap="square">
            <a:spAutoFit/>
          </a:bodyPr>
          <a:lstStyle/>
          <a:p>
            <a:pPr algn="l"/>
            <a:r>
              <a:rPr lang="en-IN" b="0" i="0" dirty="0">
                <a:solidFill>
                  <a:srgbClr val="333333"/>
                </a:solidFill>
                <a:effectLst/>
                <a:highlight>
                  <a:srgbClr val="FFFF00"/>
                </a:highlight>
                <a:latin typeface="Ubuntu" panose="020B0504030602030204" pitchFamily="34" charset="0"/>
              </a:rPr>
              <a:t>Annual numbering</a:t>
            </a:r>
          </a:p>
        </p:txBody>
      </p:sp>
      <p:sp>
        <p:nvSpPr>
          <p:cNvPr id="9" name="TextBox 8">
            <a:extLst>
              <a:ext uri="{FF2B5EF4-FFF2-40B4-BE49-F238E27FC236}">
                <a16:creationId xmlns:a16="http://schemas.microsoft.com/office/drawing/2014/main" id="{4AF14DA2-4958-B78D-A6F7-7B1E1295764E}"/>
              </a:ext>
            </a:extLst>
          </p:cNvPr>
          <p:cNvSpPr txBox="1"/>
          <p:nvPr/>
        </p:nvSpPr>
        <p:spPr>
          <a:xfrm>
            <a:off x="838200" y="2157190"/>
            <a:ext cx="10216896" cy="1477328"/>
          </a:xfrm>
          <a:prstGeom prst="rect">
            <a:avLst/>
          </a:prstGeom>
          <a:noFill/>
        </p:spPr>
        <p:txBody>
          <a:bodyPr wrap="square">
            <a:spAutoFit/>
          </a:bodyPr>
          <a:lstStyle/>
          <a:p>
            <a:r>
              <a:rPr lang="en-US" b="0" i="0" dirty="0">
                <a:solidFill>
                  <a:srgbClr val="000000"/>
                </a:solidFill>
                <a:effectLst/>
                <a:latin typeface="Palatino Linotype" panose="02040502050505030304" pitchFamily="18" charset="0"/>
              </a:rPr>
              <a:t>In annual numbering system, two digits indicating the year are added to the end of a serial number. The year designation serves as a control number in inactivating medical records. The serial numbers together with the calendar year also provide immediate data on the number of hospital registration or visits that occurred during a specific year.</a:t>
            </a:r>
          </a:p>
          <a:p>
            <a:endParaRPr lang="en-IN" dirty="0"/>
          </a:p>
        </p:txBody>
      </p:sp>
      <p:sp>
        <p:nvSpPr>
          <p:cNvPr id="11" name="TextBox 10">
            <a:extLst>
              <a:ext uri="{FF2B5EF4-FFF2-40B4-BE49-F238E27FC236}">
                <a16:creationId xmlns:a16="http://schemas.microsoft.com/office/drawing/2014/main" id="{2840EBED-4B01-5122-35DC-51B3F522959F}"/>
              </a:ext>
            </a:extLst>
          </p:cNvPr>
          <p:cNvSpPr txBox="1"/>
          <p:nvPr/>
        </p:nvSpPr>
        <p:spPr>
          <a:xfrm>
            <a:off x="950976" y="4071897"/>
            <a:ext cx="9826752" cy="2585323"/>
          </a:xfrm>
          <a:prstGeom prst="rect">
            <a:avLst/>
          </a:prstGeom>
          <a:noFill/>
        </p:spPr>
        <p:txBody>
          <a:bodyPr wrap="square">
            <a:spAutoFit/>
          </a:bodyPr>
          <a:lstStyle/>
          <a:p>
            <a:pPr algn="l"/>
            <a:r>
              <a:rPr lang="en-US" b="0" i="0" dirty="0">
                <a:solidFill>
                  <a:srgbClr val="000000"/>
                </a:solidFill>
                <a:effectLst/>
                <a:latin typeface="Palatino Linotype" panose="02040502050505030304" pitchFamily="18" charset="0"/>
              </a:rPr>
              <a:t>Another version of unit numbering is the family numbering system. Family numbering usually consists of placing extra two digits, which indicates assigning number to each individual in the family.</a:t>
            </a:r>
          </a:p>
          <a:p>
            <a:pPr algn="l"/>
            <a:r>
              <a:rPr lang="en-US" b="0" i="0" dirty="0">
                <a:solidFill>
                  <a:srgbClr val="000000"/>
                </a:solidFill>
                <a:effectLst/>
                <a:latin typeface="Palatino Linotype" panose="02040502050505030304" pitchFamily="18" charset="0"/>
              </a:rPr>
              <a:t>These digits are usually placed instantaneously before the regularly assigned medical record number. Prefix number pairs have a definite order and meaning, as follows:</a:t>
            </a:r>
          </a:p>
          <a:p>
            <a:pPr algn="l">
              <a:buFont typeface="Arial" panose="020B0604020202020204" pitchFamily="34" charset="0"/>
              <a:buChar char="•"/>
            </a:pPr>
            <a:r>
              <a:rPr lang="en-US" b="0" i="0" dirty="0">
                <a:solidFill>
                  <a:srgbClr val="000000"/>
                </a:solidFill>
                <a:effectLst/>
                <a:latin typeface="Palatino Linotype" panose="02040502050505030304" pitchFamily="18" charset="0"/>
              </a:rPr>
              <a:t>01 = Head of Family (either mother or father)</a:t>
            </a:r>
          </a:p>
          <a:p>
            <a:pPr algn="l">
              <a:buFont typeface="Arial" panose="020B0604020202020204" pitchFamily="34" charset="0"/>
              <a:buChar char="•"/>
            </a:pPr>
            <a:r>
              <a:rPr lang="en-US" b="0" i="0" dirty="0">
                <a:solidFill>
                  <a:srgbClr val="000000"/>
                </a:solidFill>
                <a:effectLst/>
                <a:latin typeface="Palatino Linotype" panose="02040502050505030304" pitchFamily="18" charset="0"/>
              </a:rPr>
              <a:t>02 = spouse</a:t>
            </a:r>
          </a:p>
          <a:p>
            <a:pPr algn="l">
              <a:buFont typeface="Arial" panose="020B0604020202020204" pitchFamily="34" charset="0"/>
              <a:buChar char="•"/>
            </a:pPr>
            <a:r>
              <a:rPr lang="en-US" b="0" i="0" dirty="0">
                <a:solidFill>
                  <a:srgbClr val="000000"/>
                </a:solidFill>
                <a:effectLst/>
                <a:latin typeface="Palatino Linotype" panose="02040502050505030304" pitchFamily="18" charset="0"/>
              </a:rPr>
              <a:t>03 = children</a:t>
            </a:r>
          </a:p>
          <a:p>
            <a:pPr algn="l">
              <a:buFont typeface="Arial" panose="020B0604020202020204" pitchFamily="34" charset="0"/>
              <a:buChar char="•"/>
            </a:pPr>
            <a:r>
              <a:rPr lang="en-US" b="0" i="0" dirty="0">
                <a:solidFill>
                  <a:srgbClr val="000000"/>
                </a:solidFill>
                <a:effectLst/>
                <a:latin typeface="Palatino Linotype" panose="02040502050505030304" pitchFamily="18" charset="0"/>
              </a:rPr>
              <a:t>04 = any other family relatives</a:t>
            </a:r>
          </a:p>
        </p:txBody>
      </p:sp>
      <p:sp>
        <p:nvSpPr>
          <p:cNvPr id="13" name="TextBox 12">
            <a:extLst>
              <a:ext uri="{FF2B5EF4-FFF2-40B4-BE49-F238E27FC236}">
                <a16:creationId xmlns:a16="http://schemas.microsoft.com/office/drawing/2014/main" id="{6EABE798-566A-AE1B-10CD-A70DBF071D38}"/>
              </a:ext>
            </a:extLst>
          </p:cNvPr>
          <p:cNvSpPr txBox="1"/>
          <p:nvPr/>
        </p:nvSpPr>
        <p:spPr>
          <a:xfrm>
            <a:off x="1136904" y="3553505"/>
            <a:ext cx="6096000" cy="369332"/>
          </a:xfrm>
          <a:prstGeom prst="rect">
            <a:avLst/>
          </a:prstGeom>
          <a:noFill/>
        </p:spPr>
        <p:txBody>
          <a:bodyPr wrap="square">
            <a:spAutoFit/>
          </a:bodyPr>
          <a:lstStyle/>
          <a:p>
            <a:pPr algn="l"/>
            <a:r>
              <a:rPr lang="en-IN" b="0" i="0" dirty="0">
                <a:solidFill>
                  <a:srgbClr val="333333"/>
                </a:solidFill>
                <a:effectLst/>
                <a:highlight>
                  <a:srgbClr val="FFFF00"/>
                </a:highlight>
                <a:latin typeface="Ubuntu" panose="020B0504030602030204" pitchFamily="34" charset="0"/>
              </a:rPr>
              <a:t>Family numbering</a:t>
            </a:r>
          </a:p>
        </p:txBody>
      </p:sp>
      <p:pic>
        <p:nvPicPr>
          <p:cNvPr id="4098" name="Picture 2" descr="Medical Record Scanning &amp; Storage | Boston Scanning and Imaging">
            <a:extLst>
              <a:ext uri="{FF2B5EF4-FFF2-40B4-BE49-F238E27FC236}">
                <a16:creationId xmlns:a16="http://schemas.microsoft.com/office/drawing/2014/main" id="{74BB9E0D-965A-EF91-D186-E91A5C6B9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4904" y="280236"/>
            <a:ext cx="3910584"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96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8AC6-5661-00BD-56CF-3F84CD46669E}"/>
              </a:ext>
            </a:extLst>
          </p:cNvPr>
          <p:cNvSpPr>
            <a:spLocks noGrp="1"/>
          </p:cNvSpPr>
          <p:nvPr>
            <p:ph type="title"/>
          </p:nvPr>
        </p:nvSpPr>
        <p:spPr/>
        <p:txBody>
          <a:bodyPr/>
          <a:lstStyle/>
          <a:p>
            <a:r>
              <a:rPr lang="en-IN" b="0" i="0" dirty="0">
                <a:solidFill>
                  <a:srgbClr val="333333"/>
                </a:solidFill>
                <a:effectLst/>
                <a:latin typeface="Ubuntu" panose="020B0504030602030204" pitchFamily="34" charset="0"/>
              </a:rPr>
              <a:t>Medical Records Filing Systems</a:t>
            </a:r>
            <a:br>
              <a:rPr lang="en-IN" b="0" i="0" dirty="0">
                <a:solidFill>
                  <a:srgbClr val="333333"/>
                </a:solidFill>
                <a:effectLst/>
                <a:latin typeface="Ubuntu" panose="020B0504030602030204" pitchFamily="34" charset="0"/>
              </a:rPr>
            </a:br>
            <a:endParaRPr lang="en-IN" dirty="0"/>
          </a:p>
        </p:txBody>
      </p:sp>
      <p:sp>
        <p:nvSpPr>
          <p:cNvPr id="4" name="TextBox 3">
            <a:extLst>
              <a:ext uri="{FF2B5EF4-FFF2-40B4-BE49-F238E27FC236}">
                <a16:creationId xmlns:a16="http://schemas.microsoft.com/office/drawing/2014/main" id="{564AD5E8-8CF0-2D64-609D-E7AD3E0E2CC8}"/>
              </a:ext>
            </a:extLst>
          </p:cNvPr>
          <p:cNvSpPr txBox="1"/>
          <p:nvPr/>
        </p:nvSpPr>
        <p:spPr>
          <a:xfrm>
            <a:off x="838200" y="1219200"/>
            <a:ext cx="10658856" cy="646331"/>
          </a:xfrm>
          <a:prstGeom prst="rect">
            <a:avLst/>
          </a:prstGeom>
          <a:noFill/>
        </p:spPr>
        <p:txBody>
          <a:bodyPr wrap="square">
            <a:spAutoFit/>
          </a:bodyPr>
          <a:lstStyle/>
          <a:p>
            <a:r>
              <a:rPr lang="en-US" b="0" i="0" dirty="0">
                <a:solidFill>
                  <a:srgbClr val="000000"/>
                </a:solidFill>
                <a:effectLst/>
                <a:latin typeface="Palatino Linotype" panose="02040502050505030304" pitchFamily="18" charset="0"/>
              </a:rPr>
              <a:t>Three types of numeric filing systems are commonly used for filing medical records- straight numeric, terminal digit, and middle digit. </a:t>
            </a:r>
            <a:endParaRPr lang="en-IN" dirty="0"/>
          </a:p>
        </p:txBody>
      </p:sp>
      <p:sp>
        <p:nvSpPr>
          <p:cNvPr id="6" name="TextBox 5">
            <a:extLst>
              <a:ext uri="{FF2B5EF4-FFF2-40B4-BE49-F238E27FC236}">
                <a16:creationId xmlns:a16="http://schemas.microsoft.com/office/drawing/2014/main" id="{2FF232B4-15CF-DC2D-45DB-7C42D371658E}"/>
              </a:ext>
            </a:extLst>
          </p:cNvPr>
          <p:cNvSpPr txBox="1"/>
          <p:nvPr/>
        </p:nvSpPr>
        <p:spPr>
          <a:xfrm>
            <a:off x="4059936" y="1865531"/>
            <a:ext cx="7754112" cy="5078313"/>
          </a:xfrm>
          <a:prstGeom prst="rect">
            <a:avLst/>
          </a:prstGeom>
          <a:noFill/>
        </p:spPr>
        <p:txBody>
          <a:bodyPr wrap="square">
            <a:spAutoFit/>
          </a:bodyPr>
          <a:lstStyle/>
          <a:p>
            <a:pPr algn="l"/>
            <a:r>
              <a:rPr lang="en-US" b="0" i="0" dirty="0">
                <a:solidFill>
                  <a:srgbClr val="000000"/>
                </a:solidFill>
                <a:effectLst/>
                <a:latin typeface="Palatino Linotype" panose="02040502050505030304" pitchFamily="18" charset="0"/>
              </a:rPr>
              <a:t>Straight numeric filing refers to the filing of records in exact ascending order according to medical records number. Thus, simultaneously all the numbered records would be in an ascending series on the filing shelves. </a:t>
            </a:r>
          </a:p>
          <a:p>
            <a:pPr algn="l"/>
            <a:r>
              <a:rPr lang="en-US" b="0" i="0" dirty="0">
                <a:solidFill>
                  <a:srgbClr val="000000"/>
                </a:solidFill>
                <a:effectLst/>
                <a:latin typeface="Palatino Linotype" panose="02040502050505030304" pitchFamily="18" charset="0"/>
              </a:rPr>
              <a:t>For e.g., the following four medical records would be filed in the following order on a shelf: 65023, 65024, 65025, and 65026.</a:t>
            </a:r>
          </a:p>
          <a:p>
            <a:pPr algn="l"/>
            <a:r>
              <a:rPr lang="en-US" b="0" i="0" dirty="0">
                <a:solidFill>
                  <a:srgbClr val="000000"/>
                </a:solidFill>
                <a:effectLst/>
                <a:latin typeface="Palatino Linotype" panose="02040502050505030304" pitchFamily="18" charset="0"/>
              </a:rPr>
              <a:t>The greatest advantage of this type of filing system is the ease with which personnel are trained to work with it. </a:t>
            </a:r>
          </a:p>
          <a:p>
            <a:pPr algn="l"/>
            <a:r>
              <a:rPr lang="en-US" b="0" i="0" dirty="0">
                <a:solidFill>
                  <a:srgbClr val="000000"/>
                </a:solidFill>
                <a:effectLst/>
                <a:latin typeface="Palatino Linotype" panose="02040502050505030304" pitchFamily="18" charset="0"/>
              </a:rPr>
              <a:t>This approach to filing has certain disadvantages. It is easy to misfile since a staff must consider all digits of the record number at one time when filing a record. The greater the number of digits that must be recalled when filing, the greater the chance for error. Alteration of numbers is common: medical record 65424 can be misfiled as record 56524.</a:t>
            </a:r>
          </a:p>
          <a:p>
            <a:pPr algn="l"/>
            <a:r>
              <a:rPr lang="en-US" b="0" i="0" dirty="0">
                <a:solidFill>
                  <a:srgbClr val="000000"/>
                </a:solidFill>
                <a:effectLst/>
                <a:latin typeface="Palatino Linotype" panose="02040502050505030304" pitchFamily="18" charset="0"/>
              </a:rPr>
              <a:t>A more serious problem to straight numerical filing is that the heaviest filing activity is concentrated in the area with the maximum number of new records. Several staff filing records at the same time in such areas is bound to get in each other’s way. Since staffs are usually filing in the area of the most current records, it is not possible to fix responsibility for a section of the file to one staff.</a:t>
            </a:r>
          </a:p>
        </p:txBody>
      </p:sp>
      <p:sp>
        <p:nvSpPr>
          <p:cNvPr id="8" name="TextBox 7">
            <a:extLst>
              <a:ext uri="{FF2B5EF4-FFF2-40B4-BE49-F238E27FC236}">
                <a16:creationId xmlns:a16="http://schemas.microsoft.com/office/drawing/2014/main" id="{42237298-F4CC-4444-C5EC-D8CEAEB5FE4A}"/>
              </a:ext>
            </a:extLst>
          </p:cNvPr>
          <p:cNvSpPr txBox="1"/>
          <p:nvPr/>
        </p:nvSpPr>
        <p:spPr>
          <a:xfrm>
            <a:off x="1158240" y="2028929"/>
            <a:ext cx="2767584" cy="369332"/>
          </a:xfrm>
          <a:prstGeom prst="rect">
            <a:avLst/>
          </a:prstGeom>
          <a:noFill/>
        </p:spPr>
        <p:txBody>
          <a:bodyPr wrap="square">
            <a:spAutoFit/>
          </a:bodyPr>
          <a:lstStyle/>
          <a:p>
            <a:pPr algn="l"/>
            <a:r>
              <a:rPr lang="en-US" b="0" i="0" dirty="0">
                <a:solidFill>
                  <a:srgbClr val="333333"/>
                </a:solidFill>
                <a:effectLst/>
                <a:highlight>
                  <a:srgbClr val="00FF00"/>
                </a:highlight>
                <a:latin typeface="Ubuntu" panose="020B0504030602030204" pitchFamily="34" charset="0"/>
              </a:rPr>
              <a:t>Straight numeric filing</a:t>
            </a:r>
          </a:p>
        </p:txBody>
      </p:sp>
      <p:pic>
        <p:nvPicPr>
          <p:cNvPr id="9" name="Picture 8">
            <a:extLst>
              <a:ext uri="{FF2B5EF4-FFF2-40B4-BE49-F238E27FC236}">
                <a16:creationId xmlns:a16="http://schemas.microsoft.com/office/drawing/2014/main" id="{7ADFFA68-9F89-9588-63D4-AEAF0658CD37}"/>
              </a:ext>
            </a:extLst>
          </p:cNvPr>
          <p:cNvPicPr>
            <a:picLocks noChangeAspect="1"/>
          </p:cNvPicPr>
          <p:nvPr/>
        </p:nvPicPr>
        <p:blipFill>
          <a:blip r:embed="rId2"/>
          <a:stretch>
            <a:fillRect/>
          </a:stretch>
        </p:blipFill>
        <p:spPr>
          <a:xfrm>
            <a:off x="995158" y="2487045"/>
            <a:ext cx="2997722" cy="3945389"/>
          </a:xfrm>
          <a:prstGeom prst="rect">
            <a:avLst/>
          </a:prstGeom>
        </p:spPr>
      </p:pic>
    </p:spTree>
    <p:extLst>
      <p:ext uri="{BB962C8B-B14F-4D97-AF65-F5344CB8AC3E}">
        <p14:creationId xmlns:p14="http://schemas.microsoft.com/office/powerpoint/2010/main" val="1665783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DB6B9-B8FD-A0E6-972B-736CF68E1F8B}"/>
              </a:ext>
            </a:extLst>
          </p:cNvPr>
          <p:cNvSpPr>
            <a:spLocks noGrp="1"/>
          </p:cNvSpPr>
          <p:nvPr>
            <p:ph type="title"/>
          </p:nvPr>
        </p:nvSpPr>
        <p:spPr>
          <a:xfrm>
            <a:off x="755904" y="657733"/>
            <a:ext cx="10675620" cy="366395"/>
          </a:xfrm>
        </p:spPr>
        <p:txBody>
          <a:bodyPr>
            <a:normAutofit fontScale="90000"/>
          </a:bodyPr>
          <a:lstStyle/>
          <a:p>
            <a:r>
              <a:rPr lang="en-IN" sz="3600" b="0" i="0" dirty="0">
                <a:solidFill>
                  <a:srgbClr val="333333"/>
                </a:solidFill>
                <a:effectLst/>
                <a:highlight>
                  <a:srgbClr val="00FF00"/>
                </a:highlight>
                <a:latin typeface="Ubuntu" panose="020B0504030602030204" pitchFamily="34" charset="0"/>
              </a:rPr>
              <a:t>Terminal digit filing</a:t>
            </a:r>
            <a:br>
              <a:rPr lang="en-IN" b="0" i="0" dirty="0">
                <a:solidFill>
                  <a:srgbClr val="333333"/>
                </a:solidFill>
                <a:effectLst/>
                <a:latin typeface="Ubuntu" panose="020B0504030602030204" pitchFamily="34" charset="0"/>
              </a:rPr>
            </a:br>
            <a:endParaRPr lang="en-IN" dirty="0"/>
          </a:p>
        </p:txBody>
      </p:sp>
      <p:sp>
        <p:nvSpPr>
          <p:cNvPr id="6" name="TextBox 5">
            <a:extLst>
              <a:ext uri="{FF2B5EF4-FFF2-40B4-BE49-F238E27FC236}">
                <a16:creationId xmlns:a16="http://schemas.microsoft.com/office/drawing/2014/main" id="{1E6C056A-F543-C957-4902-3B9EE81A688C}"/>
              </a:ext>
            </a:extLst>
          </p:cNvPr>
          <p:cNvSpPr txBox="1"/>
          <p:nvPr/>
        </p:nvSpPr>
        <p:spPr>
          <a:xfrm>
            <a:off x="499872" y="1024128"/>
            <a:ext cx="11129010" cy="2585323"/>
          </a:xfrm>
          <a:prstGeom prst="rect">
            <a:avLst/>
          </a:prstGeom>
          <a:noFill/>
        </p:spPr>
        <p:txBody>
          <a:bodyPr wrap="square">
            <a:spAutoFit/>
          </a:bodyPr>
          <a:lstStyle/>
          <a:p>
            <a:pPr algn="l"/>
            <a:r>
              <a:rPr lang="en-US" b="0" i="0" dirty="0">
                <a:solidFill>
                  <a:srgbClr val="000000"/>
                </a:solidFill>
                <a:effectLst/>
                <a:latin typeface="Palatino Linotype" panose="02040502050505030304" pitchFamily="18" charset="0"/>
              </a:rPr>
              <a:t>A six-digit number or a seven-digit number can be used and divided with a hyphen into three parts, each part normally containing two digits. Within the number, the primary digits are the last two, secondary digits are the middle two and, the tertiary digits are the first two or three digits.</a:t>
            </a:r>
          </a:p>
          <a:p>
            <a:pPr algn="l"/>
            <a:r>
              <a:rPr lang="en-US" b="0" i="0" dirty="0">
                <a:solidFill>
                  <a:srgbClr val="000000"/>
                </a:solidFill>
                <a:effectLst/>
                <a:latin typeface="Palatino Linotype" panose="02040502050505030304" pitchFamily="18" charset="0"/>
              </a:rPr>
              <a:t>In a terminal digit filing, there are 100 primary sections, ranging from 00 to 99. A staff must first consider the primary section while filing the records. With each primary section, groups of records are matched according to the secondary digit, after locating the correct secondary digits section, the medical record staff files in numerical order by the tertiary digits. In medical records, the second tertiary digits changes with every Record.</a:t>
            </a:r>
          </a:p>
          <a:p>
            <a:pPr algn="l"/>
            <a:endParaRPr lang="en-US" b="0" i="0" dirty="0">
              <a:solidFill>
                <a:srgbClr val="000000"/>
              </a:solidFill>
              <a:effectLst/>
              <a:latin typeface="Palatino Linotype" panose="02040502050505030304" pitchFamily="18" charset="0"/>
            </a:endParaRPr>
          </a:p>
        </p:txBody>
      </p:sp>
      <p:graphicFrame>
        <p:nvGraphicFramePr>
          <p:cNvPr id="7" name="Table 6">
            <a:extLst>
              <a:ext uri="{FF2B5EF4-FFF2-40B4-BE49-F238E27FC236}">
                <a16:creationId xmlns:a16="http://schemas.microsoft.com/office/drawing/2014/main" id="{CBD0B46F-D1CD-0C7E-2514-C9807D15FC1F}"/>
              </a:ext>
            </a:extLst>
          </p:cNvPr>
          <p:cNvGraphicFramePr>
            <a:graphicFrameLocks noGrp="1"/>
          </p:cNvGraphicFramePr>
          <p:nvPr>
            <p:extLst>
              <p:ext uri="{D42A27DB-BD31-4B8C-83A1-F6EECF244321}">
                <p14:modId xmlns:p14="http://schemas.microsoft.com/office/powerpoint/2010/main" val="708864570"/>
              </p:ext>
            </p:extLst>
          </p:nvPr>
        </p:nvGraphicFramePr>
        <p:xfrm>
          <a:off x="5027676" y="3469051"/>
          <a:ext cx="4627309" cy="1501936"/>
        </p:xfrm>
        <a:graphic>
          <a:graphicData uri="http://schemas.openxmlformats.org/drawingml/2006/table">
            <a:tbl>
              <a:tblPr/>
              <a:tblGrid>
                <a:gridCol w="1070293">
                  <a:extLst>
                    <a:ext uri="{9D8B030D-6E8A-4147-A177-3AD203B41FA5}">
                      <a16:colId xmlns:a16="http://schemas.microsoft.com/office/drawing/2014/main" val="333264327"/>
                    </a:ext>
                  </a:extLst>
                </a:gridCol>
                <a:gridCol w="1778508">
                  <a:extLst>
                    <a:ext uri="{9D8B030D-6E8A-4147-A177-3AD203B41FA5}">
                      <a16:colId xmlns:a16="http://schemas.microsoft.com/office/drawing/2014/main" val="1962197376"/>
                    </a:ext>
                  </a:extLst>
                </a:gridCol>
                <a:gridCol w="1778508">
                  <a:extLst>
                    <a:ext uri="{9D8B030D-6E8A-4147-A177-3AD203B41FA5}">
                      <a16:colId xmlns:a16="http://schemas.microsoft.com/office/drawing/2014/main" val="980246648"/>
                    </a:ext>
                  </a:extLst>
                </a:gridCol>
              </a:tblGrid>
              <a:tr h="375484">
                <a:tc>
                  <a:txBody>
                    <a:bodyPr/>
                    <a:lstStyle/>
                    <a:p>
                      <a:r>
                        <a:rPr lang="en-IN">
                          <a:effectLst/>
                        </a:rPr>
                        <a:t>66-31-06</a:t>
                      </a:r>
                    </a:p>
                  </a:txBody>
                  <a:tcPr anchor="ctr">
                    <a:lnL>
                      <a:noFill/>
                    </a:lnL>
                    <a:lnR>
                      <a:noFill/>
                    </a:lnR>
                    <a:lnT>
                      <a:noFill/>
                    </a:lnT>
                    <a:lnB>
                      <a:noFill/>
                    </a:lnB>
                    <a:solidFill>
                      <a:srgbClr val="FFFFFF"/>
                    </a:solidFill>
                  </a:tcPr>
                </a:tc>
                <a:tc>
                  <a:txBody>
                    <a:bodyPr/>
                    <a:lstStyle/>
                    <a:p>
                      <a:r>
                        <a:rPr lang="en-IN">
                          <a:effectLst/>
                        </a:rPr>
                        <a:t>98-11-38</a:t>
                      </a:r>
                    </a:p>
                  </a:txBody>
                  <a:tcPr anchor="ctr">
                    <a:lnL>
                      <a:noFill/>
                    </a:lnL>
                    <a:lnR>
                      <a:noFill/>
                    </a:lnR>
                    <a:lnT>
                      <a:noFill/>
                    </a:lnT>
                    <a:lnB>
                      <a:noFill/>
                    </a:lnB>
                    <a:solidFill>
                      <a:srgbClr val="FFFFFF"/>
                    </a:solidFill>
                  </a:tcPr>
                </a:tc>
                <a:tc>
                  <a:txBody>
                    <a:bodyPr/>
                    <a:lstStyle/>
                    <a:p>
                      <a:r>
                        <a:rPr lang="en-IN">
                          <a:effectLst/>
                        </a:rPr>
                        <a:t>98-99-50</a:t>
                      </a:r>
                    </a:p>
                  </a:txBody>
                  <a:tcPr anchor="ctr">
                    <a:lnL>
                      <a:noFill/>
                    </a:lnL>
                    <a:lnR>
                      <a:noFill/>
                    </a:lnR>
                    <a:lnT>
                      <a:noFill/>
                    </a:lnT>
                    <a:lnB>
                      <a:noFill/>
                    </a:lnB>
                    <a:solidFill>
                      <a:srgbClr val="FFFFFF"/>
                    </a:solidFill>
                  </a:tcPr>
                </a:tc>
                <a:extLst>
                  <a:ext uri="{0D108BD9-81ED-4DB2-BD59-A6C34878D82A}">
                    <a16:rowId xmlns:a16="http://schemas.microsoft.com/office/drawing/2014/main" val="719403140"/>
                  </a:ext>
                </a:extLst>
              </a:tr>
              <a:tr h="375484">
                <a:tc>
                  <a:txBody>
                    <a:bodyPr/>
                    <a:lstStyle/>
                    <a:p>
                      <a:r>
                        <a:rPr lang="en-IN">
                          <a:effectLst/>
                        </a:rPr>
                        <a:t>67-31-06</a:t>
                      </a:r>
                    </a:p>
                  </a:txBody>
                  <a:tcPr anchor="ctr">
                    <a:lnL>
                      <a:noFill/>
                    </a:lnL>
                    <a:lnR>
                      <a:noFill/>
                    </a:lnR>
                    <a:lnT>
                      <a:noFill/>
                    </a:lnT>
                    <a:lnB>
                      <a:noFill/>
                    </a:lnB>
                    <a:solidFill>
                      <a:srgbClr val="FFFFFF"/>
                    </a:solidFill>
                  </a:tcPr>
                </a:tc>
                <a:tc>
                  <a:txBody>
                    <a:bodyPr/>
                    <a:lstStyle/>
                    <a:p>
                      <a:r>
                        <a:rPr lang="en-IN">
                          <a:effectLst/>
                        </a:rPr>
                        <a:t>99-11-38</a:t>
                      </a:r>
                    </a:p>
                  </a:txBody>
                  <a:tcPr anchor="ctr">
                    <a:lnL>
                      <a:noFill/>
                    </a:lnL>
                    <a:lnR>
                      <a:noFill/>
                    </a:lnR>
                    <a:lnT>
                      <a:noFill/>
                    </a:lnT>
                    <a:lnB>
                      <a:noFill/>
                    </a:lnB>
                    <a:solidFill>
                      <a:srgbClr val="FFFFFF"/>
                    </a:solidFill>
                  </a:tcPr>
                </a:tc>
                <a:tc>
                  <a:txBody>
                    <a:bodyPr/>
                    <a:lstStyle/>
                    <a:p>
                      <a:r>
                        <a:rPr lang="en-IN">
                          <a:effectLst/>
                        </a:rPr>
                        <a:t>99-99-50</a:t>
                      </a:r>
                    </a:p>
                  </a:txBody>
                  <a:tcPr anchor="ctr">
                    <a:lnL>
                      <a:noFill/>
                    </a:lnL>
                    <a:lnR>
                      <a:noFill/>
                    </a:lnR>
                    <a:lnT>
                      <a:noFill/>
                    </a:lnT>
                    <a:lnB>
                      <a:noFill/>
                    </a:lnB>
                    <a:solidFill>
                      <a:srgbClr val="FFFFFF"/>
                    </a:solidFill>
                  </a:tcPr>
                </a:tc>
                <a:extLst>
                  <a:ext uri="{0D108BD9-81ED-4DB2-BD59-A6C34878D82A}">
                    <a16:rowId xmlns:a16="http://schemas.microsoft.com/office/drawing/2014/main" val="3190872327"/>
                  </a:ext>
                </a:extLst>
              </a:tr>
              <a:tr h="375484">
                <a:tc>
                  <a:txBody>
                    <a:bodyPr/>
                    <a:lstStyle/>
                    <a:p>
                      <a:r>
                        <a:rPr lang="en-IN" dirty="0">
                          <a:effectLst/>
                        </a:rPr>
                        <a:t>68-31-06</a:t>
                      </a:r>
                    </a:p>
                  </a:txBody>
                  <a:tcPr anchor="ctr">
                    <a:lnL>
                      <a:noFill/>
                    </a:lnL>
                    <a:lnR>
                      <a:noFill/>
                    </a:lnR>
                    <a:lnT>
                      <a:noFill/>
                    </a:lnT>
                    <a:lnB>
                      <a:noFill/>
                    </a:lnB>
                    <a:solidFill>
                      <a:srgbClr val="FFFFFF"/>
                    </a:solidFill>
                  </a:tcPr>
                </a:tc>
                <a:tc>
                  <a:txBody>
                    <a:bodyPr/>
                    <a:lstStyle/>
                    <a:p>
                      <a:r>
                        <a:rPr lang="en-IN">
                          <a:effectLst/>
                        </a:rPr>
                        <a:t>00-12-38</a:t>
                      </a:r>
                    </a:p>
                  </a:txBody>
                  <a:tcPr anchor="ctr">
                    <a:lnL>
                      <a:noFill/>
                    </a:lnL>
                    <a:lnR>
                      <a:noFill/>
                    </a:lnR>
                    <a:lnT>
                      <a:noFill/>
                    </a:lnT>
                    <a:lnB>
                      <a:noFill/>
                    </a:lnB>
                    <a:solidFill>
                      <a:srgbClr val="FFFFFF"/>
                    </a:solidFill>
                  </a:tcPr>
                </a:tc>
                <a:tc>
                  <a:txBody>
                    <a:bodyPr/>
                    <a:lstStyle/>
                    <a:p>
                      <a:r>
                        <a:rPr lang="en-IN">
                          <a:effectLst/>
                        </a:rPr>
                        <a:t>00-00-51</a:t>
                      </a:r>
                    </a:p>
                  </a:txBody>
                  <a:tcPr anchor="ctr">
                    <a:lnL>
                      <a:noFill/>
                    </a:lnL>
                    <a:lnR>
                      <a:noFill/>
                    </a:lnR>
                    <a:lnT>
                      <a:noFill/>
                    </a:lnT>
                    <a:lnB>
                      <a:noFill/>
                    </a:lnB>
                    <a:solidFill>
                      <a:srgbClr val="FFFFFF"/>
                    </a:solidFill>
                  </a:tcPr>
                </a:tc>
                <a:extLst>
                  <a:ext uri="{0D108BD9-81ED-4DB2-BD59-A6C34878D82A}">
                    <a16:rowId xmlns:a16="http://schemas.microsoft.com/office/drawing/2014/main" val="1066404672"/>
                  </a:ext>
                </a:extLst>
              </a:tr>
              <a:tr h="375484">
                <a:tc>
                  <a:txBody>
                    <a:bodyPr/>
                    <a:lstStyle/>
                    <a:p>
                      <a:r>
                        <a:rPr lang="en-IN" dirty="0">
                          <a:effectLst/>
                        </a:rPr>
                        <a:t>69-31-06</a:t>
                      </a:r>
                    </a:p>
                  </a:txBody>
                  <a:tcPr anchor="ctr">
                    <a:lnL>
                      <a:noFill/>
                    </a:lnL>
                    <a:lnR>
                      <a:noFill/>
                    </a:lnR>
                    <a:lnT>
                      <a:noFill/>
                    </a:lnT>
                    <a:lnB>
                      <a:noFill/>
                    </a:lnB>
                    <a:solidFill>
                      <a:srgbClr val="FFFFFF"/>
                    </a:solidFill>
                  </a:tcPr>
                </a:tc>
                <a:tc>
                  <a:txBody>
                    <a:bodyPr/>
                    <a:lstStyle/>
                    <a:p>
                      <a:r>
                        <a:rPr lang="en-IN">
                          <a:effectLst/>
                        </a:rPr>
                        <a:t>01-12-38</a:t>
                      </a:r>
                    </a:p>
                  </a:txBody>
                  <a:tcPr anchor="ctr">
                    <a:lnL>
                      <a:noFill/>
                    </a:lnL>
                    <a:lnR>
                      <a:noFill/>
                    </a:lnR>
                    <a:lnT>
                      <a:noFill/>
                    </a:lnT>
                    <a:lnB>
                      <a:noFill/>
                    </a:lnB>
                    <a:solidFill>
                      <a:srgbClr val="FFFFFF"/>
                    </a:solidFill>
                  </a:tcPr>
                </a:tc>
                <a:tc>
                  <a:txBody>
                    <a:bodyPr/>
                    <a:lstStyle/>
                    <a:p>
                      <a:r>
                        <a:rPr lang="en-IN" dirty="0">
                          <a:effectLst/>
                        </a:rPr>
                        <a:t>01-00-51</a:t>
                      </a:r>
                    </a:p>
                  </a:txBody>
                  <a:tcPr anchor="ctr">
                    <a:lnL>
                      <a:noFill/>
                    </a:lnL>
                    <a:lnR>
                      <a:noFill/>
                    </a:lnR>
                    <a:lnT>
                      <a:noFill/>
                    </a:lnT>
                    <a:lnB>
                      <a:noFill/>
                    </a:lnB>
                    <a:solidFill>
                      <a:srgbClr val="FFFFFF"/>
                    </a:solidFill>
                  </a:tcPr>
                </a:tc>
                <a:extLst>
                  <a:ext uri="{0D108BD9-81ED-4DB2-BD59-A6C34878D82A}">
                    <a16:rowId xmlns:a16="http://schemas.microsoft.com/office/drawing/2014/main" val="297511"/>
                  </a:ext>
                </a:extLst>
              </a:tr>
            </a:tbl>
          </a:graphicData>
        </a:graphic>
      </p:graphicFrame>
      <p:sp>
        <p:nvSpPr>
          <p:cNvPr id="8" name="Rectangle 2">
            <a:extLst>
              <a:ext uri="{FF2B5EF4-FFF2-40B4-BE49-F238E27FC236}">
                <a16:creationId xmlns:a16="http://schemas.microsoft.com/office/drawing/2014/main" id="{51039D43-6B35-8B37-EA20-59C41C844B6A}"/>
              </a:ext>
            </a:extLst>
          </p:cNvPr>
          <p:cNvSpPr>
            <a:spLocks noChangeArrowheads="1"/>
          </p:cNvSpPr>
          <p:nvPr/>
        </p:nvSpPr>
        <p:spPr bwMode="auto">
          <a:xfrm>
            <a:off x="755904" y="3563539"/>
            <a:ext cx="122819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Palatino Linotype" panose="02040502050505030304" pitchFamily="18" charset="0"/>
              </a:rPr>
              <a:t>Note the following example in a terminal digit file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611528A8-0D7A-AB16-6EB9-98A398E4CB32}"/>
              </a:ext>
            </a:extLst>
          </p:cNvPr>
          <p:cNvGraphicFramePr>
            <a:graphicFrameLocks noGrp="1"/>
          </p:cNvGraphicFramePr>
          <p:nvPr>
            <p:extLst>
              <p:ext uri="{D42A27DB-BD31-4B8C-83A1-F6EECF244321}">
                <p14:modId xmlns:p14="http://schemas.microsoft.com/office/powerpoint/2010/main" val="3298410704"/>
              </p:ext>
            </p:extLst>
          </p:nvPr>
        </p:nvGraphicFramePr>
        <p:xfrm>
          <a:off x="670561" y="5556250"/>
          <a:ext cx="6461760" cy="1097280"/>
        </p:xfrm>
        <a:graphic>
          <a:graphicData uri="http://schemas.openxmlformats.org/drawingml/2006/table">
            <a:tbl>
              <a:tblPr/>
              <a:tblGrid>
                <a:gridCol w="2153920">
                  <a:extLst>
                    <a:ext uri="{9D8B030D-6E8A-4147-A177-3AD203B41FA5}">
                      <a16:colId xmlns:a16="http://schemas.microsoft.com/office/drawing/2014/main" val="1424329"/>
                    </a:ext>
                  </a:extLst>
                </a:gridCol>
                <a:gridCol w="2153920">
                  <a:extLst>
                    <a:ext uri="{9D8B030D-6E8A-4147-A177-3AD203B41FA5}">
                      <a16:colId xmlns:a16="http://schemas.microsoft.com/office/drawing/2014/main" val="859838583"/>
                    </a:ext>
                  </a:extLst>
                </a:gridCol>
                <a:gridCol w="2153920">
                  <a:extLst>
                    <a:ext uri="{9D8B030D-6E8A-4147-A177-3AD203B41FA5}">
                      <a16:colId xmlns:a16="http://schemas.microsoft.com/office/drawing/2014/main" val="2457671558"/>
                    </a:ext>
                  </a:extLst>
                </a:gridCol>
              </a:tblGrid>
              <a:tr h="338554">
                <a:tc>
                  <a:txBody>
                    <a:bodyPr/>
                    <a:lstStyle/>
                    <a:p>
                      <a:r>
                        <a:rPr lang="en-IN">
                          <a:effectLst/>
                        </a:rPr>
                        <a:t>7-65-43</a:t>
                      </a:r>
                    </a:p>
                  </a:txBody>
                  <a:tcPr anchor="ctr">
                    <a:lnL>
                      <a:noFill/>
                    </a:lnL>
                    <a:lnR>
                      <a:noFill/>
                    </a:lnR>
                    <a:lnT>
                      <a:noFill/>
                    </a:lnT>
                    <a:lnB>
                      <a:noFill/>
                    </a:lnB>
                    <a:solidFill>
                      <a:srgbClr val="FFFFFF"/>
                    </a:solidFill>
                  </a:tcPr>
                </a:tc>
                <a:tc>
                  <a:txBody>
                    <a:bodyPr/>
                    <a:lstStyle/>
                    <a:p>
                      <a:r>
                        <a:rPr lang="en-IN">
                          <a:effectLst/>
                        </a:rPr>
                        <a:t>0-00-01</a:t>
                      </a:r>
                    </a:p>
                  </a:txBody>
                  <a:tcPr anchor="ctr">
                    <a:lnL>
                      <a:noFill/>
                    </a:lnL>
                    <a:lnR>
                      <a:noFill/>
                    </a:lnR>
                    <a:lnT>
                      <a:noFill/>
                    </a:lnT>
                    <a:lnB>
                      <a:noFill/>
                    </a:lnB>
                    <a:solidFill>
                      <a:srgbClr val="FFFFFF"/>
                    </a:solidFill>
                  </a:tcPr>
                </a:tc>
                <a:tc>
                  <a:txBody>
                    <a:bodyPr/>
                    <a:lstStyle/>
                    <a:p>
                      <a:r>
                        <a:rPr lang="en-IN">
                          <a:effectLst/>
                        </a:rPr>
                        <a:t>etc.</a:t>
                      </a:r>
                    </a:p>
                  </a:txBody>
                  <a:tcPr anchor="ctr">
                    <a:lnL>
                      <a:noFill/>
                    </a:lnL>
                    <a:lnR>
                      <a:noFill/>
                    </a:lnR>
                    <a:lnT>
                      <a:noFill/>
                    </a:lnT>
                    <a:lnB>
                      <a:noFill/>
                    </a:lnB>
                    <a:solidFill>
                      <a:srgbClr val="FFFFFF"/>
                    </a:solidFill>
                  </a:tcPr>
                </a:tc>
                <a:extLst>
                  <a:ext uri="{0D108BD9-81ED-4DB2-BD59-A6C34878D82A}">
                    <a16:rowId xmlns:a16="http://schemas.microsoft.com/office/drawing/2014/main" val="2462411032"/>
                  </a:ext>
                </a:extLst>
              </a:tr>
              <a:tr h="338554">
                <a:tc gridSpan="3">
                  <a:txBody>
                    <a:bodyPr/>
                    <a:lstStyle/>
                    <a:p>
                      <a:r>
                        <a:rPr lang="en-US" dirty="0">
                          <a:effectLst/>
                        </a:rPr>
                        <a:t>With seven digits, the break up might be:</a:t>
                      </a:r>
                    </a:p>
                  </a:txBody>
                  <a:tcPr anchor="ctr">
                    <a:lnL>
                      <a:noFill/>
                    </a:lnL>
                    <a:lnR>
                      <a:noFill/>
                    </a:lnR>
                    <a:lnT>
                      <a:noFill/>
                    </a:lnT>
                    <a:lnB>
                      <a:noFill/>
                    </a:lnB>
                    <a:solidFill>
                      <a:srgbClr val="FFFFFF"/>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01732375"/>
                  </a:ext>
                </a:extLst>
              </a:tr>
              <a:tr h="338554">
                <a:tc>
                  <a:txBody>
                    <a:bodyPr/>
                    <a:lstStyle/>
                    <a:p>
                      <a:r>
                        <a:rPr lang="en-IN">
                          <a:effectLst/>
                        </a:rPr>
                        <a:t>765-43-21</a:t>
                      </a:r>
                    </a:p>
                  </a:txBody>
                  <a:tcPr anchor="ctr">
                    <a:lnL>
                      <a:noFill/>
                    </a:lnL>
                    <a:lnR>
                      <a:noFill/>
                    </a:lnR>
                    <a:lnT>
                      <a:noFill/>
                    </a:lnT>
                    <a:lnB>
                      <a:noFill/>
                    </a:lnB>
                    <a:solidFill>
                      <a:srgbClr val="FFFFFF"/>
                    </a:solidFill>
                  </a:tcPr>
                </a:tc>
                <a:tc>
                  <a:txBody>
                    <a:bodyPr/>
                    <a:lstStyle/>
                    <a:p>
                      <a:r>
                        <a:rPr lang="en-IN">
                          <a:effectLst/>
                        </a:rPr>
                        <a:t>000-00-01</a:t>
                      </a:r>
                    </a:p>
                  </a:txBody>
                  <a:tcPr anchor="ctr">
                    <a:lnL>
                      <a:noFill/>
                    </a:lnL>
                    <a:lnR>
                      <a:noFill/>
                    </a:lnR>
                    <a:lnT>
                      <a:noFill/>
                    </a:lnT>
                    <a:lnB>
                      <a:noFill/>
                    </a:lnB>
                    <a:solidFill>
                      <a:srgbClr val="FFFFFF"/>
                    </a:solidFill>
                  </a:tcPr>
                </a:tc>
                <a:tc>
                  <a:txBody>
                    <a:bodyPr/>
                    <a:lstStyle/>
                    <a:p>
                      <a:r>
                        <a:rPr lang="en-IN" dirty="0">
                          <a:effectLst/>
                        </a:rPr>
                        <a:t>etc.</a:t>
                      </a:r>
                    </a:p>
                  </a:txBody>
                  <a:tcPr anchor="ctr">
                    <a:lnL>
                      <a:noFill/>
                    </a:lnL>
                    <a:lnR>
                      <a:noFill/>
                    </a:lnR>
                    <a:lnT>
                      <a:noFill/>
                    </a:lnT>
                    <a:lnB>
                      <a:noFill/>
                    </a:lnB>
                    <a:solidFill>
                      <a:srgbClr val="FFFFFF"/>
                    </a:solidFill>
                  </a:tcPr>
                </a:tc>
                <a:extLst>
                  <a:ext uri="{0D108BD9-81ED-4DB2-BD59-A6C34878D82A}">
                    <a16:rowId xmlns:a16="http://schemas.microsoft.com/office/drawing/2014/main" val="3492292030"/>
                  </a:ext>
                </a:extLst>
              </a:tr>
            </a:tbl>
          </a:graphicData>
        </a:graphic>
      </p:graphicFrame>
      <p:sp>
        <p:nvSpPr>
          <p:cNvPr id="10" name="Rectangle 3">
            <a:extLst>
              <a:ext uri="{FF2B5EF4-FFF2-40B4-BE49-F238E27FC236}">
                <a16:creationId xmlns:a16="http://schemas.microsoft.com/office/drawing/2014/main" id="{E15C93E2-5564-5B6A-1DE3-9903FF40B98B}"/>
              </a:ext>
            </a:extLst>
          </p:cNvPr>
          <p:cNvSpPr>
            <a:spLocks noChangeArrowheads="1"/>
          </p:cNvSpPr>
          <p:nvPr/>
        </p:nvSpPr>
        <p:spPr bwMode="auto">
          <a:xfrm>
            <a:off x="670560" y="4979799"/>
            <a:ext cx="960078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Palatino Linotype" panose="02040502050505030304" pitchFamily="18" charset="0"/>
              </a:rPr>
              <a:t>The terminal digit method of filing is described using six numbers, but as mentioned earlier it can be adapted for using five, seven, or even nine digits. With a five-digit number, one could break it into three sections, as follows: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9339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DB636-9980-CB2B-FAF2-917FE42A2BFD}"/>
              </a:ext>
            </a:extLst>
          </p:cNvPr>
          <p:cNvSpPr>
            <a:spLocks noGrp="1"/>
          </p:cNvSpPr>
          <p:nvPr>
            <p:ph type="title"/>
          </p:nvPr>
        </p:nvSpPr>
        <p:spPr>
          <a:xfrm>
            <a:off x="838200" y="365125"/>
            <a:ext cx="10515600" cy="768731"/>
          </a:xfrm>
        </p:spPr>
        <p:txBody>
          <a:bodyPr>
            <a:normAutofit fontScale="90000"/>
          </a:bodyPr>
          <a:lstStyle/>
          <a:p>
            <a:r>
              <a:rPr lang="en-US" sz="2800" b="0" i="0" dirty="0">
                <a:solidFill>
                  <a:srgbClr val="333333"/>
                </a:solidFill>
                <a:effectLst/>
                <a:highlight>
                  <a:srgbClr val="00FF00"/>
                </a:highlight>
                <a:latin typeface="Ubuntu" panose="020B0504030602030204" pitchFamily="34" charset="0"/>
              </a:rPr>
              <a:t>Advantages of terminal digit filing</a:t>
            </a:r>
            <a:br>
              <a:rPr lang="en-US" sz="2800" b="0" i="0" dirty="0">
                <a:solidFill>
                  <a:srgbClr val="333333"/>
                </a:solidFill>
                <a:effectLst/>
                <a:latin typeface="Ubuntu" panose="020B0504030602030204" pitchFamily="34" charset="0"/>
              </a:rPr>
            </a:br>
            <a:endParaRPr lang="en-US" sz="2800" b="0" i="0" dirty="0">
              <a:solidFill>
                <a:srgbClr val="000000"/>
              </a:solidFill>
              <a:effectLst/>
              <a:latin typeface="Palatino Linotype" panose="02040502050505030304" pitchFamily="18" charset="0"/>
            </a:endParaRPr>
          </a:p>
        </p:txBody>
      </p:sp>
      <p:sp>
        <p:nvSpPr>
          <p:cNvPr id="3" name="Content Placeholder 2">
            <a:extLst>
              <a:ext uri="{FF2B5EF4-FFF2-40B4-BE49-F238E27FC236}">
                <a16:creationId xmlns:a16="http://schemas.microsoft.com/office/drawing/2014/main" id="{834A09CD-2E5F-658E-CA15-97E4C916805B}"/>
              </a:ext>
            </a:extLst>
          </p:cNvPr>
          <p:cNvSpPr>
            <a:spLocks noGrp="1"/>
          </p:cNvSpPr>
          <p:nvPr>
            <p:ph idx="1"/>
          </p:nvPr>
        </p:nvSpPr>
        <p:spPr>
          <a:xfrm>
            <a:off x="716280" y="1253331"/>
            <a:ext cx="5586984" cy="4351338"/>
          </a:xfrm>
        </p:spPr>
        <p:txBody>
          <a:bodyPr>
            <a:normAutofit lnSpcReduction="10000"/>
          </a:bodyPr>
          <a:lstStyle/>
          <a:p>
            <a:r>
              <a:rPr lang="en-US" sz="2000" b="0" i="0" dirty="0">
                <a:solidFill>
                  <a:srgbClr val="000000"/>
                </a:solidFill>
                <a:effectLst/>
              </a:rPr>
              <a:t>Misfiling is considerably reduced with the use of terminal digit filing. Since the staff is concerned with only one pair of digits at a time, the transposition of numbers is less likely to occur.</a:t>
            </a:r>
          </a:p>
          <a:p>
            <a:r>
              <a:rPr lang="en-US" sz="2000" b="0" i="0" dirty="0">
                <a:solidFill>
                  <a:srgbClr val="000000"/>
                </a:solidFill>
                <a:effectLst/>
              </a:rPr>
              <a:t> Even if the tertiary digits are increased to three, e.g., 245-68-90, recalling three digits is easier than recalling seven.</a:t>
            </a:r>
          </a:p>
          <a:p>
            <a:r>
              <a:rPr lang="en-US" sz="2000" b="0" i="0" dirty="0">
                <a:solidFill>
                  <a:srgbClr val="000000"/>
                </a:solidFill>
                <a:effectLst/>
              </a:rPr>
              <a:t>The training period for medical records assistant is usually a little longer for a terminal digit system than for a straight numeric filing, but most of the staff can learn it in a few days time.</a:t>
            </a:r>
          </a:p>
          <a:p>
            <a:r>
              <a:rPr lang="en-US" sz="2000" b="0" i="0" dirty="0">
                <a:solidFill>
                  <a:srgbClr val="000000"/>
                </a:solidFill>
                <a:effectLst/>
              </a:rPr>
              <a:t>Initial setting up of file shelves may be required from the starting stage, which may require more units of shelving since expansion capabilities must be planned for the total medical records area.</a:t>
            </a:r>
            <a:endParaRPr lang="en-IN" sz="2000" dirty="0"/>
          </a:p>
        </p:txBody>
      </p:sp>
      <p:pic>
        <p:nvPicPr>
          <p:cNvPr id="4" name="Picture 3">
            <a:extLst>
              <a:ext uri="{FF2B5EF4-FFF2-40B4-BE49-F238E27FC236}">
                <a16:creationId xmlns:a16="http://schemas.microsoft.com/office/drawing/2014/main" id="{D14D9B5C-DD40-DA24-5A47-D1BB225AE9E3}"/>
              </a:ext>
            </a:extLst>
          </p:cNvPr>
          <p:cNvPicPr>
            <a:picLocks noChangeAspect="1"/>
          </p:cNvPicPr>
          <p:nvPr/>
        </p:nvPicPr>
        <p:blipFill>
          <a:blip r:embed="rId2"/>
          <a:stretch>
            <a:fillRect/>
          </a:stretch>
        </p:blipFill>
        <p:spPr>
          <a:xfrm>
            <a:off x="6851904" y="1133857"/>
            <a:ext cx="4315968" cy="3145536"/>
          </a:xfrm>
          <a:prstGeom prst="rect">
            <a:avLst/>
          </a:prstGeom>
        </p:spPr>
      </p:pic>
    </p:spTree>
    <p:extLst>
      <p:ext uri="{BB962C8B-B14F-4D97-AF65-F5344CB8AC3E}">
        <p14:creationId xmlns:p14="http://schemas.microsoft.com/office/powerpoint/2010/main" val="1742170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197C-47CD-14F9-EB23-81D738B17320}"/>
              </a:ext>
            </a:extLst>
          </p:cNvPr>
          <p:cNvSpPr>
            <a:spLocks noGrp="1"/>
          </p:cNvSpPr>
          <p:nvPr>
            <p:ph type="title"/>
          </p:nvPr>
        </p:nvSpPr>
        <p:spPr>
          <a:xfrm>
            <a:off x="1182624" y="365125"/>
            <a:ext cx="10171176" cy="659003"/>
          </a:xfrm>
        </p:spPr>
        <p:txBody>
          <a:bodyPr>
            <a:normAutofit fontScale="90000"/>
          </a:bodyPr>
          <a:lstStyle/>
          <a:p>
            <a:r>
              <a:rPr lang="en-IN" b="0" i="0" dirty="0">
                <a:solidFill>
                  <a:srgbClr val="333333"/>
                </a:solidFill>
                <a:effectLst/>
                <a:latin typeface="Ubuntu" panose="020B0504030602030204" pitchFamily="34" charset="0"/>
              </a:rPr>
              <a:t>Middle digit filing</a:t>
            </a:r>
            <a:br>
              <a:rPr lang="en-IN" b="0" i="0" dirty="0">
                <a:solidFill>
                  <a:srgbClr val="333333"/>
                </a:solidFill>
                <a:effectLst/>
                <a:latin typeface="Ubuntu" panose="020B0504030602030204" pitchFamily="34" charset="0"/>
              </a:rPr>
            </a:br>
            <a:endParaRPr lang="en-IN" b="1" dirty="0"/>
          </a:p>
        </p:txBody>
      </p:sp>
      <p:graphicFrame>
        <p:nvGraphicFramePr>
          <p:cNvPr id="4" name="Content Placeholder 3">
            <a:extLst>
              <a:ext uri="{FF2B5EF4-FFF2-40B4-BE49-F238E27FC236}">
                <a16:creationId xmlns:a16="http://schemas.microsoft.com/office/drawing/2014/main" id="{9085E7BB-9B9A-EC17-A2B4-5069E6E141C1}"/>
              </a:ext>
            </a:extLst>
          </p:cNvPr>
          <p:cNvGraphicFramePr>
            <a:graphicFrameLocks noGrp="1"/>
          </p:cNvGraphicFramePr>
          <p:nvPr>
            <p:ph idx="1"/>
            <p:extLst>
              <p:ext uri="{D42A27DB-BD31-4B8C-83A1-F6EECF244321}">
                <p14:modId xmlns:p14="http://schemas.microsoft.com/office/powerpoint/2010/main" val="3721019832"/>
              </p:ext>
            </p:extLst>
          </p:nvPr>
        </p:nvGraphicFramePr>
        <p:xfrm>
          <a:off x="657616" y="2846832"/>
          <a:ext cx="10515600" cy="2194560"/>
        </p:xfrm>
        <a:graphic>
          <a:graphicData uri="http://schemas.openxmlformats.org/drawingml/2006/table">
            <a:tbl>
              <a:tblPr/>
              <a:tblGrid>
                <a:gridCol w="2103120">
                  <a:extLst>
                    <a:ext uri="{9D8B030D-6E8A-4147-A177-3AD203B41FA5}">
                      <a16:colId xmlns:a16="http://schemas.microsoft.com/office/drawing/2014/main" val="3592079842"/>
                    </a:ext>
                  </a:extLst>
                </a:gridCol>
                <a:gridCol w="2103120">
                  <a:extLst>
                    <a:ext uri="{9D8B030D-6E8A-4147-A177-3AD203B41FA5}">
                      <a16:colId xmlns:a16="http://schemas.microsoft.com/office/drawing/2014/main" val="2484475771"/>
                    </a:ext>
                  </a:extLst>
                </a:gridCol>
                <a:gridCol w="2103120">
                  <a:extLst>
                    <a:ext uri="{9D8B030D-6E8A-4147-A177-3AD203B41FA5}">
                      <a16:colId xmlns:a16="http://schemas.microsoft.com/office/drawing/2014/main" val="3794697762"/>
                    </a:ext>
                  </a:extLst>
                </a:gridCol>
                <a:gridCol w="2103120">
                  <a:extLst>
                    <a:ext uri="{9D8B030D-6E8A-4147-A177-3AD203B41FA5}">
                      <a16:colId xmlns:a16="http://schemas.microsoft.com/office/drawing/2014/main" val="2286575080"/>
                    </a:ext>
                  </a:extLst>
                </a:gridCol>
                <a:gridCol w="2103120">
                  <a:extLst>
                    <a:ext uri="{9D8B030D-6E8A-4147-A177-3AD203B41FA5}">
                      <a16:colId xmlns:a16="http://schemas.microsoft.com/office/drawing/2014/main" val="3257331504"/>
                    </a:ext>
                  </a:extLst>
                </a:gridCol>
              </a:tblGrid>
              <a:tr h="0">
                <a:tc>
                  <a:txBody>
                    <a:bodyPr/>
                    <a:lstStyle/>
                    <a:p>
                      <a:r>
                        <a:rPr lang="en-IN">
                          <a:effectLst/>
                        </a:rPr>
                        <a:t>76</a:t>
                      </a:r>
                    </a:p>
                  </a:txBody>
                  <a:tcPr anchor="ctr">
                    <a:lnL>
                      <a:noFill/>
                    </a:lnL>
                    <a:lnR>
                      <a:noFill/>
                    </a:lnR>
                    <a:lnT>
                      <a:noFill/>
                    </a:lnT>
                    <a:lnB>
                      <a:noFill/>
                    </a:lnB>
                    <a:solidFill>
                      <a:srgbClr val="FFFFFF"/>
                    </a:solidFill>
                  </a:tcPr>
                </a:tc>
                <a:tc>
                  <a:txBody>
                    <a:bodyPr/>
                    <a:lstStyle/>
                    <a:p>
                      <a:r>
                        <a:rPr lang="en-IN">
                          <a:effectLst/>
                        </a:rPr>
                        <a:t>--</a:t>
                      </a:r>
                    </a:p>
                  </a:txBody>
                  <a:tcPr anchor="ctr">
                    <a:lnL>
                      <a:noFill/>
                    </a:lnL>
                    <a:lnR>
                      <a:noFill/>
                    </a:lnR>
                    <a:lnT>
                      <a:noFill/>
                    </a:lnT>
                    <a:lnB>
                      <a:noFill/>
                    </a:lnB>
                    <a:solidFill>
                      <a:srgbClr val="FFFFFF"/>
                    </a:solidFill>
                  </a:tcPr>
                </a:tc>
                <a:tc>
                  <a:txBody>
                    <a:bodyPr/>
                    <a:lstStyle/>
                    <a:p>
                      <a:r>
                        <a:rPr lang="en-IN">
                          <a:effectLst/>
                        </a:rPr>
                        <a:t>68</a:t>
                      </a:r>
                    </a:p>
                  </a:txBody>
                  <a:tcPr anchor="ctr">
                    <a:lnL>
                      <a:noFill/>
                    </a:lnL>
                    <a:lnR>
                      <a:noFill/>
                    </a:lnR>
                    <a:lnT>
                      <a:noFill/>
                    </a:lnT>
                    <a:lnB>
                      <a:noFill/>
                    </a:lnB>
                    <a:solidFill>
                      <a:srgbClr val="FFFFFF"/>
                    </a:solidFill>
                  </a:tcPr>
                </a:tc>
                <a:tc>
                  <a:txBody>
                    <a:bodyPr/>
                    <a:lstStyle/>
                    <a:p>
                      <a:r>
                        <a:rPr lang="en-IN">
                          <a:effectLst/>
                        </a:rPr>
                        <a:t>--</a:t>
                      </a:r>
                    </a:p>
                  </a:txBody>
                  <a:tcPr anchor="ctr">
                    <a:lnL>
                      <a:noFill/>
                    </a:lnL>
                    <a:lnR>
                      <a:noFill/>
                    </a:lnR>
                    <a:lnT>
                      <a:noFill/>
                    </a:lnT>
                    <a:lnB>
                      <a:noFill/>
                    </a:lnB>
                    <a:solidFill>
                      <a:srgbClr val="FFFFFF"/>
                    </a:solidFill>
                  </a:tcPr>
                </a:tc>
                <a:tc>
                  <a:txBody>
                    <a:bodyPr/>
                    <a:lstStyle/>
                    <a:p>
                      <a:r>
                        <a:rPr lang="en-IN">
                          <a:effectLst/>
                        </a:rPr>
                        <a:t>96</a:t>
                      </a:r>
                    </a:p>
                  </a:txBody>
                  <a:tcPr anchor="ctr">
                    <a:lnL>
                      <a:noFill/>
                    </a:lnL>
                    <a:lnR>
                      <a:noFill/>
                    </a:lnR>
                    <a:lnT>
                      <a:noFill/>
                    </a:lnT>
                    <a:lnB>
                      <a:noFill/>
                    </a:lnB>
                    <a:solidFill>
                      <a:srgbClr val="FFFFFF"/>
                    </a:solidFill>
                  </a:tcPr>
                </a:tc>
                <a:extLst>
                  <a:ext uri="{0D108BD9-81ED-4DB2-BD59-A6C34878D82A}">
                    <a16:rowId xmlns:a16="http://schemas.microsoft.com/office/drawing/2014/main" val="1551748982"/>
                  </a:ext>
                </a:extLst>
              </a:tr>
              <a:tr h="0">
                <a:tc>
                  <a:txBody>
                    <a:bodyPr/>
                    <a:lstStyle/>
                    <a:p>
                      <a:r>
                        <a:rPr lang="en-IN">
                          <a:effectLst/>
                        </a:rPr>
                        <a:t>Secondary</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tc>
                  <a:txBody>
                    <a:bodyPr/>
                    <a:lstStyle/>
                    <a:p>
                      <a:r>
                        <a:rPr lang="en-IN">
                          <a:effectLst/>
                        </a:rPr>
                        <a:t>primary</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tc>
                  <a:txBody>
                    <a:bodyPr/>
                    <a:lstStyle/>
                    <a:p>
                      <a:r>
                        <a:rPr lang="en-IN">
                          <a:effectLst/>
                        </a:rPr>
                        <a:t>tertiary</a:t>
                      </a:r>
                    </a:p>
                  </a:txBody>
                  <a:tcPr anchor="ctr">
                    <a:lnL>
                      <a:noFill/>
                    </a:lnL>
                    <a:lnR>
                      <a:noFill/>
                    </a:lnR>
                    <a:lnT>
                      <a:noFill/>
                    </a:lnT>
                    <a:lnB>
                      <a:noFill/>
                    </a:lnB>
                    <a:solidFill>
                      <a:srgbClr val="FFFFFF"/>
                    </a:solidFill>
                  </a:tcPr>
                </a:tc>
                <a:extLst>
                  <a:ext uri="{0D108BD9-81ED-4DB2-BD59-A6C34878D82A}">
                    <a16:rowId xmlns:a16="http://schemas.microsoft.com/office/drawing/2014/main" val="3200629183"/>
                  </a:ext>
                </a:extLst>
              </a:tr>
              <a:tr h="0">
                <a:tc gridSpan="5">
                  <a:txBody>
                    <a:bodyPr/>
                    <a:lstStyle/>
                    <a:p>
                      <a:r>
                        <a:rPr lang="en-US" dirty="0">
                          <a:effectLst/>
                        </a:rPr>
                        <a:t>Shown below is a sample sequence in middle digit file</a:t>
                      </a:r>
                    </a:p>
                  </a:txBody>
                  <a:tcPr anchor="ctr">
                    <a:lnL>
                      <a:noFill/>
                    </a:lnL>
                    <a:lnR>
                      <a:noFill/>
                    </a:lnR>
                    <a:lnT>
                      <a:noFill/>
                    </a:lnT>
                    <a:lnB>
                      <a:noFill/>
                    </a:lnB>
                    <a:solidFill>
                      <a:srgbClr val="FFFFFF"/>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68094447"/>
                  </a:ext>
                </a:extLst>
              </a:tr>
              <a:tr h="0">
                <a:tc>
                  <a:txBody>
                    <a:bodyPr/>
                    <a:lstStyle/>
                    <a:p>
                      <a:r>
                        <a:rPr lang="en-IN">
                          <a:effectLst/>
                        </a:rPr>
                        <a:t>76-68-96</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tc>
                  <a:txBody>
                    <a:bodyPr/>
                    <a:lstStyle/>
                    <a:p>
                      <a:r>
                        <a:rPr lang="en-IN">
                          <a:effectLst/>
                        </a:rPr>
                        <a:t>99-68-96</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extLst>
                  <a:ext uri="{0D108BD9-81ED-4DB2-BD59-A6C34878D82A}">
                    <a16:rowId xmlns:a16="http://schemas.microsoft.com/office/drawing/2014/main" val="3684484697"/>
                  </a:ext>
                </a:extLst>
              </a:tr>
              <a:tr h="0">
                <a:tc>
                  <a:txBody>
                    <a:bodyPr/>
                    <a:lstStyle/>
                    <a:p>
                      <a:r>
                        <a:rPr lang="en-IN">
                          <a:effectLst/>
                        </a:rPr>
                        <a:t>76-68-97</a:t>
                      </a:r>
                    </a:p>
                  </a:txBody>
                  <a:tcPr anchor="ctr">
                    <a:lnL>
                      <a:noFill/>
                    </a:lnL>
                    <a:lnR>
                      <a:noFill/>
                    </a:lnR>
                    <a:lnT>
                      <a:noFill/>
                    </a:lnT>
                    <a:lnB>
                      <a:noFill/>
                    </a:lnB>
                    <a:solidFill>
                      <a:srgbClr val="FFFFFF"/>
                    </a:solidFill>
                  </a:tcPr>
                </a:tc>
                <a:tc>
                  <a:txBody>
                    <a:bodyPr/>
                    <a:lstStyle/>
                    <a:p>
                      <a:r>
                        <a:rPr lang="en-IN" dirty="0">
                          <a:effectLst/>
                        </a:rPr>
                        <a:t> </a:t>
                      </a:r>
                    </a:p>
                  </a:txBody>
                  <a:tcPr anchor="ctr">
                    <a:lnL>
                      <a:noFill/>
                    </a:lnL>
                    <a:lnR>
                      <a:noFill/>
                    </a:lnR>
                    <a:lnT>
                      <a:noFill/>
                    </a:lnT>
                    <a:lnB>
                      <a:noFill/>
                    </a:lnB>
                    <a:solidFill>
                      <a:srgbClr val="FFFFFF"/>
                    </a:solidFill>
                  </a:tcPr>
                </a:tc>
                <a:tc>
                  <a:txBody>
                    <a:bodyPr/>
                    <a:lstStyle/>
                    <a:p>
                      <a:r>
                        <a:rPr lang="en-IN">
                          <a:effectLst/>
                        </a:rPr>
                        <a:t>99-68-97</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extLst>
                  <a:ext uri="{0D108BD9-81ED-4DB2-BD59-A6C34878D82A}">
                    <a16:rowId xmlns:a16="http://schemas.microsoft.com/office/drawing/2014/main" val="885784828"/>
                  </a:ext>
                </a:extLst>
              </a:tr>
              <a:tr h="0">
                <a:tc>
                  <a:txBody>
                    <a:bodyPr/>
                    <a:lstStyle/>
                    <a:p>
                      <a:r>
                        <a:rPr lang="en-IN">
                          <a:effectLst/>
                        </a:rPr>
                        <a:t>76-68-98</a:t>
                      </a:r>
                    </a:p>
                  </a:txBody>
                  <a:tcPr anchor="ctr">
                    <a:lnL>
                      <a:noFill/>
                    </a:lnL>
                    <a:lnR>
                      <a:noFill/>
                    </a:lnR>
                    <a:lnT>
                      <a:noFill/>
                    </a:lnT>
                    <a:lnB>
                      <a:noFill/>
                    </a:lnB>
                    <a:solidFill>
                      <a:srgbClr val="FFFFFF"/>
                    </a:solidFill>
                  </a:tcPr>
                </a:tc>
                <a:tc>
                  <a:txBody>
                    <a:bodyPr/>
                    <a:lstStyle/>
                    <a:p>
                      <a:r>
                        <a:rPr lang="en-IN">
                          <a:effectLst/>
                        </a:rPr>
                        <a:t> </a:t>
                      </a:r>
                    </a:p>
                  </a:txBody>
                  <a:tcPr anchor="ctr">
                    <a:lnL>
                      <a:noFill/>
                    </a:lnL>
                    <a:lnR>
                      <a:noFill/>
                    </a:lnR>
                    <a:lnT>
                      <a:noFill/>
                    </a:lnT>
                    <a:lnB>
                      <a:noFill/>
                    </a:lnB>
                    <a:solidFill>
                      <a:srgbClr val="FFFFFF"/>
                    </a:solidFill>
                  </a:tcPr>
                </a:tc>
                <a:tc>
                  <a:txBody>
                    <a:bodyPr/>
                    <a:lstStyle/>
                    <a:p>
                      <a:r>
                        <a:rPr lang="en-IN">
                          <a:effectLst/>
                        </a:rPr>
                        <a:t>99-68-98</a:t>
                      </a:r>
                    </a:p>
                  </a:txBody>
                  <a:tcPr anchor="ctr">
                    <a:lnL>
                      <a:noFill/>
                    </a:lnL>
                    <a:lnR>
                      <a:noFill/>
                    </a:lnR>
                    <a:lnT>
                      <a:noFill/>
                    </a:lnT>
                    <a:lnB>
                      <a:noFill/>
                    </a:lnB>
                    <a:solidFill>
                      <a:srgbClr val="FFFFFF"/>
                    </a:solidFill>
                  </a:tcPr>
                </a:tc>
                <a:tc>
                  <a:txBody>
                    <a:bodyPr/>
                    <a:lstStyle/>
                    <a:p>
                      <a:endParaRPr lang="en-IN" dirty="0"/>
                    </a:p>
                  </a:txBody>
                  <a:tcPr>
                    <a:lnL>
                      <a:noFill/>
                    </a:lnL>
                    <a:lnT>
                      <a:noFill/>
                    </a:lnT>
                  </a:tcPr>
                </a:tc>
                <a:tc>
                  <a:txBody>
                    <a:bodyPr/>
                    <a:lstStyle/>
                    <a:p>
                      <a:endParaRPr lang="en-IN" dirty="0"/>
                    </a:p>
                  </a:txBody>
                  <a:tcPr>
                    <a:lnT>
                      <a:noFill/>
                    </a:lnT>
                  </a:tcPr>
                </a:tc>
                <a:extLst>
                  <a:ext uri="{0D108BD9-81ED-4DB2-BD59-A6C34878D82A}">
                    <a16:rowId xmlns:a16="http://schemas.microsoft.com/office/drawing/2014/main" val="4064824175"/>
                  </a:ext>
                </a:extLst>
              </a:tr>
            </a:tbl>
          </a:graphicData>
        </a:graphic>
      </p:graphicFrame>
      <p:sp>
        <p:nvSpPr>
          <p:cNvPr id="5" name="Rectangle 1">
            <a:extLst>
              <a:ext uri="{FF2B5EF4-FFF2-40B4-BE49-F238E27FC236}">
                <a16:creationId xmlns:a16="http://schemas.microsoft.com/office/drawing/2014/main" id="{60FF97F8-2036-CF9E-A5F6-0BCB9D503E21}"/>
              </a:ext>
            </a:extLst>
          </p:cNvPr>
          <p:cNvSpPr>
            <a:spLocks noChangeArrowheads="1"/>
          </p:cNvSpPr>
          <p:nvPr/>
        </p:nvSpPr>
        <p:spPr bwMode="auto">
          <a:xfrm>
            <a:off x="657616" y="1387863"/>
            <a:ext cx="1051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Palatino Linotype" panose="02040502050505030304" pitchFamily="18" charset="0"/>
              </a:rPr>
              <a:t>In this method the staff files according to pairs of digits, as in terminal digit filing. On the other hand, the primary, secondary, and tertiary digits are in different positions. The middle pairs of digits in a six-digit number are the primary digits, the digits on the left are the secondary digits, and the digits on the right are the tertiary digits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4CD6132A-25E1-0686-5A6F-D984CF38EA83}"/>
              </a:ext>
            </a:extLst>
          </p:cNvPr>
          <p:cNvSpPr txBox="1"/>
          <p:nvPr/>
        </p:nvSpPr>
        <p:spPr>
          <a:xfrm>
            <a:off x="657616" y="5164943"/>
            <a:ext cx="9973808" cy="646331"/>
          </a:xfrm>
          <a:prstGeom prst="rect">
            <a:avLst/>
          </a:prstGeom>
          <a:noFill/>
        </p:spPr>
        <p:txBody>
          <a:bodyPr wrap="square">
            <a:spAutoFit/>
          </a:bodyPr>
          <a:lstStyle/>
          <a:p>
            <a:r>
              <a:rPr lang="en-US" b="0" i="0" dirty="0">
                <a:solidFill>
                  <a:srgbClr val="000000"/>
                </a:solidFill>
                <a:effectLst/>
                <a:latin typeface="Palatino Linotype" panose="02040502050505030304" pitchFamily="18" charset="0"/>
              </a:rPr>
              <a:t>From the example given, the staff can see that blocks of 100 records (e.g., 76-78-00 through 76-78-99) are in straight numerical order.</a:t>
            </a:r>
            <a:endParaRPr lang="en-IN" dirty="0"/>
          </a:p>
        </p:txBody>
      </p:sp>
    </p:spTree>
    <p:extLst>
      <p:ext uri="{BB962C8B-B14F-4D97-AF65-F5344CB8AC3E}">
        <p14:creationId xmlns:p14="http://schemas.microsoft.com/office/powerpoint/2010/main" val="3478572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88B6-1A59-C74F-F30D-99548695D392}"/>
              </a:ext>
            </a:extLst>
          </p:cNvPr>
          <p:cNvSpPr>
            <a:spLocks noGrp="1"/>
          </p:cNvSpPr>
          <p:nvPr>
            <p:ph type="title"/>
          </p:nvPr>
        </p:nvSpPr>
        <p:spPr/>
        <p:txBody>
          <a:bodyPr/>
          <a:lstStyle/>
          <a:p>
            <a:r>
              <a:rPr lang="en-IN" b="0" i="0" dirty="0">
                <a:solidFill>
                  <a:srgbClr val="333333"/>
                </a:solidFill>
                <a:effectLst/>
                <a:latin typeface="Ubuntu" panose="020B0504030602030204" pitchFamily="34" charset="0"/>
              </a:rPr>
              <a:t>This has several advantages:</a:t>
            </a:r>
            <a:br>
              <a:rPr lang="en-IN" b="0" i="0" dirty="0">
                <a:solidFill>
                  <a:srgbClr val="333333"/>
                </a:solidFill>
                <a:effectLst/>
                <a:latin typeface="Ubuntu" panose="020B0504030602030204" pitchFamily="34" charset="0"/>
              </a:rPr>
            </a:br>
            <a:endParaRPr lang="en-IN" dirty="0"/>
          </a:p>
        </p:txBody>
      </p:sp>
      <p:sp>
        <p:nvSpPr>
          <p:cNvPr id="3" name="Content Placeholder 2">
            <a:extLst>
              <a:ext uri="{FF2B5EF4-FFF2-40B4-BE49-F238E27FC236}">
                <a16:creationId xmlns:a16="http://schemas.microsoft.com/office/drawing/2014/main" id="{648CEE65-C6B1-09C9-BD9F-C19AEF5E40AE}"/>
              </a:ext>
            </a:extLst>
          </p:cNvPr>
          <p:cNvSpPr>
            <a:spLocks noGrp="1"/>
          </p:cNvSpPr>
          <p:nvPr>
            <p:ph idx="1"/>
          </p:nvPr>
        </p:nvSpPr>
        <p:spPr>
          <a:xfrm>
            <a:off x="838200" y="1499616"/>
            <a:ext cx="6720840" cy="4677347"/>
          </a:xfrm>
        </p:spPr>
        <p:txBody>
          <a:bodyPr>
            <a:normAutofit fontScale="70000" lnSpcReduction="20000"/>
          </a:bodyPr>
          <a:lstStyle/>
          <a:p>
            <a:pPr algn="l">
              <a:buFont typeface="Arial" panose="020B0604020202020204" pitchFamily="34" charset="0"/>
              <a:buChar char="•"/>
            </a:pPr>
            <a:r>
              <a:rPr lang="en-US" b="0" i="0" dirty="0">
                <a:solidFill>
                  <a:srgbClr val="000000"/>
                </a:solidFill>
                <a:effectLst/>
                <a:latin typeface="Palatino Linotype" panose="02040502050505030304" pitchFamily="18" charset="0"/>
              </a:rPr>
              <a:t>First, it is simple to pull out 100 consecutively numbered records for research purposes.</a:t>
            </a:r>
          </a:p>
          <a:p>
            <a:pPr algn="l">
              <a:buFont typeface="Arial" panose="020B0604020202020204" pitchFamily="34" charset="0"/>
              <a:buChar char="•"/>
            </a:pPr>
            <a:r>
              <a:rPr lang="en-US" b="0" i="0" dirty="0">
                <a:solidFill>
                  <a:srgbClr val="000000"/>
                </a:solidFill>
                <a:effectLst/>
                <a:latin typeface="Palatino Linotype" panose="02040502050505030304" pitchFamily="18" charset="0"/>
              </a:rPr>
              <a:t>Second, conversion from a straight numerical system to a middle digit system is much simpler than converting to a terminal digit system.</a:t>
            </a:r>
          </a:p>
          <a:p>
            <a:pPr algn="l">
              <a:buFont typeface="Arial" panose="020B0604020202020204" pitchFamily="34" charset="0"/>
              <a:buChar char="•"/>
            </a:pPr>
            <a:r>
              <a:rPr lang="en-US" b="0" i="0" dirty="0">
                <a:solidFill>
                  <a:srgbClr val="000000"/>
                </a:solidFill>
                <a:effectLst/>
                <a:latin typeface="Palatino Linotype" panose="02040502050505030304" pitchFamily="18" charset="0"/>
              </a:rPr>
              <a:t>Third, blocks of 100 records pulled from a straight numerical file are in exact order for middle digit filing.</a:t>
            </a:r>
          </a:p>
          <a:p>
            <a:pPr algn="l"/>
            <a:r>
              <a:rPr lang="en-US" b="0" i="0" dirty="0">
                <a:solidFill>
                  <a:srgbClr val="000000"/>
                </a:solidFill>
                <a:effectLst/>
                <a:latin typeface="Palatino Linotype" panose="02040502050505030304" pitchFamily="18" charset="0"/>
              </a:rPr>
              <a:t>Middle digit filing provides a more even distribution of records that does straight numerical filing, although it does not equal the balance achieved by a terminal digit filing system.</a:t>
            </a:r>
          </a:p>
          <a:p>
            <a:pPr algn="l"/>
            <a:r>
              <a:rPr lang="en-US" b="0" i="0" dirty="0">
                <a:solidFill>
                  <a:srgbClr val="000000"/>
                </a:solidFill>
                <a:effectLst/>
                <a:latin typeface="Palatino Linotype" panose="02040502050505030304" pitchFamily="18" charset="0"/>
              </a:rPr>
              <a:t>As in terminal digit filing, the staff is filing by pairs of digits rather than by six or seven digits; therefore wrong filing is reduced.</a:t>
            </a:r>
          </a:p>
          <a:p>
            <a:pPr algn="l"/>
            <a:r>
              <a:rPr lang="en-US" b="0" i="0" dirty="0">
                <a:solidFill>
                  <a:srgbClr val="000000"/>
                </a:solidFill>
                <a:effectLst/>
                <a:latin typeface="Palatino Linotype" panose="02040502050505030304" pitchFamily="18" charset="0"/>
              </a:rPr>
              <a:t>There are certain disadvantages to middle digit filing. More training may be necessary than the straight numeric or terminal digit filing.</a:t>
            </a:r>
          </a:p>
          <a:p>
            <a:endParaRPr lang="en-IN" dirty="0"/>
          </a:p>
        </p:txBody>
      </p:sp>
      <p:pic>
        <p:nvPicPr>
          <p:cNvPr id="4" name="Picture 3">
            <a:extLst>
              <a:ext uri="{FF2B5EF4-FFF2-40B4-BE49-F238E27FC236}">
                <a16:creationId xmlns:a16="http://schemas.microsoft.com/office/drawing/2014/main" id="{B627128F-1DF7-CEE0-9F04-27E192558237}"/>
              </a:ext>
            </a:extLst>
          </p:cNvPr>
          <p:cNvPicPr>
            <a:picLocks noChangeAspect="1"/>
          </p:cNvPicPr>
          <p:nvPr/>
        </p:nvPicPr>
        <p:blipFill>
          <a:blip r:embed="rId2"/>
          <a:stretch>
            <a:fillRect/>
          </a:stretch>
        </p:blipFill>
        <p:spPr>
          <a:xfrm>
            <a:off x="7931848" y="914400"/>
            <a:ext cx="3421952" cy="1856581"/>
          </a:xfrm>
          <a:prstGeom prst="rect">
            <a:avLst/>
          </a:prstGeom>
        </p:spPr>
      </p:pic>
      <p:pic>
        <p:nvPicPr>
          <p:cNvPr id="5" name="Picture 4">
            <a:extLst>
              <a:ext uri="{FF2B5EF4-FFF2-40B4-BE49-F238E27FC236}">
                <a16:creationId xmlns:a16="http://schemas.microsoft.com/office/drawing/2014/main" id="{2E8DAF6E-C642-977A-0DC7-6AD9983B9DA1}"/>
              </a:ext>
            </a:extLst>
          </p:cNvPr>
          <p:cNvPicPr>
            <a:picLocks noChangeAspect="1"/>
          </p:cNvPicPr>
          <p:nvPr/>
        </p:nvPicPr>
        <p:blipFill>
          <a:blip r:embed="rId3"/>
          <a:stretch>
            <a:fillRect/>
          </a:stretch>
        </p:blipFill>
        <p:spPr>
          <a:xfrm>
            <a:off x="8034528" y="3082480"/>
            <a:ext cx="3319272" cy="3184208"/>
          </a:xfrm>
          <a:prstGeom prst="rect">
            <a:avLst/>
          </a:prstGeom>
        </p:spPr>
      </p:pic>
    </p:spTree>
    <p:extLst>
      <p:ext uri="{BB962C8B-B14F-4D97-AF65-F5344CB8AC3E}">
        <p14:creationId xmlns:p14="http://schemas.microsoft.com/office/powerpoint/2010/main" val="283146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F5E57EA-D8E0-F3F9-BB31-10E414963CEB}"/>
              </a:ext>
            </a:extLst>
          </p:cNvPr>
          <p:cNvPicPr>
            <a:picLocks noGrp="1" noChangeAspect="1"/>
          </p:cNvPicPr>
          <p:nvPr>
            <p:ph type="pic" idx="1"/>
          </p:nvPr>
        </p:nvPicPr>
        <p:blipFill>
          <a:blip r:embed="rId2"/>
          <a:srcRect l="2508" r="2508"/>
          <a:stretch>
            <a:fillRect/>
          </a:stretch>
        </p:blipFill>
        <p:spPr>
          <a:prstGeom prst="rect">
            <a:avLst/>
          </a:prstGeom>
        </p:spPr>
      </p:pic>
      <p:sp>
        <p:nvSpPr>
          <p:cNvPr id="6" name="Text Placeholder 5">
            <a:extLst>
              <a:ext uri="{FF2B5EF4-FFF2-40B4-BE49-F238E27FC236}">
                <a16:creationId xmlns:a16="http://schemas.microsoft.com/office/drawing/2014/main" id="{93195902-DC68-08BA-C7CE-965F19C9851E}"/>
              </a:ext>
            </a:extLst>
          </p:cNvPr>
          <p:cNvSpPr>
            <a:spLocks noGrp="1"/>
          </p:cNvSpPr>
          <p:nvPr>
            <p:ph type="body" sz="half" idx="2"/>
          </p:nvPr>
        </p:nvSpPr>
        <p:spPr/>
        <p:txBody>
          <a:bodyPr>
            <a:normAutofit/>
          </a:bodyPr>
          <a:lstStyle/>
          <a:p>
            <a:r>
              <a:rPr lang="en-IN" sz="3600" dirty="0">
                <a:latin typeface="Bahnschrift SemiBold" panose="020B0502040204020203" pitchFamily="34" charset="0"/>
              </a:rPr>
              <a:t>THANK YOU </a:t>
            </a:r>
          </a:p>
        </p:txBody>
      </p:sp>
    </p:spTree>
    <p:extLst>
      <p:ext uri="{BB962C8B-B14F-4D97-AF65-F5344CB8AC3E}">
        <p14:creationId xmlns:p14="http://schemas.microsoft.com/office/powerpoint/2010/main" val="2981517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639</TotalTime>
  <Words>1939</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Arial</vt:lpstr>
      <vt:lpstr>Bahnschrift SemiBold</vt:lpstr>
      <vt:lpstr>Calibri</vt:lpstr>
      <vt:lpstr>Calibri Light</vt:lpstr>
      <vt:lpstr>inherit</vt:lpstr>
      <vt:lpstr>Libre Franklin</vt:lpstr>
      <vt:lpstr>Palatino Linotype</vt:lpstr>
      <vt:lpstr>Ubuntu</vt:lpstr>
      <vt:lpstr>Office Theme</vt:lpstr>
      <vt:lpstr>INDEXING&amp; FILING OF MEDICAL RECORDS </vt:lpstr>
      <vt:lpstr>What is Indexing and its importance ?</vt:lpstr>
      <vt:lpstr>PowerPoint Presentation</vt:lpstr>
      <vt:lpstr>PowerPoint Presentation</vt:lpstr>
      <vt:lpstr>PowerPoint Presentation</vt:lpstr>
      <vt:lpstr>PowerPoint Presentation</vt:lpstr>
      <vt:lpstr>FILING IN MEDICAL RECORD</vt:lpstr>
      <vt:lpstr>Medical Records Numbering System </vt:lpstr>
      <vt:lpstr>Unit numbering </vt:lpstr>
      <vt:lpstr>Serial unit numbering </vt:lpstr>
      <vt:lpstr>PowerPoint Presentation</vt:lpstr>
      <vt:lpstr>Medical Records Filing Systems </vt:lpstr>
      <vt:lpstr>Terminal digit filing </vt:lpstr>
      <vt:lpstr>Advantages of terminal digit filing </vt:lpstr>
      <vt:lpstr>Middle digit filing </vt:lpstr>
      <vt:lpstr>This has several advantages: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INDEXING IN MEDICAL RECORDS </dc:title>
  <dc:creator>debjani mukherjee</dc:creator>
  <cp:lastModifiedBy>debjani mukherjee</cp:lastModifiedBy>
  <cp:revision>4</cp:revision>
  <dcterms:created xsi:type="dcterms:W3CDTF">2022-08-01T15:51:42Z</dcterms:created>
  <dcterms:modified xsi:type="dcterms:W3CDTF">2023-08-07T08:51:03Z</dcterms:modified>
</cp:coreProperties>
</file>