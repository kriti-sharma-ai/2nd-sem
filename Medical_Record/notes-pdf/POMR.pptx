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60" r:id="rId5"/>
    <p:sldId id="261" r:id="rId6"/>
    <p:sldId id="262" r:id="rId7"/>
    <p:sldId id="263" r:id="rId8"/>
    <p:sldId id="264" r:id="rId9"/>
    <p:sldId id="265" r:id="rId10"/>
    <p:sldId id="266" r:id="rId11"/>
    <p:sldId id="259"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516" y="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51D7DD7-3437-4BF6-BD9C-A8EEDEF71528}" type="datetimeFigureOut">
              <a:rPr lang="en-IN" smtClean="0"/>
              <a:t>28-07-2023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AF8B4-27B6-4042-B2E5-6D4DB8710761}"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90093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1D7DD7-3437-4BF6-BD9C-A8EEDEF71528}" type="datetimeFigureOut">
              <a:rPr lang="en-IN" smtClean="0"/>
              <a:t>28-07-2023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AF8B4-27B6-4042-B2E5-6D4DB8710761}" type="slidenum">
              <a:rPr lang="en-IN" smtClean="0"/>
              <a:t>‹#›</a:t>
            </a:fld>
            <a:endParaRPr lang="en-IN"/>
          </a:p>
        </p:txBody>
      </p:sp>
    </p:spTree>
    <p:extLst>
      <p:ext uri="{BB962C8B-B14F-4D97-AF65-F5344CB8AC3E}">
        <p14:creationId xmlns:p14="http://schemas.microsoft.com/office/powerpoint/2010/main" val="234264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1D7DD7-3437-4BF6-BD9C-A8EEDEF71528}" type="datetimeFigureOut">
              <a:rPr lang="en-IN" smtClean="0"/>
              <a:t>28-07-2023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AF8B4-27B6-4042-B2E5-6D4DB8710761}"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4896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1D7DD7-3437-4BF6-BD9C-A8EEDEF71528}" type="datetimeFigureOut">
              <a:rPr lang="en-IN" smtClean="0"/>
              <a:t>28-07-2023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FAF8B4-27B6-4042-B2E5-6D4DB8710761}" type="slidenum">
              <a:rPr lang="en-IN" smtClean="0"/>
              <a:t>‹#›</a:t>
            </a:fld>
            <a:endParaRPr lang="en-IN"/>
          </a:p>
        </p:txBody>
      </p:sp>
    </p:spTree>
    <p:extLst>
      <p:ext uri="{BB962C8B-B14F-4D97-AF65-F5344CB8AC3E}">
        <p14:creationId xmlns:p14="http://schemas.microsoft.com/office/powerpoint/2010/main" val="1065522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1D7DD7-3437-4BF6-BD9C-A8EEDEF71528}" type="datetimeFigureOut">
              <a:rPr lang="en-IN" smtClean="0"/>
              <a:t>28-07-2023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8FAF8B4-27B6-4042-B2E5-6D4DB8710761}" type="slidenum">
              <a:rPr lang="en-IN" smtClean="0"/>
              <a:t>‹#›</a:t>
            </a:fld>
            <a:endParaRPr lang="en-IN"/>
          </a:p>
        </p:txBody>
      </p:sp>
    </p:spTree>
    <p:extLst>
      <p:ext uri="{BB962C8B-B14F-4D97-AF65-F5344CB8AC3E}">
        <p14:creationId xmlns:p14="http://schemas.microsoft.com/office/powerpoint/2010/main" val="39688705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1D7DD7-3437-4BF6-BD9C-A8EEDEF71528}" type="datetimeFigureOut">
              <a:rPr lang="en-IN" smtClean="0"/>
              <a:t>28-07-2023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8FAF8B4-27B6-4042-B2E5-6D4DB8710761}" type="slidenum">
              <a:rPr lang="en-IN" smtClean="0"/>
              <a:t>‹#›</a:t>
            </a:fld>
            <a:endParaRPr lang="en-IN"/>
          </a:p>
        </p:txBody>
      </p:sp>
    </p:spTree>
    <p:extLst>
      <p:ext uri="{BB962C8B-B14F-4D97-AF65-F5344CB8AC3E}">
        <p14:creationId xmlns:p14="http://schemas.microsoft.com/office/powerpoint/2010/main" val="767493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1D7DD7-3437-4BF6-BD9C-A8EEDEF71528}" type="datetimeFigureOut">
              <a:rPr lang="en-IN" smtClean="0"/>
              <a:t>28-07-2023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8FAF8B4-27B6-4042-B2E5-6D4DB8710761}" type="slidenum">
              <a:rPr lang="en-IN" smtClean="0"/>
              <a:t>‹#›</a:t>
            </a:fld>
            <a:endParaRPr lang="en-IN"/>
          </a:p>
        </p:txBody>
      </p:sp>
    </p:spTree>
    <p:extLst>
      <p:ext uri="{BB962C8B-B14F-4D97-AF65-F5344CB8AC3E}">
        <p14:creationId xmlns:p14="http://schemas.microsoft.com/office/powerpoint/2010/main" val="342680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1D7DD7-3437-4BF6-BD9C-A8EEDEF71528}" type="datetimeFigureOut">
              <a:rPr lang="en-IN" smtClean="0"/>
              <a:t>28-07-2023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FAF8B4-27B6-4042-B2E5-6D4DB8710761}" type="slidenum">
              <a:rPr lang="en-IN" smtClean="0"/>
              <a:t>‹#›</a:t>
            </a:fld>
            <a:endParaRPr lang="en-IN"/>
          </a:p>
        </p:txBody>
      </p:sp>
    </p:spTree>
    <p:extLst>
      <p:ext uri="{BB962C8B-B14F-4D97-AF65-F5344CB8AC3E}">
        <p14:creationId xmlns:p14="http://schemas.microsoft.com/office/powerpoint/2010/main" val="2227133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51D7DD7-3437-4BF6-BD9C-A8EEDEF71528}" type="datetimeFigureOut">
              <a:rPr lang="en-IN" smtClean="0"/>
              <a:t>28-07-2023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8FAF8B4-27B6-4042-B2E5-6D4DB8710761}"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3535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1D7DD7-3437-4BF6-BD9C-A8EEDEF71528}" type="datetimeFigureOut">
              <a:rPr lang="en-IN" smtClean="0"/>
              <a:t>28-07-2023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AF8B4-27B6-4042-B2E5-6D4DB8710761}" type="slidenum">
              <a:rPr lang="en-IN" smtClean="0"/>
              <a:t>‹#›</a:t>
            </a:fld>
            <a:endParaRPr lang="en-IN"/>
          </a:p>
        </p:txBody>
      </p:sp>
    </p:spTree>
    <p:extLst>
      <p:ext uri="{BB962C8B-B14F-4D97-AF65-F5344CB8AC3E}">
        <p14:creationId xmlns:p14="http://schemas.microsoft.com/office/powerpoint/2010/main" val="4235105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1D7DD7-3437-4BF6-BD9C-A8EEDEF71528}" type="datetimeFigureOut">
              <a:rPr lang="en-IN" smtClean="0"/>
              <a:t>28-07-2023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8FAF8B4-27B6-4042-B2E5-6D4DB8710761}"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5661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51D7DD7-3437-4BF6-BD9C-A8EEDEF71528}" type="datetimeFigureOut">
              <a:rPr lang="en-IN" smtClean="0"/>
              <a:t>28-07-2023</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8FAF8B4-27B6-4042-B2E5-6D4DB8710761}"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396653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E8D1E-A21B-F5B1-91D8-D785D68163CE}"/>
              </a:ext>
            </a:extLst>
          </p:cNvPr>
          <p:cNvSpPr>
            <a:spLocks noGrp="1"/>
          </p:cNvSpPr>
          <p:nvPr>
            <p:ph type="ctrTitle"/>
          </p:nvPr>
        </p:nvSpPr>
        <p:spPr/>
        <p:txBody>
          <a:bodyPr>
            <a:normAutofit fontScale="90000"/>
          </a:bodyPr>
          <a:lstStyle/>
          <a:p>
            <a:r>
              <a:rPr lang="en-IN" b="0" i="0" dirty="0">
                <a:solidFill>
                  <a:srgbClr val="2D3238"/>
                </a:solidFill>
                <a:effectLst/>
                <a:latin typeface="f37-ginger-light"/>
              </a:rPr>
              <a:t>Problem Oriented Medical Record</a:t>
            </a:r>
            <a:br>
              <a:rPr lang="en-IN" b="0" i="0" dirty="0">
                <a:solidFill>
                  <a:srgbClr val="2D3238"/>
                </a:solidFill>
                <a:effectLst/>
                <a:latin typeface="f37-ginger-light"/>
              </a:rPr>
            </a:br>
            <a:endParaRPr lang="en-IN" dirty="0"/>
          </a:p>
        </p:txBody>
      </p:sp>
      <p:sp>
        <p:nvSpPr>
          <p:cNvPr id="3" name="Subtitle 2">
            <a:extLst>
              <a:ext uri="{FF2B5EF4-FFF2-40B4-BE49-F238E27FC236}">
                <a16:creationId xmlns:a16="http://schemas.microsoft.com/office/drawing/2014/main" id="{C954F9CF-3A2E-F80C-B461-FB88633B7720}"/>
              </a:ext>
            </a:extLst>
          </p:cNvPr>
          <p:cNvSpPr>
            <a:spLocks noGrp="1"/>
          </p:cNvSpPr>
          <p:nvPr>
            <p:ph type="subTitle" idx="1"/>
          </p:nvPr>
        </p:nvSpPr>
        <p:spPr/>
        <p:txBody>
          <a:bodyPr/>
          <a:lstStyle/>
          <a:p>
            <a:r>
              <a:rPr lang="en-IN" dirty="0"/>
              <a:t>Debjani Mukherjee</a:t>
            </a:r>
          </a:p>
        </p:txBody>
      </p:sp>
    </p:spTree>
    <p:extLst>
      <p:ext uri="{BB962C8B-B14F-4D97-AF65-F5344CB8AC3E}">
        <p14:creationId xmlns:p14="http://schemas.microsoft.com/office/powerpoint/2010/main" val="337751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35FD0-1276-42DA-E9CD-F5ACBA575EA7}"/>
              </a:ext>
            </a:extLst>
          </p:cNvPr>
          <p:cNvSpPr>
            <a:spLocks noGrp="1"/>
          </p:cNvSpPr>
          <p:nvPr>
            <p:ph type="title"/>
          </p:nvPr>
        </p:nvSpPr>
        <p:spPr/>
        <p:txBody>
          <a:bodyPr/>
          <a:lstStyle/>
          <a:p>
            <a:r>
              <a:rPr lang="en-IN" dirty="0"/>
              <a:t>What is POMR</a:t>
            </a:r>
          </a:p>
        </p:txBody>
      </p:sp>
      <p:sp>
        <p:nvSpPr>
          <p:cNvPr id="3" name="Content Placeholder 2">
            <a:extLst>
              <a:ext uri="{FF2B5EF4-FFF2-40B4-BE49-F238E27FC236}">
                <a16:creationId xmlns:a16="http://schemas.microsoft.com/office/drawing/2014/main" id="{5F7D9306-9205-6854-5344-E9A5E22CAAD4}"/>
              </a:ext>
            </a:extLst>
          </p:cNvPr>
          <p:cNvSpPr>
            <a:spLocks noGrp="1"/>
          </p:cNvSpPr>
          <p:nvPr>
            <p:ph idx="1"/>
          </p:nvPr>
        </p:nvSpPr>
        <p:spPr>
          <a:xfrm>
            <a:off x="838200" y="1690688"/>
            <a:ext cx="10515600" cy="4467225"/>
          </a:xfrm>
        </p:spPr>
        <p:txBody>
          <a:bodyPr>
            <a:normAutofit/>
          </a:bodyPr>
          <a:lstStyle/>
          <a:p>
            <a:r>
              <a:rPr lang="en-US" b="0" i="0" dirty="0">
                <a:solidFill>
                  <a:srgbClr val="000000"/>
                </a:solidFill>
                <a:effectLst/>
              </a:rPr>
              <a:t>The POMR as initially defined by Lawrence Weed, MD, is the official method of record-keeping used at Foster G. McGaw Hospital and its affiliates.</a:t>
            </a:r>
            <a:endParaRPr lang="en-US" b="0" i="0" dirty="0">
              <a:solidFill>
                <a:srgbClr val="020621"/>
              </a:solidFill>
              <a:effectLst/>
            </a:endParaRPr>
          </a:p>
          <a:p>
            <a:r>
              <a:rPr lang="en-US" b="0" i="0" dirty="0">
                <a:solidFill>
                  <a:srgbClr val="020621"/>
                </a:solidFill>
                <a:effectLst/>
              </a:rPr>
              <a:t>The Problem-Oriented Medical Record (POMR) is a highly structured and effective method of recording a patient's medical history. </a:t>
            </a:r>
          </a:p>
          <a:p>
            <a:r>
              <a:rPr lang="en-US" b="0" i="0" dirty="0">
                <a:solidFill>
                  <a:srgbClr val="020621"/>
                </a:solidFill>
                <a:effectLst/>
              </a:rPr>
              <a:t>It's designed to specifically focus on the patient's problems and their clinical evolution, as well as the relationships between clinical events. Through this approach, physicians are able to view the patient's history in a systematic and organized manner, allowing them to make informed decisions and hypotheses with confidence.</a:t>
            </a:r>
          </a:p>
          <a:p>
            <a:r>
              <a:rPr lang="en-US" b="0" i="0" dirty="0">
                <a:solidFill>
                  <a:srgbClr val="020621"/>
                </a:solidFill>
                <a:effectLst/>
              </a:rPr>
              <a:t> As an alternative to traditional medical records, most of the work related to POMR involves developing information systems.</a:t>
            </a:r>
          </a:p>
          <a:p>
            <a:pPr marL="0" indent="0">
              <a:buNone/>
            </a:pPr>
            <a:endParaRPr lang="en-IN" dirty="0"/>
          </a:p>
        </p:txBody>
      </p:sp>
    </p:spTree>
    <p:extLst>
      <p:ext uri="{BB962C8B-B14F-4D97-AF65-F5344CB8AC3E}">
        <p14:creationId xmlns:p14="http://schemas.microsoft.com/office/powerpoint/2010/main" val="3680868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0CFD2-71F3-B4E1-A96E-F804C69A258E}"/>
              </a:ext>
            </a:extLst>
          </p:cNvPr>
          <p:cNvSpPr>
            <a:spLocks noGrp="1"/>
          </p:cNvSpPr>
          <p:nvPr>
            <p:ph type="title"/>
          </p:nvPr>
        </p:nvSpPr>
        <p:spPr>
          <a:xfrm>
            <a:off x="838200" y="365125"/>
            <a:ext cx="10515600" cy="1306513"/>
          </a:xfrm>
        </p:spPr>
        <p:txBody>
          <a:bodyPr>
            <a:normAutofit fontScale="90000"/>
          </a:bodyPr>
          <a:lstStyle/>
          <a:p>
            <a:r>
              <a:rPr lang="en-IN" b="0" i="0" dirty="0">
                <a:solidFill>
                  <a:srgbClr val="2D3238"/>
                </a:solidFill>
                <a:effectLst/>
                <a:latin typeface="f37-ginger-bold"/>
              </a:rPr>
              <a:t>Phases of POMR</a:t>
            </a:r>
            <a:br>
              <a:rPr lang="en-IN" b="0" i="0" dirty="0">
                <a:solidFill>
                  <a:srgbClr val="2D3238"/>
                </a:solidFill>
                <a:effectLst/>
                <a:latin typeface="f37-ginger-bold"/>
              </a:rPr>
            </a:br>
            <a:endParaRPr lang="en-IN" dirty="0"/>
          </a:p>
        </p:txBody>
      </p:sp>
      <p:sp>
        <p:nvSpPr>
          <p:cNvPr id="3" name="Content Placeholder 2">
            <a:extLst>
              <a:ext uri="{FF2B5EF4-FFF2-40B4-BE49-F238E27FC236}">
                <a16:creationId xmlns:a16="http://schemas.microsoft.com/office/drawing/2014/main" id="{361B581B-1F3D-2960-86AF-4DBA437B7C67}"/>
              </a:ext>
            </a:extLst>
          </p:cNvPr>
          <p:cNvSpPr>
            <a:spLocks noGrp="1"/>
          </p:cNvSpPr>
          <p:nvPr>
            <p:ph idx="1"/>
          </p:nvPr>
        </p:nvSpPr>
        <p:spPr/>
        <p:txBody>
          <a:bodyPr>
            <a:normAutofit lnSpcReduction="10000"/>
          </a:bodyPr>
          <a:lstStyle/>
          <a:p>
            <a:pPr algn="just"/>
            <a:r>
              <a:rPr lang="en-US" sz="2400" b="0" i="0" dirty="0">
                <a:solidFill>
                  <a:srgbClr val="020621"/>
                </a:solidFill>
                <a:effectLst/>
              </a:rPr>
              <a:t>Phase 1 The formation of a database, including history, physical examination and laboratory and other test results</a:t>
            </a:r>
          </a:p>
          <a:p>
            <a:pPr algn="just"/>
            <a:r>
              <a:rPr lang="en-US" sz="2400" b="0" i="0" dirty="0">
                <a:solidFill>
                  <a:srgbClr val="020621"/>
                </a:solidFill>
                <a:effectLst/>
              </a:rPr>
              <a:t>Phase 2 Identification of a specific problem list from the interpretation of the database, including specific impairment of function (Physical, psychological, social and vocational) resulting from the disease process or from secondary impairments.</a:t>
            </a:r>
          </a:p>
          <a:p>
            <a:pPr algn="l"/>
            <a:r>
              <a:rPr lang="en-US" sz="2400" b="0" i="0" dirty="0">
                <a:solidFill>
                  <a:srgbClr val="020621"/>
                </a:solidFill>
                <a:effectLst/>
              </a:rPr>
              <a:t>Phase 3 Identification of a specific POC that includes interventions for each of the problems described; evaluative and progress notes are included for each problem.</a:t>
            </a:r>
          </a:p>
          <a:p>
            <a:pPr algn="just"/>
            <a:r>
              <a:rPr lang="en-US" sz="2400" b="0" i="0" dirty="0">
                <a:solidFill>
                  <a:srgbClr val="020621"/>
                </a:solidFill>
                <a:effectLst/>
              </a:rPr>
              <a:t>Phase 4 Determination of the effectiveness of the POC and subsequent changes as a result of patient progress.</a:t>
            </a:r>
          </a:p>
          <a:p>
            <a:pPr algn="just"/>
            <a:endParaRPr lang="en-IN" dirty="0"/>
          </a:p>
        </p:txBody>
      </p:sp>
    </p:spTree>
    <p:extLst>
      <p:ext uri="{BB962C8B-B14F-4D97-AF65-F5344CB8AC3E}">
        <p14:creationId xmlns:p14="http://schemas.microsoft.com/office/powerpoint/2010/main" val="31087509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CBD55-7D83-2981-F49C-1C667A5FBC21}"/>
              </a:ext>
            </a:extLst>
          </p:cNvPr>
          <p:cNvSpPr>
            <a:spLocks noGrp="1"/>
          </p:cNvSpPr>
          <p:nvPr>
            <p:ph type="title"/>
          </p:nvPr>
        </p:nvSpPr>
        <p:spPr/>
        <p:txBody>
          <a:bodyPr/>
          <a:lstStyle/>
          <a:p>
            <a:r>
              <a:rPr lang="en-US" b="0" i="0" dirty="0">
                <a:solidFill>
                  <a:srgbClr val="000000"/>
                </a:solidFill>
                <a:effectLst/>
                <a:latin typeface="Arial" panose="020B0604020202020204" pitchFamily="34" charset="0"/>
              </a:rPr>
              <a:t>The basic components of the POMR are</a:t>
            </a:r>
            <a:endParaRPr lang="en-IN" dirty="0"/>
          </a:p>
        </p:txBody>
      </p:sp>
      <p:sp>
        <p:nvSpPr>
          <p:cNvPr id="3" name="Content Placeholder 2">
            <a:extLst>
              <a:ext uri="{FF2B5EF4-FFF2-40B4-BE49-F238E27FC236}">
                <a16:creationId xmlns:a16="http://schemas.microsoft.com/office/drawing/2014/main" id="{5797EC4A-6F1A-9078-B131-C43E8C13B7A3}"/>
              </a:ext>
            </a:extLst>
          </p:cNvPr>
          <p:cNvSpPr>
            <a:spLocks noGrp="1"/>
          </p:cNvSpPr>
          <p:nvPr>
            <p:ph idx="1"/>
          </p:nvPr>
        </p:nvSpPr>
        <p:spPr/>
        <p:txBody>
          <a:bodyPr/>
          <a:lstStyle/>
          <a:p>
            <a:pPr marL="0" indent="0" algn="l">
              <a:buNone/>
            </a:pPr>
            <a:endParaRPr lang="en-US" b="0" i="0" dirty="0">
              <a:solidFill>
                <a:srgbClr val="000000"/>
              </a:solidFill>
              <a:effectLst/>
              <a:latin typeface="Arial" panose="020B0604020202020204" pitchFamily="34" charset="0"/>
            </a:endParaRPr>
          </a:p>
          <a:p>
            <a:pPr algn="l">
              <a:buFont typeface="+mj-lt"/>
              <a:buAutoNum type="arabicPeriod"/>
            </a:pPr>
            <a:r>
              <a:rPr lang="en-US" b="0" i="0" dirty="0">
                <a:solidFill>
                  <a:srgbClr val="000000"/>
                </a:solidFill>
                <a:effectLst/>
                <a:latin typeface="Arial" panose="020B0604020202020204" pitchFamily="34" charset="0"/>
              </a:rPr>
              <a:t>Data Base - History, Physical Exam, and Laboratory Data</a:t>
            </a:r>
          </a:p>
          <a:p>
            <a:pPr algn="l">
              <a:buFont typeface="+mj-lt"/>
              <a:buAutoNum type="arabicPeriod"/>
            </a:pPr>
            <a:r>
              <a:rPr lang="en-US" b="0" i="0" dirty="0">
                <a:solidFill>
                  <a:srgbClr val="000000"/>
                </a:solidFill>
                <a:effectLst/>
                <a:latin typeface="Arial" panose="020B0604020202020204" pitchFamily="34" charset="0"/>
              </a:rPr>
              <a:t>Complete Problem List</a:t>
            </a:r>
          </a:p>
          <a:p>
            <a:pPr algn="l">
              <a:buFont typeface="+mj-lt"/>
              <a:buAutoNum type="arabicPeriod"/>
            </a:pPr>
            <a:r>
              <a:rPr lang="en-US" b="0" i="0" dirty="0">
                <a:solidFill>
                  <a:srgbClr val="000000"/>
                </a:solidFill>
                <a:effectLst/>
                <a:latin typeface="Arial" panose="020B0604020202020204" pitchFamily="34" charset="0"/>
              </a:rPr>
              <a:t>Initial Plans</a:t>
            </a:r>
          </a:p>
          <a:p>
            <a:pPr algn="l">
              <a:buFont typeface="+mj-lt"/>
              <a:buAutoNum type="arabicPeriod"/>
            </a:pPr>
            <a:r>
              <a:rPr lang="en-US" b="0" i="0" dirty="0">
                <a:solidFill>
                  <a:srgbClr val="000000"/>
                </a:solidFill>
                <a:effectLst/>
                <a:latin typeface="Arial" panose="020B0604020202020204" pitchFamily="34" charset="0"/>
              </a:rPr>
              <a:t>Daily Progress Note</a:t>
            </a:r>
          </a:p>
          <a:p>
            <a:pPr algn="l">
              <a:buFont typeface="+mj-lt"/>
              <a:buAutoNum type="arabicPeriod"/>
            </a:pPr>
            <a:r>
              <a:rPr lang="en-US" b="0" i="0" dirty="0">
                <a:solidFill>
                  <a:srgbClr val="000000"/>
                </a:solidFill>
                <a:effectLst/>
                <a:latin typeface="Arial" panose="020B0604020202020204" pitchFamily="34" charset="0"/>
              </a:rPr>
              <a:t>Final Progress Note or Discharge Summary</a:t>
            </a:r>
          </a:p>
          <a:p>
            <a:endParaRPr lang="en-IN" dirty="0"/>
          </a:p>
        </p:txBody>
      </p:sp>
    </p:spTree>
    <p:extLst>
      <p:ext uri="{BB962C8B-B14F-4D97-AF65-F5344CB8AC3E}">
        <p14:creationId xmlns:p14="http://schemas.microsoft.com/office/powerpoint/2010/main" val="950987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C89057-24D5-1A8D-0616-10152D46DB49}"/>
              </a:ext>
            </a:extLst>
          </p:cNvPr>
          <p:cNvSpPr>
            <a:spLocks noGrp="1"/>
          </p:cNvSpPr>
          <p:nvPr>
            <p:ph idx="4294967295"/>
          </p:nvPr>
        </p:nvSpPr>
        <p:spPr>
          <a:xfrm>
            <a:off x="0" y="174625"/>
            <a:ext cx="10668000" cy="4667250"/>
          </a:xfrm>
        </p:spPr>
        <p:txBody>
          <a:bodyPr>
            <a:noAutofit/>
          </a:bodyPr>
          <a:lstStyle/>
          <a:p>
            <a:pPr algn="l"/>
            <a:r>
              <a:rPr lang="en-US" sz="2400" b="1" i="0" dirty="0">
                <a:solidFill>
                  <a:srgbClr val="000000"/>
                </a:solidFill>
                <a:effectLst/>
              </a:rPr>
              <a:t>DATABASE</a:t>
            </a:r>
          </a:p>
          <a:p>
            <a:pPr algn="l"/>
            <a:r>
              <a:rPr lang="en-US" sz="2400" b="0" i="0" dirty="0">
                <a:solidFill>
                  <a:srgbClr val="000000"/>
                </a:solidFill>
                <a:effectLst/>
              </a:rPr>
              <a:t>The importance of the Data Base is obvious and must include a complete history and physical exam. Many hospitals include certain routine laboratory studies (CBC, SMAC, EKG, chest x-ray, urinalysis, etc.) for each patient admitted. If these are available to the admitting physician, they are to be included in the initial database along with a history and physical. As additional information is collected it is added to the Data Base.</a:t>
            </a:r>
          </a:p>
          <a:p>
            <a:pPr algn="l"/>
            <a:r>
              <a:rPr lang="en-US" sz="2400" b="1" i="0" dirty="0">
                <a:solidFill>
                  <a:srgbClr val="000000"/>
                </a:solidFill>
                <a:effectLst/>
              </a:rPr>
              <a:t>COMPLETE PROBLEM LIST</a:t>
            </a:r>
          </a:p>
          <a:p>
            <a:pPr algn="l"/>
            <a:r>
              <a:rPr lang="en-US" sz="2400" b="0" i="0" dirty="0">
                <a:solidFill>
                  <a:srgbClr val="000000"/>
                </a:solidFill>
                <a:effectLst/>
              </a:rPr>
              <a:t>After the admitting physician performs the history and physical, reviews the basic laboratory data, and records the database, the Problem List is constructed and recorded.</a:t>
            </a:r>
          </a:p>
          <a:p>
            <a:pPr algn="l"/>
            <a:r>
              <a:rPr lang="en-US" sz="2400" b="0" i="0" dirty="0">
                <a:solidFill>
                  <a:srgbClr val="000000"/>
                </a:solidFill>
                <a:effectLst/>
              </a:rPr>
              <a:t>Problems are either active or inactive (inactive problems are usually prior, resolved medical or surgical illnesses that are still important to be remembered).</a:t>
            </a:r>
            <a:endParaRPr lang="en-US" sz="2400" dirty="0">
              <a:solidFill>
                <a:srgbClr val="000000"/>
              </a:solidFill>
            </a:endParaRPr>
          </a:p>
          <a:p>
            <a:pPr algn="l"/>
            <a:r>
              <a:rPr lang="en-US" sz="2400" b="0" i="0" dirty="0">
                <a:solidFill>
                  <a:srgbClr val="000000"/>
                </a:solidFill>
                <a:effectLst/>
              </a:rPr>
              <a:t>Physicians often get caught up in defining Problems and Problem Lists, accusing each other of lumping, splitting, etc. This is unnecessary. Important facts to be noted in constructing a problem list are these:</a:t>
            </a:r>
          </a:p>
          <a:p>
            <a:endParaRPr lang="en-IN" sz="2400" dirty="0"/>
          </a:p>
        </p:txBody>
      </p:sp>
    </p:spTree>
    <p:extLst>
      <p:ext uri="{BB962C8B-B14F-4D97-AF65-F5344CB8AC3E}">
        <p14:creationId xmlns:p14="http://schemas.microsoft.com/office/powerpoint/2010/main" val="941791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03639-A014-1E35-1E50-6AD5864335E2}"/>
              </a:ext>
            </a:extLst>
          </p:cNvPr>
          <p:cNvSpPr>
            <a:spLocks noGrp="1"/>
          </p:cNvSpPr>
          <p:nvPr>
            <p:ph type="title"/>
          </p:nvPr>
        </p:nvSpPr>
        <p:spPr/>
        <p:txBody>
          <a:bodyPr/>
          <a:lstStyle/>
          <a:p>
            <a:r>
              <a:rPr lang="en-IN" dirty="0"/>
              <a:t>EXAMPLE </a:t>
            </a:r>
          </a:p>
        </p:txBody>
      </p:sp>
      <p:graphicFrame>
        <p:nvGraphicFramePr>
          <p:cNvPr id="4" name="Content Placeholder 3">
            <a:extLst>
              <a:ext uri="{FF2B5EF4-FFF2-40B4-BE49-F238E27FC236}">
                <a16:creationId xmlns:a16="http://schemas.microsoft.com/office/drawing/2014/main" id="{2D4ECA03-F7B5-5BB0-FC57-E66ADCB7323E}"/>
              </a:ext>
            </a:extLst>
          </p:cNvPr>
          <p:cNvGraphicFramePr>
            <a:graphicFrameLocks noGrp="1"/>
          </p:cNvGraphicFramePr>
          <p:nvPr>
            <p:ph idx="1"/>
            <p:extLst>
              <p:ext uri="{D42A27DB-BD31-4B8C-83A1-F6EECF244321}">
                <p14:modId xmlns:p14="http://schemas.microsoft.com/office/powerpoint/2010/main" val="1326867847"/>
              </p:ext>
            </p:extLst>
          </p:nvPr>
        </p:nvGraphicFramePr>
        <p:xfrm>
          <a:off x="1092201" y="1600195"/>
          <a:ext cx="10007598" cy="3022607"/>
        </p:xfrm>
        <a:graphic>
          <a:graphicData uri="http://schemas.openxmlformats.org/drawingml/2006/table">
            <a:tbl>
              <a:tblPr/>
              <a:tblGrid>
                <a:gridCol w="1401063">
                  <a:extLst>
                    <a:ext uri="{9D8B030D-6E8A-4147-A177-3AD203B41FA5}">
                      <a16:colId xmlns:a16="http://schemas.microsoft.com/office/drawing/2014/main" val="3488460168"/>
                    </a:ext>
                  </a:extLst>
                </a:gridCol>
                <a:gridCol w="1901443">
                  <a:extLst>
                    <a:ext uri="{9D8B030D-6E8A-4147-A177-3AD203B41FA5}">
                      <a16:colId xmlns:a16="http://schemas.microsoft.com/office/drawing/2014/main" val="2442132541"/>
                    </a:ext>
                  </a:extLst>
                </a:gridCol>
                <a:gridCol w="4203192">
                  <a:extLst>
                    <a:ext uri="{9D8B030D-6E8A-4147-A177-3AD203B41FA5}">
                      <a16:colId xmlns:a16="http://schemas.microsoft.com/office/drawing/2014/main" val="1667321818"/>
                    </a:ext>
                  </a:extLst>
                </a:gridCol>
                <a:gridCol w="2501900">
                  <a:extLst>
                    <a:ext uri="{9D8B030D-6E8A-4147-A177-3AD203B41FA5}">
                      <a16:colId xmlns:a16="http://schemas.microsoft.com/office/drawing/2014/main" val="347491159"/>
                    </a:ext>
                  </a:extLst>
                </a:gridCol>
              </a:tblGrid>
              <a:tr h="431801">
                <a:tc>
                  <a:txBody>
                    <a:bodyPr/>
                    <a:lstStyle/>
                    <a:p>
                      <a:r>
                        <a:rPr lang="en-IN" sz="2000">
                          <a:effectLst/>
                          <a:latin typeface="+mn-lt"/>
                        </a:rPr>
                        <a:t>Prob.#</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Date Entered</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Problem List</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Problem Resolved</a:t>
                      </a:r>
                    </a:p>
                  </a:txBody>
                  <a:tcPr marL="28575" marR="28575" marT="28575" marB="28575" anchor="ctr">
                    <a:lnL>
                      <a:noFill/>
                    </a:lnL>
                    <a:lnR>
                      <a:noFill/>
                    </a:lnR>
                    <a:lnT>
                      <a:noFill/>
                    </a:lnT>
                    <a:lnB>
                      <a:noFill/>
                    </a:lnB>
                    <a:solidFill>
                      <a:srgbClr val="FFFFFF"/>
                    </a:solidFill>
                  </a:tcPr>
                </a:tc>
                <a:extLst>
                  <a:ext uri="{0D108BD9-81ED-4DB2-BD59-A6C34878D82A}">
                    <a16:rowId xmlns:a16="http://schemas.microsoft.com/office/drawing/2014/main" val="576738554"/>
                  </a:ext>
                </a:extLst>
              </a:tr>
              <a:tr h="431801">
                <a:tc>
                  <a:txBody>
                    <a:bodyPr/>
                    <a:lstStyle/>
                    <a:p>
                      <a:r>
                        <a:rPr lang="en-IN" sz="2000">
                          <a:effectLst/>
                          <a:latin typeface="+mn-lt"/>
                        </a:rPr>
                        <a:t>1</a:t>
                      </a:r>
                    </a:p>
                  </a:txBody>
                  <a:tcPr marL="28575" marR="28575" marT="28575" marB="28575" anchor="ctr">
                    <a:lnL>
                      <a:noFill/>
                    </a:lnL>
                    <a:lnR>
                      <a:noFill/>
                    </a:lnR>
                    <a:lnT>
                      <a:noFill/>
                    </a:lnT>
                    <a:lnB>
                      <a:noFill/>
                    </a:lnB>
                    <a:solidFill>
                      <a:srgbClr val="FFFFFF"/>
                    </a:solidFill>
                  </a:tcPr>
                </a:tc>
                <a:tc>
                  <a:txBody>
                    <a:bodyPr/>
                    <a:lstStyle/>
                    <a:p>
                      <a:r>
                        <a:rPr lang="en-IN" sz="2000" dirty="0">
                          <a:effectLst/>
                          <a:latin typeface="+mn-lt"/>
                        </a:rPr>
                        <a:t>5/2/23</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BUN 5/3 </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uremia</a:t>
                      </a:r>
                    </a:p>
                  </a:txBody>
                  <a:tcPr marL="28575" marR="28575" marT="28575" marB="28575" anchor="ctr">
                    <a:lnL>
                      <a:noFill/>
                    </a:lnL>
                    <a:lnR>
                      <a:noFill/>
                    </a:lnR>
                    <a:lnT>
                      <a:noFill/>
                    </a:lnT>
                    <a:lnB>
                      <a:noFill/>
                    </a:lnB>
                    <a:solidFill>
                      <a:srgbClr val="FFFFFF"/>
                    </a:solidFill>
                  </a:tcPr>
                </a:tc>
                <a:extLst>
                  <a:ext uri="{0D108BD9-81ED-4DB2-BD59-A6C34878D82A}">
                    <a16:rowId xmlns:a16="http://schemas.microsoft.com/office/drawing/2014/main" val="643428636"/>
                  </a:ext>
                </a:extLst>
              </a:tr>
              <a:tr h="431801">
                <a:tc>
                  <a:txBody>
                    <a:bodyPr/>
                    <a:lstStyle/>
                    <a:p>
                      <a:r>
                        <a:rPr lang="en-IN" sz="2000">
                          <a:effectLst/>
                          <a:latin typeface="+mn-lt"/>
                        </a:rPr>
                        <a:t>2</a:t>
                      </a:r>
                    </a:p>
                  </a:txBody>
                  <a:tcPr marL="28575" marR="28575" marT="28575" marB="28575" anchor="ctr">
                    <a:lnL>
                      <a:noFill/>
                    </a:lnL>
                    <a:lnR>
                      <a:noFill/>
                    </a:lnR>
                    <a:lnT>
                      <a:noFill/>
                    </a:lnT>
                    <a:lnB>
                      <a:noFill/>
                    </a:lnB>
                    <a:solidFill>
                      <a:srgbClr val="FFFFFF"/>
                    </a:solidFill>
                  </a:tcPr>
                </a:tc>
                <a:tc>
                  <a:txBody>
                    <a:bodyPr/>
                    <a:lstStyle/>
                    <a:p>
                      <a:r>
                        <a:rPr lang="en-IN" sz="2000" dirty="0">
                          <a:effectLst/>
                          <a:latin typeface="+mn-lt"/>
                        </a:rPr>
                        <a:t>5/2/23</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K 5/3 </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See #1</a:t>
                      </a:r>
                    </a:p>
                  </a:txBody>
                  <a:tcPr marL="28575" marR="28575" marT="28575" marB="28575" anchor="ctr">
                    <a:lnL>
                      <a:noFill/>
                    </a:lnL>
                    <a:lnR>
                      <a:noFill/>
                    </a:lnR>
                    <a:lnT>
                      <a:noFill/>
                    </a:lnT>
                    <a:lnB>
                      <a:noFill/>
                    </a:lnB>
                    <a:solidFill>
                      <a:srgbClr val="FFFFFF"/>
                    </a:solidFill>
                  </a:tcPr>
                </a:tc>
                <a:extLst>
                  <a:ext uri="{0D108BD9-81ED-4DB2-BD59-A6C34878D82A}">
                    <a16:rowId xmlns:a16="http://schemas.microsoft.com/office/drawing/2014/main" val="1011005836"/>
                  </a:ext>
                </a:extLst>
              </a:tr>
              <a:tr h="431801">
                <a:tc>
                  <a:txBody>
                    <a:bodyPr/>
                    <a:lstStyle/>
                    <a:p>
                      <a:r>
                        <a:rPr lang="en-IN" sz="2000">
                          <a:effectLst/>
                          <a:latin typeface="+mn-lt"/>
                        </a:rPr>
                        <a:t>3</a:t>
                      </a:r>
                    </a:p>
                  </a:txBody>
                  <a:tcPr marL="28575" marR="28575" marT="28575" marB="28575" anchor="ctr">
                    <a:lnL>
                      <a:noFill/>
                    </a:lnL>
                    <a:lnR>
                      <a:noFill/>
                    </a:lnR>
                    <a:lnT>
                      <a:noFill/>
                    </a:lnT>
                    <a:lnB>
                      <a:noFill/>
                    </a:lnB>
                    <a:solidFill>
                      <a:srgbClr val="FFFFFF"/>
                    </a:solidFill>
                  </a:tcPr>
                </a:tc>
                <a:tc>
                  <a:txBody>
                    <a:bodyPr/>
                    <a:lstStyle/>
                    <a:p>
                      <a:r>
                        <a:rPr lang="en-IN" sz="2000" dirty="0">
                          <a:effectLst/>
                          <a:latin typeface="+mn-lt"/>
                        </a:rPr>
                        <a:t>5/2/23</a:t>
                      </a:r>
                    </a:p>
                  </a:txBody>
                  <a:tcPr marL="28575" marR="28575" marT="28575" marB="28575" anchor="ctr">
                    <a:lnL>
                      <a:noFill/>
                    </a:lnL>
                    <a:lnR>
                      <a:noFill/>
                    </a:lnR>
                    <a:lnT>
                      <a:noFill/>
                    </a:lnT>
                    <a:lnB>
                      <a:noFill/>
                    </a:lnB>
                    <a:solidFill>
                      <a:srgbClr val="FFFFFF"/>
                    </a:solidFill>
                  </a:tcPr>
                </a:tc>
                <a:tc>
                  <a:txBody>
                    <a:bodyPr/>
                    <a:lstStyle/>
                    <a:p>
                      <a:r>
                        <a:rPr lang="en-IN" sz="2000" dirty="0">
                          <a:effectLst/>
                          <a:latin typeface="+mn-lt"/>
                        </a:rPr>
                        <a:t>Muscle twitching 5/3 </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See #1</a:t>
                      </a:r>
                    </a:p>
                  </a:txBody>
                  <a:tcPr marL="28575" marR="28575" marT="28575" marB="28575" anchor="ctr">
                    <a:lnL>
                      <a:noFill/>
                    </a:lnL>
                    <a:lnR>
                      <a:noFill/>
                    </a:lnR>
                    <a:lnT>
                      <a:noFill/>
                    </a:lnT>
                    <a:lnB>
                      <a:noFill/>
                    </a:lnB>
                    <a:solidFill>
                      <a:srgbClr val="FFFFFF"/>
                    </a:solidFill>
                  </a:tcPr>
                </a:tc>
                <a:extLst>
                  <a:ext uri="{0D108BD9-81ED-4DB2-BD59-A6C34878D82A}">
                    <a16:rowId xmlns:a16="http://schemas.microsoft.com/office/drawing/2014/main" val="898426392"/>
                  </a:ext>
                </a:extLst>
              </a:tr>
              <a:tr h="431801">
                <a:tc>
                  <a:txBody>
                    <a:bodyPr/>
                    <a:lstStyle/>
                    <a:p>
                      <a:r>
                        <a:rPr lang="en-IN" sz="2000">
                          <a:effectLst/>
                          <a:latin typeface="+mn-lt"/>
                        </a:rPr>
                        <a:t>4</a:t>
                      </a:r>
                    </a:p>
                  </a:txBody>
                  <a:tcPr marL="28575" marR="28575" marT="28575" marB="28575" anchor="ctr">
                    <a:lnL>
                      <a:noFill/>
                    </a:lnL>
                    <a:lnR>
                      <a:noFill/>
                    </a:lnR>
                    <a:lnT>
                      <a:noFill/>
                    </a:lnT>
                    <a:lnB>
                      <a:noFill/>
                    </a:lnB>
                    <a:solidFill>
                      <a:srgbClr val="FFFFFF"/>
                    </a:solidFill>
                  </a:tcPr>
                </a:tc>
                <a:tc>
                  <a:txBody>
                    <a:bodyPr/>
                    <a:lstStyle/>
                    <a:p>
                      <a:r>
                        <a:rPr lang="en-IN" sz="2000" dirty="0">
                          <a:effectLst/>
                          <a:latin typeface="+mn-lt"/>
                        </a:rPr>
                        <a:t>5/2/23</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Pericardial friction rub 5/3 </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See #1</a:t>
                      </a:r>
                    </a:p>
                  </a:txBody>
                  <a:tcPr marL="28575" marR="28575" marT="28575" marB="28575" anchor="ctr">
                    <a:lnL>
                      <a:noFill/>
                    </a:lnL>
                    <a:lnR>
                      <a:noFill/>
                    </a:lnR>
                    <a:lnT>
                      <a:noFill/>
                    </a:lnT>
                    <a:lnB>
                      <a:noFill/>
                    </a:lnB>
                    <a:solidFill>
                      <a:srgbClr val="FFFFFF"/>
                    </a:solidFill>
                  </a:tcPr>
                </a:tc>
                <a:extLst>
                  <a:ext uri="{0D108BD9-81ED-4DB2-BD59-A6C34878D82A}">
                    <a16:rowId xmlns:a16="http://schemas.microsoft.com/office/drawing/2014/main" val="1344477901"/>
                  </a:ext>
                </a:extLst>
              </a:tr>
              <a:tr h="431801">
                <a:tc>
                  <a:txBody>
                    <a:bodyPr/>
                    <a:lstStyle/>
                    <a:p>
                      <a:r>
                        <a:rPr lang="en-IN" sz="2000">
                          <a:effectLst/>
                          <a:latin typeface="+mn-lt"/>
                        </a:rPr>
                        <a:t>5</a:t>
                      </a:r>
                    </a:p>
                  </a:txBody>
                  <a:tcPr marL="28575" marR="28575" marT="28575" marB="28575" anchor="ctr">
                    <a:lnL>
                      <a:noFill/>
                    </a:lnL>
                    <a:lnR>
                      <a:noFill/>
                    </a:lnR>
                    <a:lnT>
                      <a:noFill/>
                    </a:lnT>
                    <a:lnB>
                      <a:noFill/>
                    </a:lnB>
                    <a:solidFill>
                      <a:srgbClr val="FFFFFF"/>
                    </a:solidFill>
                  </a:tcPr>
                </a:tc>
                <a:tc>
                  <a:txBody>
                    <a:bodyPr/>
                    <a:lstStyle/>
                    <a:p>
                      <a:r>
                        <a:rPr lang="en-IN" sz="2000" dirty="0">
                          <a:effectLst/>
                          <a:latin typeface="+mn-lt"/>
                        </a:rPr>
                        <a:t>5/2/23</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Vomiting 5/3 </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See #1</a:t>
                      </a:r>
                    </a:p>
                  </a:txBody>
                  <a:tcPr marL="28575" marR="28575" marT="28575" marB="28575" anchor="ctr">
                    <a:lnL>
                      <a:noFill/>
                    </a:lnL>
                    <a:lnR>
                      <a:noFill/>
                    </a:lnR>
                    <a:lnT>
                      <a:noFill/>
                    </a:lnT>
                    <a:lnB>
                      <a:noFill/>
                    </a:lnB>
                    <a:solidFill>
                      <a:srgbClr val="FFFFFF"/>
                    </a:solidFill>
                  </a:tcPr>
                </a:tc>
                <a:extLst>
                  <a:ext uri="{0D108BD9-81ED-4DB2-BD59-A6C34878D82A}">
                    <a16:rowId xmlns:a16="http://schemas.microsoft.com/office/drawing/2014/main" val="3266683427"/>
                  </a:ext>
                </a:extLst>
              </a:tr>
              <a:tr h="431801">
                <a:tc>
                  <a:txBody>
                    <a:bodyPr/>
                    <a:lstStyle/>
                    <a:p>
                      <a:r>
                        <a:rPr lang="en-IN" sz="2000">
                          <a:effectLst/>
                          <a:latin typeface="+mn-lt"/>
                        </a:rPr>
                        <a:t>6</a:t>
                      </a:r>
                    </a:p>
                  </a:txBody>
                  <a:tcPr marL="28575" marR="28575" marT="28575" marB="28575" anchor="ctr">
                    <a:lnL>
                      <a:noFill/>
                    </a:lnL>
                    <a:lnR>
                      <a:noFill/>
                    </a:lnR>
                    <a:lnT>
                      <a:noFill/>
                    </a:lnT>
                    <a:lnB>
                      <a:noFill/>
                    </a:lnB>
                    <a:solidFill>
                      <a:srgbClr val="FFFFFF"/>
                    </a:solidFill>
                  </a:tcPr>
                </a:tc>
                <a:tc>
                  <a:txBody>
                    <a:bodyPr/>
                    <a:lstStyle/>
                    <a:p>
                      <a:r>
                        <a:rPr lang="en-IN" sz="2000" dirty="0">
                          <a:effectLst/>
                          <a:latin typeface="+mn-lt"/>
                        </a:rPr>
                        <a:t>5/2/23</a:t>
                      </a:r>
                    </a:p>
                  </a:txBody>
                  <a:tcPr marL="28575" marR="28575" marT="28575" marB="28575" anchor="ctr">
                    <a:lnL>
                      <a:noFill/>
                    </a:lnL>
                    <a:lnR>
                      <a:noFill/>
                    </a:lnR>
                    <a:lnT>
                      <a:noFill/>
                    </a:lnT>
                    <a:lnB>
                      <a:noFill/>
                    </a:lnB>
                    <a:solidFill>
                      <a:srgbClr val="FFFFFF"/>
                    </a:solidFill>
                  </a:tcPr>
                </a:tc>
                <a:tc>
                  <a:txBody>
                    <a:bodyPr/>
                    <a:lstStyle/>
                    <a:p>
                      <a:r>
                        <a:rPr lang="en-IN" sz="2000">
                          <a:effectLst/>
                          <a:latin typeface="+mn-lt"/>
                        </a:rPr>
                        <a:t>Confusion 5/3 </a:t>
                      </a:r>
                    </a:p>
                  </a:txBody>
                  <a:tcPr marL="28575" marR="28575" marT="28575" marB="28575" anchor="ctr">
                    <a:lnL>
                      <a:noFill/>
                    </a:lnL>
                    <a:lnR>
                      <a:noFill/>
                    </a:lnR>
                    <a:lnT>
                      <a:noFill/>
                    </a:lnT>
                    <a:lnB>
                      <a:noFill/>
                    </a:lnB>
                    <a:solidFill>
                      <a:srgbClr val="FFFFFF"/>
                    </a:solidFill>
                  </a:tcPr>
                </a:tc>
                <a:tc>
                  <a:txBody>
                    <a:bodyPr/>
                    <a:lstStyle/>
                    <a:p>
                      <a:r>
                        <a:rPr lang="en-IN" sz="2000" dirty="0">
                          <a:effectLst/>
                          <a:latin typeface="+mn-lt"/>
                        </a:rPr>
                        <a:t>See #1</a:t>
                      </a:r>
                    </a:p>
                  </a:txBody>
                  <a:tcPr marL="28575" marR="28575" marT="28575" marB="28575" anchor="ctr">
                    <a:lnL>
                      <a:noFill/>
                    </a:lnL>
                    <a:lnR>
                      <a:noFill/>
                    </a:lnR>
                    <a:lnT>
                      <a:noFill/>
                    </a:lnT>
                    <a:lnB>
                      <a:noFill/>
                    </a:lnB>
                    <a:solidFill>
                      <a:srgbClr val="FFFFFF"/>
                    </a:solidFill>
                  </a:tcPr>
                </a:tc>
                <a:extLst>
                  <a:ext uri="{0D108BD9-81ED-4DB2-BD59-A6C34878D82A}">
                    <a16:rowId xmlns:a16="http://schemas.microsoft.com/office/drawing/2014/main" val="1502802377"/>
                  </a:ext>
                </a:extLst>
              </a:tr>
            </a:tbl>
          </a:graphicData>
        </a:graphic>
      </p:graphicFrame>
      <p:pic>
        <p:nvPicPr>
          <p:cNvPr id="1025" name="Picture 1">
            <a:extLst>
              <a:ext uri="{FF2B5EF4-FFF2-40B4-BE49-F238E27FC236}">
                <a16:creationId xmlns:a16="http://schemas.microsoft.com/office/drawing/2014/main" id="{BFA61203-B60A-DEAC-F69A-8EB8FA37AF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991" y="3218837"/>
            <a:ext cx="176868" cy="16515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5BCA0916-878C-4D1C-DA17-620165CF91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991" y="3218837"/>
            <a:ext cx="176868" cy="16515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C6CEC6E6-4402-90AA-F0B8-9729A01BC7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991" y="3218837"/>
            <a:ext cx="176868" cy="1651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411DC6E-F12B-109D-0456-6AB474C3B8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991" y="3218837"/>
            <a:ext cx="176868" cy="165157"/>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3F333168-EEC5-E942-10C3-59201A9C02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991" y="3218837"/>
            <a:ext cx="176868" cy="16515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63E5138-1D52-A588-9848-4CAA82A8D5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991" y="3218837"/>
            <a:ext cx="176868" cy="16515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0E613CF-93EE-B87C-B64F-B822C47DA3C1}"/>
              </a:ext>
            </a:extLst>
          </p:cNvPr>
          <p:cNvSpPr txBox="1"/>
          <p:nvPr/>
        </p:nvSpPr>
        <p:spPr>
          <a:xfrm>
            <a:off x="838200" y="4912143"/>
            <a:ext cx="10261599" cy="1325563"/>
          </a:xfrm>
          <a:prstGeom prst="rect">
            <a:avLst/>
          </a:prstGeom>
          <a:noFill/>
        </p:spPr>
        <p:txBody>
          <a:bodyPr wrap="square">
            <a:spAutoFit/>
          </a:bodyPr>
          <a:lstStyle/>
          <a:p>
            <a:pPr algn="l"/>
            <a:r>
              <a:rPr lang="en-US" sz="2000" b="1" i="0" dirty="0">
                <a:solidFill>
                  <a:srgbClr val="000000"/>
                </a:solidFill>
                <a:effectLst/>
              </a:rPr>
              <a:t>INITIAL PLANS</a:t>
            </a:r>
          </a:p>
          <a:p>
            <a:pPr algn="l"/>
            <a:r>
              <a:rPr lang="en-US" sz="2000" b="0" i="0" dirty="0">
                <a:solidFill>
                  <a:srgbClr val="000000"/>
                </a:solidFill>
                <a:effectLst/>
              </a:rPr>
              <a:t>The next process that a physician undertakes after deciding "what is wrong" is "what to do about what is wrong." This is the initial plan and must be written by the admitting physician after the Problem List is constructed</a:t>
            </a:r>
            <a:endParaRPr lang="en-IN" sz="2000" dirty="0"/>
          </a:p>
        </p:txBody>
      </p:sp>
    </p:spTree>
    <p:extLst>
      <p:ext uri="{BB962C8B-B14F-4D97-AF65-F5344CB8AC3E}">
        <p14:creationId xmlns:p14="http://schemas.microsoft.com/office/powerpoint/2010/main" val="1353624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573D7-AFE4-12DE-D9B3-EC5D076066F0}"/>
              </a:ext>
            </a:extLst>
          </p:cNvPr>
          <p:cNvSpPr>
            <a:spLocks noGrp="1"/>
          </p:cNvSpPr>
          <p:nvPr>
            <p:ph type="title"/>
          </p:nvPr>
        </p:nvSpPr>
        <p:spPr>
          <a:xfrm>
            <a:off x="838200" y="365125"/>
            <a:ext cx="10515600" cy="942975"/>
          </a:xfrm>
        </p:spPr>
        <p:txBody>
          <a:bodyPr/>
          <a:lstStyle/>
          <a:p>
            <a:r>
              <a:rPr lang="en-IN" dirty="0"/>
              <a:t>SOAP</a:t>
            </a:r>
          </a:p>
        </p:txBody>
      </p:sp>
      <p:sp>
        <p:nvSpPr>
          <p:cNvPr id="3" name="Content Placeholder 2">
            <a:extLst>
              <a:ext uri="{FF2B5EF4-FFF2-40B4-BE49-F238E27FC236}">
                <a16:creationId xmlns:a16="http://schemas.microsoft.com/office/drawing/2014/main" id="{6E869010-22B3-981E-9665-3E9D8E3A0A7E}"/>
              </a:ext>
            </a:extLst>
          </p:cNvPr>
          <p:cNvSpPr>
            <a:spLocks noGrp="1"/>
          </p:cNvSpPr>
          <p:nvPr>
            <p:ph idx="1"/>
          </p:nvPr>
        </p:nvSpPr>
        <p:spPr>
          <a:xfrm>
            <a:off x="520700" y="1308100"/>
            <a:ext cx="10744200" cy="4940300"/>
          </a:xfrm>
        </p:spPr>
        <p:txBody>
          <a:bodyPr>
            <a:normAutofit fontScale="92500" lnSpcReduction="10000"/>
          </a:bodyPr>
          <a:lstStyle/>
          <a:p>
            <a:pPr marL="0" indent="0">
              <a:buNone/>
            </a:pPr>
            <a:r>
              <a:rPr lang="en-US" sz="2600" b="0" i="0" dirty="0">
                <a:solidFill>
                  <a:srgbClr val="000000"/>
                </a:solidFill>
                <a:effectLst/>
              </a:rPr>
              <a:t>For each problem defined, a SOAP note must be recorded.</a:t>
            </a:r>
          </a:p>
          <a:p>
            <a:r>
              <a:rPr lang="en-US" sz="2600" b="0" i="0" dirty="0">
                <a:solidFill>
                  <a:srgbClr val="202124"/>
                </a:solidFill>
                <a:effectLst/>
              </a:rPr>
              <a:t>The </a:t>
            </a:r>
            <a:r>
              <a:rPr lang="en-US" sz="2600" b="0" i="0" dirty="0">
                <a:solidFill>
                  <a:srgbClr val="040C28"/>
                </a:solidFill>
                <a:effectLst/>
              </a:rPr>
              <a:t>Subjective, Objective, Assessment and Plan</a:t>
            </a:r>
            <a:r>
              <a:rPr lang="en-US" sz="2600" b="0" i="0" dirty="0">
                <a:solidFill>
                  <a:srgbClr val="202124"/>
                </a:solidFill>
                <a:effectLst/>
              </a:rPr>
              <a:t> (SOAP) note is an acronym representing a widely used method of documentation for healthcare providers. </a:t>
            </a:r>
          </a:p>
          <a:p>
            <a:r>
              <a:rPr lang="en-US" sz="2600" b="0" i="0" dirty="0">
                <a:solidFill>
                  <a:srgbClr val="202124"/>
                </a:solidFill>
                <a:effectLst/>
              </a:rPr>
              <a:t>The SOAP note is a way for healthcare workers to document in a structured and organized way.</a:t>
            </a:r>
          </a:p>
          <a:p>
            <a:r>
              <a:rPr lang="en-US" sz="2600" b="0" i="0" dirty="0">
                <a:solidFill>
                  <a:srgbClr val="000000"/>
                </a:solidFill>
                <a:effectLst/>
              </a:rPr>
              <a:t>The Subjective and the Objective are each a brief review of the abnormalities identified in the history, physical, and initial lab data, which pertain to that particular problem. </a:t>
            </a:r>
          </a:p>
          <a:p>
            <a:r>
              <a:rPr lang="en-US" sz="2600" b="0" i="0" dirty="0">
                <a:solidFill>
                  <a:srgbClr val="000000"/>
                </a:solidFill>
                <a:effectLst/>
              </a:rPr>
              <a:t>These need not be lengthy, but simply one or two lines reviewing the pertinent data.</a:t>
            </a:r>
            <a:endParaRPr lang="en-US" sz="2600" b="0" i="0" dirty="0">
              <a:solidFill>
                <a:srgbClr val="202124"/>
              </a:solidFill>
              <a:effectLst/>
            </a:endParaRPr>
          </a:p>
          <a:p>
            <a:r>
              <a:rPr lang="en-US" sz="2600" b="0" i="0" dirty="0">
                <a:solidFill>
                  <a:srgbClr val="000000"/>
                </a:solidFill>
                <a:effectLst/>
              </a:rPr>
              <a:t>The Assessment is a brief but pertinent paragraph describing what the physician thinks about that particular problem. If the problem recorded is a sign or symptom requiring a differential diagnosis, the DD must be recorded in a prioritized manner with a brief statement as to why the physician includes the differential that he or she does</a:t>
            </a:r>
            <a:endParaRPr lang="en-US" sz="2600" b="0" i="0" dirty="0">
              <a:solidFill>
                <a:srgbClr val="202124"/>
              </a:solidFill>
              <a:effectLst/>
            </a:endParaRPr>
          </a:p>
          <a:p>
            <a:endParaRPr lang="en-IN" sz="2400" dirty="0"/>
          </a:p>
        </p:txBody>
      </p:sp>
    </p:spTree>
    <p:extLst>
      <p:ext uri="{BB962C8B-B14F-4D97-AF65-F5344CB8AC3E}">
        <p14:creationId xmlns:p14="http://schemas.microsoft.com/office/powerpoint/2010/main" val="527615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0C5CB-D723-9C71-DED3-4A0B5331330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2824CF5-EA17-935D-41F8-F7D5CE2D4ED7}"/>
              </a:ext>
            </a:extLst>
          </p:cNvPr>
          <p:cNvSpPr>
            <a:spLocks noGrp="1"/>
          </p:cNvSpPr>
          <p:nvPr>
            <p:ph idx="1"/>
          </p:nvPr>
        </p:nvSpPr>
        <p:spPr/>
        <p:txBody>
          <a:bodyPr>
            <a:normAutofit/>
          </a:bodyPr>
          <a:lstStyle/>
          <a:p>
            <a:r>
              <a:rPr lang="en-US" sz="2400" b="0" i="0" dirty="0">
                <a:solidFill>
                  <a:srgbClr val="000000"/>
                </a:solidFill>
                <a:effectLst/>
              </a:rPr>
              <a:t>The Plan must include three distinct groupings:</a:t>
            </a:r>
          </a:p>
          <a:p>
            <a:r>
              <a:rPr lang="en-US" sz="2400" b="0" i="0" dirty="0">
                <a:solidFill>
                  <a:srgbClr val="000000"/>
                </a:solidFill>
                <a:effectLst/>
              </a:rPr>
              <a:t>Diagnostic Plan: The diagnostic plan includes all the diagnostic workup which the admitting physician feels will be necessary. If the Assessment includes the differential diagnosis, then each must be ruled in or ruled out in the diagnostic plan</a:t>
            </a:r>
            <a:endParaRPr lang="en-US" sz="2400" dirty="0">
              <a:solidFill>
                <a:srgbClr val="000000"/>
              </a:solidFill>
            </a:endParaRPr>
          </a:p>
          <a:p>
            <a:pPr algn="l">
              <a:buFont typeface="+mj-lt"/>
              <a:buAutoNum type="alphaUcPeriod"/>
            </a:pPr>
            <a:r>
              <a:rPr lang="en-US" sz="2400" b="0" i="0" dirty="0">
                <a:solidFill>
                  <a:srgbClr val="000000"/>
                </a:solidFill>
                <a:effectLst/>
              </a:rPr>
              <a:t>Therapeutic Plan: Must detail all initial therapies started and their rationale.</a:t>
            </a:r>
          </a:p>
          <a:p>
            <a:pPr algn="l">
              <a:buFont typeface="+mj-lt"/>
              <a:buAutoNum type="alphaUcPeriod"/>
            </a:pPr>
            <a:r>
              <a:rPr lang="en-US" sz="2400" b="0" i="0" dirty="0">
                <a:solidFill>
                  <a:srgbClr val="000000"/>
                </a:solidFill>
                <a:effectLst/>
              </a:rPr>
              <a:t>Patient Education Plan: Details the initiation of plans to educate the patient of what the problem is and how the patient will deal with it in the future.</a:t>
            </a:r>
          </a:p>
          <a:p>
            <a:endParaRPr lang="en-IN" dirty="0"/>
          </a:p>
        </p:txBody>
      </p:sp>
    </p:spTree>
    <p:extLst>
      <p:ext uri="{BB962C8B-B14F-4D97-AF65-F5344CB8AC3E}">
        <p14:creationId xmlns:p14="http://schemas.microsoft.com/office/powerpoint/2010/main" val="3105223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2F62D-98E6-E3AF-02CE-58C3ED1026AD}"/>
              </a:ext>
            </a:extLst>
          </p:cNvPr>
          <p:cNvSpPr>
            <a:spLocks noGrp="1"/>
          </p:cNvSpPr>
          <p:nvPr>
            <p:ph type="title"/>
          </p:nvPr>
        </p:nvSpPr>
        <p:spPr/>
        <p:txBody>
          <a:bodyPr/>
          <a:lstStyle/>
          <a:p>
            <a:r>
              <a:rPr lang="en-US" sz="4400" b="1" i="0" dirty="0">
                <a:solidFill>
                  <a:srgbClr val="000000"/>
                </a:solidFill>
                <a:effectLst/>
                <a:latin typeface="Arial" panose="020B0604020202020204" pitchFamily="34" charset="0"/>
              </a:rPr>
              <a:t>DAILY PROGRESS NOTES </a:t>
            </a:r>
            <a:br>
              <a:rPr lang="en-US" sz="4400" b="1" i="0" dirty="0">
                <a:solidFill>
                  <a:srgbClr val="000000"/>
                </a:solidFill>
                <a:effectLs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B0BFD840-56CA-F0C6-A4B5-DF7FD697DD74}"/>
              </a:ext>
            </a:extLst>
          </p:cNvPr>
          <p:cNvSpPr>
            <a:spLocks noGrp="1"/>
          </p:cNvSpPr>
          <p:nvPr>
            <p:ph idx="1"/>
          </p:nvPr>
        </p:nvSpPr>
        <p:spPr>
          <a:xfrm>
            <a:off x="749300" y="1244600"/>
            <a:ext cx="10515600" cy="4729163"/>
          </a:xfrm>
        </p:spPr>
        <p:txBody>
          <a:bodyPr>
            <a:normAutofit fontScale="92500" lnSpcReduction="20000"/>
          </a:bodyPr>
          <a:lstStyle/>
          <a:p>
            <a:pPr algn="l"/>
            <a:r>
              <a:rPr lang="en-US" sz="2400" b="0" i="0" dirty="0">
                <a:solidFill>
                  <a:srgbClr val="000000"/>
                </a:solidFill>
                <a:effectLst/>
              </a:rPr>
              <a:t>Many physicians object to the POMR because its use results in lengthy, redundant progress notes. However, when used properly, the POMR does just the opposite and results in notes that are clear, direct, brief and complete. A few helpful hints regarding the progress notes are:</a:t>
            </a:r>
          </a:p>
          <a:p>
            <a:pPr algn="l">
              <a:buFont typeface="+mj-lt"/>
              <a:buAutoNum type="alphaUcPeriod"/>
            </a:pPr>
            <a:r>
              <a:rPr lang="en-US" sz="2400" b="0" i="0" dirty="0">
                <a:solidFill>
                  <a:srgbClr val="000000"/>
                </a:solidFill>
                <a:effectLst/>
              </a:rPr>
              <a:t>A note for each active problem identified need not be written every day. If nothing has changed regarding a particular problem, a note for that problem need not be written. An observer will refer back to the prior day=s note to get a progress report on that particular problem.</a:t>
            </a:r>
          </a:p>
          <a:p>
            <a:pPr algn="l">
              <a:buFont typeface="+mj-lt"/>
              <a:buAutoNum type="alphaUcPeriod"/>
            </a:pPr>
            <a:r>
              <a:rPr lang="en-US" sz="2400" b="0" i="0" dirty="0">
                <a:solidFill>
                  <a:srgbClr val="000000"/>
                </a:solidFill>
                <a:effectLst/>
              </a:rPr>
              <a:t>The S, O, A, or P need not be rewritten if nothing is changed for that particular aspect of the problem.</a:t>
            </a:r>
          </a:p>
          <a:p>
            <a:pPr algn="l">
              <a:buFont typeface="+mj-lt"/>
              <a:buAutoNum type="alphaUcPeriod"/>
            </a:pPr>
            <a:r>
              <a:rPr lang="en-US" sz="2400" b="0" i="0" dirty="0">
                <a:solidFill>
                  <a:srgbClr val="000000"/>
                </a:solidFill>
                <a:effectLst/>
              </a:rPr>
              <a:t>A common error in writing daily progress notes concerns restating the problem under the Assessment in the daily note. </a:t>
            </a:r>
          </a:p>
          <a:p>
            <a:pPr marL="0" indent="0" algn="l">
              <a:buNone/>
            </a:pPr>
            <a:r>
              <a:rPr lang="en-US" sz="2400" b="0" i="0" dirty="0">
                <a:solidFill>
                  <a:srgbClr val="000000"/>
                </a:solidFill>
                <a:effectLst/>
              </a:rPr>
              <a:t>Example: If the problem is congestive heart failure, the Assessment for that particular problem on any day cannot be "congestive heart failure." This is simply a restatement of the problem. However, the physician must give a status report (example - better, worse, or etiology determined) under the assessment.</a:t>
            </a:r>
          </a:p>
          <a:p>
            <a:endParaRPr lang="en-IN" dirty="0"/>
          </a:p>
        </p:txBody>
      </p:sp>
    </p:spTree>
    <p:extLst>
      <p:ext uri="{BB962C8B-B14F-4D97-AF65-F5344CB8AC3E}">
        <p14:creationId xmlns:p14="http://schemas.microsoft.com/office/powerpoint/2010/main" val="3654687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1475D-D453-2498-9524-7ED0ED41638E}"/>
              </a:ext>
            </a:extLst>
          </p:cNvPr>
          <p:cNvSpPr>
            <a:spLocks noGrp="1"/>
          </p:cNvSpPr>
          <p:nvPr>
            <p:ph type="title"/>
          </p:nvPr>
        </p:nvSpPr>
        <p:spPr/>
        <p:txBody>
          <a:bodyPr>
            <a:normAutofit fontScale="90000"/>
          </a:bodyPr>
          <a:lstStyle/>
          <a:p>
            <a:r>
              <a:rPr lang="en-US" sz="4400" b="1" i="0" dirty="0">
                <a:solidFill>
                  <a:srgbClr val="000000"/>
                </a:solidFill>
                <a:effectLst/>
                <a:latin typeface="Arial" panose="020B0604020202020204" pitchFamily="34" charset="0"/>
              </a:rPr>
              <a:t>FINAL PROGRESS NOTE OR DISCHARGE SUMMARY</a:t>
            </a:r>
            <a:br>
              <a:rPr lang="en-US" sz="4400" b="1" i="0" dirty="0">
                <a:solidFill>
                  <a:srgbClr val="000000"/>
                </a:solidFill>
                <a:effectLst/>
                <a:latin typeface="Arial" panose="020B0604020202020204" pitchFamily="34" charset="0"/>
              </a:rPr>
            </a:br>
            <a:endParaRPr lang="en-IN" dirty="0"/>
          </a:p>
        </p:txBody>
      </p:sp>
      <p:sp>
        <p:nvSpPr>
          <p:cNvPr id="3" name="Content Placeholder 2">
            <a:extLst>
              <a:ext uri="{FF2B5EF4-FFF2-40B4-BE49-F238E27FC236}">
                <a16:creationId xmlns:a16="http://schemas.microsoft.com/office/drawing/2014/main" id="{2D6542BB-C74D-42CC-BBC3-45AB7CC75DE9}"/>
              </a:ext>
            </a:extLst>
          </p:cNvPr>
          <p:cNvSpPr>
            <a:spLocks noGrp="1"/>
          </p:cNvSpPr>
          <p:nvPr>
            <p:ph idx="1"/>
          </p:nvPr>
        </p:nvSpPr>
        <p:spPr/>
        <p:txBody>
          <a:bodyPr>
            <a:normAutofit/>
          </a:bodyPr>
          <a:lstStyle/>
          <a:p>
            <a:pPr algn="l"/>
            <a:r>
              <a:rPr lang="en-US" sz="2400" b="0" i="0" dirty="0">
                <a:solidFill>
                  <a:srgbClr val="000000"/>
                </a:solidFill>
                <a:effectLst/>
              </a:rPr>
              <a:t>The final progress note should include all active problems, each defined as to its furthest resolution on the Problem List.</a:t>
            </a:r>
          </a:p>
          <a:p>
            <a:pPr algn="l"/>
            <a:r>
              <a:rPr lang="en-US" sz="2400" b="0" i="0" dirty="0">
                <a:solidFill>
                  <a:srgbClr val="000000"/>
                </a:solidFill>
                <a:effectLst/>
              </a:rPr>
              <a:t>  The Subjective should include a brief review of the course of symptoms.  </a:t>
            </a:r>
          </a:p>
          <a:p>
            <a:pPr algn="l"/>
            <a:r>
              <a:rPr lang="en-US" sz="2400" b="0" i="0" dirty="0">
                <a:solidFill>
                  <a:srgbClr val="000000"/>
                </a:solidFill>
                <a:effectLst/>
              </a:rPr>
              <a:t>The Objective should review the course of objective parameters. </a:t>
            </a:r>
          </a:p>
          <a:p>
            <a:pPr algn="l"/>
            <a:r>
              <a:rPr lang="en-US" sz="2400" b="0" i="0" dirty="0">
                <a:solidFill>
                  <a:srgbClr val="000000"/>
                </a:solidFill>
                <a:effectLst/>
              </a:rPr>
              <a:t> The Assessment and Plan should include the probable course to follow and define end-points as a guide for further therapy. </a:t>
            </a:r>
          </a:p>
          <a:p>
            <a:pPr algn="l"/>
            <a:r>
              <a:rPr lang="en-US" sz="2400" b="0" i="0" dirty="0">
                <a:solidFill>
                  <a:srgbClr val="000000"/>
                </a:solidFill>
                <a:effectLst/>
              </a:rPr>
              <a:t> The emphasis on the final progress note should be the unresolved problems.  </a:t>
            </a:r>
          </a:p>
          <a:p>
            <a:pPr algn="l"/>
            <a:r>
              <a:rPr lang="en-US" sz="2400" b="0" i="0" dirty="0">
                <a:solidFill>
                  <a:srgbClr val="000000"/>
                </a:solidFill>
                <a:effectLst/>
              </a:rPr>
              <a:t>Problems which are resolved can be written up briefly.</a:t>
            </a:r>
          </a:p>
          <a:p>
            <a:endParaRPr lang="en-IN" dirty="0"/>
          </a:p>
        </p:txBody>
      </p:sp>
    </p:spTree>
    <p:extLst>
      <p:ext uri="{BB962C8B-B14F-4D97-AF65-F5344CB8AC3E}">
        <p14:creationId xmlns:p14="http://schemas.microsoft.com/office/powerpoint/2010/main" val="1699650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F665D-CE8B-C1BB-6FE4-8BFC45AD6FB8}"/>
              </a:ext>
            </a:extLst>
          </p:cNvPr>
          <p:cNvSpPr>
            <a:spLocks noGrp="1"/>
          </p:cNvSpPr>
          <p:nvPr>
            <p:ph type="title"/>
          </p:nvPr>
        </p:nvSpPr>
        <p:spPr/>
        <p:txBody>
          <a:bodyPr/>
          <a:lstStyle/>
          <a:p>
            <a:r>
              <a:rPr lang="en-IN" dirty="0"/>
              <a:t>ADVANTAGES </a:t>
            </a:r>
          </a:p>
        </p:txBody>
      </p:sp>
      <p:sp>
        <p:nvSpPr>
          <p:cNvPr id="3" name="Content Placeholder 2">
            <a:extLst>
              <a:ext uri="{FF2B5EF4-FFF2-40B4-BE49-F238E27FC236}">
                <a16:creationId xmlns:a16="http://schemas.microsoft.com/office/drawing/2014/main" id="{8D8213DE-D259-B133-1127-DC43871EDC91}"/>
              </a:ext>
            </a:extLst>
          </p:cNvPr>
          <p:cNvSpPr>
            <a:spLocks noGrp="1"/>
          </p:cNvSpPr>
          <p:nvPr>
            <p:ph idx="1"/>
          </p:nvPr>
        </p:nvSpPr>
        <p:spPr/>
        <p:txBody>
          <a:bodyPr/>
          <a:lstStyle/>
          <a:p>
            <a:r>
              <a:rPr lang="en-US" b="0" i="1" dirty="0">
                <a:solidFill>
                  <a:srgbClr val="020621"/>
                </a:solidFill>
                <a:effectLst/>
              </a:rPr>
              <a:t>POMR</a:t>
            </a:r>
            <a:r>
              <a:rPr lang="en-US" b="0" i="0" dirty="0">
                <a:solidFill>
                  <a:srgbClr val="020621"/>
                </a:solidFill>
                <a:effectLst/>
              </a:rPr>
              <a:t> information systems provide a better organization of patients’ information but unsuitable mechanisms to perform other basic issues </a:t>
            </a:r>
          </a:p>
          <a:p>
            <a:r>
              <a:rPr lang="en-US" b="0" i="0" dirty="0">
                <a:solidFill>
                  <a:srgbClr val="040C28"/>
                </a:solidFill>
                <a:effectLst/>
                <a:latin typeface="Google Sans"/>
              </a:rPr>
              <a:t>Improved communication among care team members; Healthcare team works together in identifying a list of patients’ problems and contributes collaboratively to the plan of care</a:t>
            </a:r>
            <a:r>
              <a:rPr lang="en-US" b="0" i="0" dirty="0">
                <a:solidFill>
                  <a:srgbClr val="4D5156"/>
                </a:solidFill>
                <a:effectLst/>
                <a:latin typeface="Google Sans"/>
              </a:rPr>
              <a:t>.</a:t>
            </a:r>
            <a:endParaRPr lang="en-US" b="0" i="0" dirty="0">
              <a:solidFill>
                <a:srgbClr val="040C28"/>
              </a:solidFill>
              <a:effectLst/>
              <a:latin typeface="Google Sans"/>
            </a:endParaRPr>
          </a:p>
          <a:p>
            <a:r>
              <a:rPr lang="en-US" b="0" i="0" dirty="0">
                <a:solidFill>
                  <a:srgbClr val="040C28"/>
                </a:solidFill>
                <a:effectLst/>
                <a:latin typeface="Google Sans"/>
              </a:rPr>
              <a:t>better coordination of care; and improved patient outcomes</a:t>
            </a:r>
            <a:r>
              <a:rPr lang="en-US" b="0" i="0" dirty="0">
                <a:solidFill>
                  <a:srgbClr val="4D5156"/>
                </a:solidFill>
                <a:effectLst/>
                <a:latin typeface="Google Sans"/>
              </a:rPr>
              <a:t>.</a:t>
            </a:r>
            <a:endParaRPr lang="en-IN" dirty="0"/>
          </a:p>
        </p:txBody>
      </p:sp>
    </p:spTree>
    <p:extLst>
      <p:ext uri="{BB962C8B-B14F-4D97-AF65-F5344CB8AC3E}">
        <p14:creationId xmlns:p14="http://schemas.microsoft.com/office/powerpoint/2010/main" val="977443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E36E5-28C0-5D4E-C6E6-A8BA66266592}"/>
              </a:ext>
            </a:extLst>
          </p:cNvPr>
          <p:cNvSpPr>
            <a:spLocks noGrp="1"/>
          </p:cNvSpPr>
          <p:nvPr>
            <p:ph type="title"/>
          </p:nvPr>
        </p:nvSpPr>
        <p:spPr/>
        <p:txBody>
          <a:bodyPr/>
          <a:lstStyle/>
          <a:p>
            <a:r>
              <a:rPr lang="en-IN" dirty="0"/>
              <a:t>DISADVANTAGES </a:t>
            </a:r>
          </a:p>
        </p:txBody>
      </p:sp>
      <p:sp>
        <p:nvSpPr>
          <p:cNvPr id="3" name="Content Placeholder 2">
            <a:extLst>
              <a:ext uri="{FF2B5EF4-FFF2-40B4-BE49-F238E27FC236}">
                <a16:creationId xmlns:a16="http://schemas.microsoft.com/office/drawing/2014/main" id="{F4DD1BC9-64F6-F7E8-220A-8FBF4D691DA2}"/>
              </a:ext>
            </a:extLst>
          </p:cNvPr>
          <p:cNvSpPr>
            <a:spLocks noGrp="1"/>
          </p:cNvSpPr>
          <p:nvPr>
            <p:ph idx="1"/>
          </p:nvPr>
        </p:nvSpPr>
        <p:spPr/>
        <p:txBody>
          <a:bodyPr/>
          <a:lstStyle/>
          <a:p>
            <a:r>
              <a:rPr lang="en-US" b="0" i="0" dirty="0">
                <a:solidFill>
                  <a:srgbClr val="4D5156"/>
                </a:solidFill>
                <a:effectLst/>
                <a:latin typeface="Google Sans"/>
              </a:rPr>
              <a:t>Healthcare providers understand the system quickly. However, they find it </a:t>
            </a:r>
            <a:r>
              <a:rPr lang="en-US" b="0" i="0" dirty="0">
                <a:solidFill>
                  <a:srgbClr val="040C28"/>
                </a:solidFill>
                <a:effectLst/>
                <a:latin typeface="Google Sans"/>
              </a:rPr>
              <a:t>too complex to maintain after entries are made</a:t>
            </a:r>
            <a:r>
              <a:rPr lang="en-US" b="0" i="0" dirty="0">
                <a:solidFill>
                  <a:srgbClr val="4D5156"/>
                </a:solidFill>
                <a:effectLst/>
                <a:latin typeface="Google Sans"/>
              </a:rPr>
              <a:t>. Several problems may be discussed by patients in a single medical encounter.</a:t>
            </a:r>
          </a:p>
          <a:p>
            <a:r>
              <a:rPr lang="en-US" b="0" i="0" dirty="0">
                <a:solidFill>
                  <a:srgbClr val="040C28"/>
                </a:solidFill>
                <a:effectLst/>
                <a:latin typeface="Google Sans"/>
              </a:rPr>
              <a:t>it is too cumbersome, inhibits data synthesis, results in lengthy progress notes</a:t>
            </a:r>
            <a:r>
              <a:rPr lang="en-US" b="0" i="0" dirty="0">
                <a:solidFill>
                  <a:srgbClr val="4D5156"/>
                </a:solidFill>
                <a:effectLst/>
                <a:latin typeface="Google Sans"/>
              </a:rPr>
              <a:t>, etc.</a:t>
            </a:r>
            <a:endParaRPr lang="en-IN" dirty="0"/>
          </a:p>
        </p:txBody>
      </p:sp>
    </p:spTree>
    <p:extLst>
      <p:ext uri="{BB962C8B-B14F-4D97-AF65-F5344CB8AC3E}">
        <p14:creationId xmlns:p14="http://schemas.microsoft.com/office/powerpoint/2010/main" val="18327317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51</TotalTime>
  <Words>1231</Words>
  <Application>Microsoft Office PowerPoint</Application>
  <PresentationFormat>Widescreen</PresentationFormat>
  <Paragraphs>87</Paragraphs>
  <Slides>12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f37-ginger-bold</vt:lpstr>
      <vt:lpstr>f37-ginger-light</vt:lpstr>
      <vt:lpstr>Google Sans</vt:lpstr>
      <vt:lpstr>Tw Cen MT</vt:lpstr>
      <vt:lpstr>Tw Cen MT Condensed</vt:lpstr>
      <vt:lpstr>Wingdings 3</vt:lpstr>
      <vt:lpstr>Integral</vt:lpstr>
      <vt:lpstr>Problem Oriented Medical Record </vt:lpstr>
      <vt:lpstr>What is POMR</vt:lpstr>
      <vt:lpstr>Phases of POMR </vt:lpstr>
      <vt:lpstr>The basic components of the POMR are</vt:lpstr>
      <vt:lpstr>PowerPoint Presentation</vt:lpstr>
      <vt:lpstr>EXAMPLE </vt:lpstr>
      <vt:lpstr>SOAP</vt:lpstr>
      <vt:lpstr>PowerPoint Presentation</vt:lpstr>
      <vt:lpstr>DAILY PROGRESS NOTES  </vt:lpstr>
      <vt:lpstr>FINAL PROGRESS NOTE OR DISCHARGE SUMMARY </vt:lpstr>
      <vt:lpstr>ADVANTAGES </vt:lpstr>
      <vt:lpstr>DISADVANTAGES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Oriented Medical Record </dc:title>
  <dc:creator>debjani mukherjee</dc:creator>
  <cp:lastModifiedBy>debjani mukherjee</cp:lastModifiedBy>
  <cp:revision>3</cp:revision>
  <dcterms:created xsi:type="dcterms:W3CDTF">2023-07-28T05:55:20Z</dcterms:created>
  <dcterms:modified xsi:type="dcterms:W3CDTF">2023-07-28T06:46:31Z</dcterms:modified>
</cp:coreProperties>
</file>