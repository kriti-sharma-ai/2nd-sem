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sldIdLst>
    <p:sldId id="256" r:id="rId2"/>
    <p:sldId id="257" r:id="rId3"/>
    <p:sldId id="259" r:id="rId4"/>
    <p:sldId id="260" r:id="rId5"/>
    <p:sldId id="262" r:id="rId6"/>
    <p:sldId id="264" r:id="rId7"/>
    <p:sldId id="258"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4/5/2020</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4/5/2020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4/5/2020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4/5/2020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4/5/2020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4/5/2020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4/5/2020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4/5/2020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4/5/2020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4/5/2020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4/5/2020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4/5/2020</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Records_life_cycle" TargetMode="External"/><Relationship Id="rId2" Type="http://schemas.openxmlformats.org/officeDocument/2006/relationships/hyperlink" Target="https://en.wikipedia.org/wiki/Records_managemen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88534-E7F3-485A-ACD9-327B2018DE71}"/>
              </a:ext>
            </a:extLst>
          </p:cNvPr>
          <p:cNvSpPr>
            <a:spLocks noGrp="1"/>
          </p:cNvSpPr>
          <p:nvPr>
            <p:ph type="ctrTitle"/>
          </p:nvPr>
        </p:nvSpPr>
        <p:spPr/>
        <p:txBody>
          <a:bodyPr/>
          <a:lstStyle/>
          <a:p>
            <a:r>
              <a:rPr lang="en-IN" dirty="0"/>
              <a:t>RETENTION &amp; PRESERVATION OF MRD</a:t>
            </a:r>
          </a:p>
        </p:txBody>
      </p:sp>
      <p:sp>
        <p:nvSpPr>
          <p:cNvPr id="3" name="Subtitle 2">
            <a:extLst>
              <a:ext uri="{FF2B5EF4-FFF2-40B4-BE49-F238E27FC236}">
                <a16:creationId xmlns:a16="http://schemas.microsoft.com/office/drawing/2014/main" id="{3B9B69B1-6CCC-4036-9FB1-C0599EBB05C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51166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2D0BE-D063-4A0B-B77E-86D7A08C156E}"/>
              </a:ext>
            </a:extLst>
          </p:cNvPr>
          <p:cNvSpPr>
            <a:spLocks noGrp="1"/>
          </p:cNvSpPr>
          <p:nvPr>
            <p:ph type="title"/>
          </p:nvPr>
        </p:nvSpPr>
        <p:spPr>
          <a:xfrm>
            <a:off x="706581" y="609600"/>
            <a:ext cx="10848109" cy="775855"/>
          </a:xfrm>
        </p:spPr>
        <p:style>
          <a:lnRef idx="3">
            <a:schemeClr val="lt1"/>
          </a:lnRef>
          <a:fillRef idx="1">
            <a:schemeClr val="accent2"/>
          </a:fillRef>
          <a:effectRef idx="1">
            <a:schemeClr val="accent2"/>
          </a:effectRef>
          <a:fontRef idx="minor">
            <a:schemeClr val="lt1"/>
          </a:fontRef>
        </p:style>
        <p:txBody>
          <a:bodyPr/>
          <a:lstStyle/>
          <a:p>
            <a:r>
              <a:rPr lang="en-IN" dirty="0"/>
              <a:t>RETENTION OF MRD</a:t>
            </a:r>
          </a:p>
        </p:txBody>
      </p:sp>
      <p:sp>
        <p:nvSpPr>
          <p:cNvPr id="3" name="Content Placeholder 2">
            <a:extLst>
              <a:ext uri="{FF2B5EF4-FFF2-40B4-BE49-F238E27FC236}">
                <a16:creationId xmlns:a16="http://schemas.microsoft.com/office/drawing/2014/main" id="{899389D0-22AB-4942-93D5-9BEFC2206926}"/>
              </a:ext>
            </a:extLst>
          </p:cNvPr>
          <p:cNvSpPr>
            <a:spLocks noGrp="1"/>
          </p:cNvSpPr>
          <p:nvPr>
            <p:ph idx="1"/>
          </p:nvPr>
        </p:nvSpPr>
        <p:spPr>
          <a:xfrm>
            <a:off x="737062" y="1385456"/>
            <a:ext cx="10817627" cy="5264726"/>
          </a:xfrm>
          <a:solidFill>
            <a:schemeClr val="bg2"/>
          </a:solidFill>
        </p:spPr>
        <p:style>
          <a:lnRef idx="1">
            <a:schemeClr val="dk1"/>
          </a:lnRef>
          <a:fillRef idx="2">
            <a:schemeClr val="dk1"/>
          </a:fillRef>
          <a:effectRef idx="1">
            <a:schemeClr val="dk1"/>
          </a:effectRef>
          <a:fontRef idx="minor">
            <a:schemeClr val="dk1"/>
          </a:fontRef>
        </p:style>
        <p:txBody>
          <a:bodyPr>
            <a:normAutofit fontScale="92500" lnSpcReduction="10000"/>
          </a:bodyPr>
          <a:lstStyle/>
          <a:p>
            <a:pPr algn="just"/>
            <a:r>
              <a:rPr lang="en-US" sz="2400" dirty="0">
                <a:solidFill>
                  <a:schemeClr val="tx1"/>
                </a:solidFill>
                <a:latin typeface="Arial" panose="020B0604020202020204" pitchFamily="34" charset="0"/>
                <a:cs typeface="Arial" panose="020B0604020202020204" pitchFamily="34" charset="0"/>
              </a:rPr>
              <a:t>A </a:t>
            </a:r>
            <a:r>
              <a:rPr lang="en-US" sz="2400" b="1" dirty="0">
                <a:solidFill>
                  <a:schemeClr val="tx1"/>
                </a:solidFill>
                <a:latin typeface="Arial" panose="020B0604020202020204" pitchFamily="34" charset="0"/>
                <a:cs typeface="Arial" panose="020B0604020202020204" pitchFamily="34" charset="0"/>
              </a:rPr>
              <a:t>retention period</a:t>
            </a:r>
            <a:r>
              <a:rPr lang="en-US" sz="2400" dirty="0">
                <a:solidFill>
                  <a:schemeClr val="tx1"/>
                </a:solidFill>
                <a:latin typeface="Arial" panose="020B0604020202020204" pitchFamily="34" charset="0"/>
                <a:cs typeface="Arial" panose="020B0604020202020204" pitchFamily="34" charset="0"/>
              </a:rPr>
              <a:t> (associated with a </a:t>
            </a:r>
            <a:r>
              <a:rPr lang="en-US" sz="2400" b="1" dirty="0">
                <a:solidFill>
                  <a:schemeClr val="tx1"/>
                </a:solidFill>
                <a:latin typeface="Arial" panose="020B0604020202020204" pitchFamily="34" charset="0"/>
                <a:cs typeface="Arial" panose="020B0604020202020204" pitchFamily="34" charset="0"/>
              </a:rPr>
              <a:t>retention schedule</a:t>
            </a:r>
            <a:r>
              <a:rPr lang="en-US" sz="2400" dirty="0">
                <a:solidFill>
                  <a:schemeClr val="tx1"/>
                </a:solidFill>
                <a:latin typeface="Arial" panose="020B0604020202020204" pitchFamily="34" charset="0"/>
                <a:cs typeface="Arial" panose="020B0604020202020204" pitchFamily="34" charset="0"/>
              </a:rPr>
              <a:t> or </a:t>
            </a:r>
            <a:r>
              <a:rPr lang="en-US" sz="2400" b="1" dirty="0">
                <a:solidFill>
                  <a:schemeClr val="tx1"/>
                </a:solidFill>
                <a:latin typeface="Arial" panose="020B0604020202020204" pitchFamily="34" charset="0"/>
                <a:cs typeface="Arial" panose="020B0604020202020204" pitchFamily="34" charset="0"/>
              </a:rPr>
              <a:t>retention program</a:t>
            </a:r>
            <a:r>
              <a:rPr lang="en-US" sz="2400" dirty="0">
                <a:solidFill>
                  <a:schemeClr val="tx1"/>
                </a:solidFill>
                <a:latin typeface="Arial" panose="020B0604020202020204" pitchFamily="34" charset="0"/>
                <a:cs typeface="Arial" panose="020B0604020202020204" pitchFamily="34" charset="0"/>
              </a:rPr>
              <a:t>) is an aspect of </a:t>
            </a:r>
            <a:r>
              <a:rPr lang="en-US" sz="2400" dirty="0">
                <a:solidFill>
                  <a:schemeClr val="tx1"/>
                </a:solidFill>
                <a:latin typeface="Arial" panose="020B0604020202020204" pitchFamily="34" charset="0"/>
                <a:cs typeface="Arial" panose="020B0604020202020204" pitchFamily="34" charset="0"/>
                <a:hlinkClick r:id="rId2" tooltip="Records management">
                  <a:extLst>
                    <a:ext uri="{A12FA001-AC4F-418D-AE19-62706E023703}">
                      <ahyp:hlinkClr xmlns:ahyp="http://schemas.microsoft.com/office/drawing/2018/hyperlinkcolor" val="tx"/>
                    </a:ext>
                  </a:extLst>
                </a:hlinkClick>
              </a:rPr>
              <a:t>records and information management</a:t>
            </a:r>
            <a:r>
              <a:rPr lang="en-US" sz="2400" dirty="0">
                <a:solidFill>
                  <a:schemeClr val="tx1"/>
                </a:solidFill>
                <a:latin typeface="Arial" panose="020B0604020202020204" pitchFamily="34" charset="0"/>
                <a:cs typeface="Arial" panose="020B0604020202020204" pitchFamily="34" charset="0"/>
              </a:rPr>
              <a:t> (RIM) </a:t>
            </a:r>
          </a:p>
          <a:p>
            <a:pPr algn="just"/>
            <a:r>
              <a:rPr lang="en-US" sz="2400" dirty="0">
                <a:solidFill>
                  <a:schemeClr val="tx1"/>
                </a:solidFill>
                <a:latin typeface="Arial" panose="020B0604020202020204" pitchFamily="34" charset="0"/>
                <a:cs typeface="Arial" panose="020B0604020202020204" pitchFamily="34" charset="0"/>
              </a:rPr>
              <a:t> The </a:t>
            </a:r>
            <a:r>
              <a:rPr lang="en-US" sz="2400" dirty="0">
                <a:solidFill>
                  <a:schemeClr val="tx1"/>
                </a:solidFill>
                <a:latin typeface="Arial" panose="020B0604020202020204" pitchFamily="34" charset="0"/>
                <a:cs typeface="Arial" panose="020B0604020202020204" pitchFamily="34" charset="0"/>
                <a:hlinkClick r:id="rId3" tooltip="Records life cycle">
                  <a:extLst>
                    <a:ext uri="{A12FA001-AC4F-418D-AE19-62706E023703}">
                      <ahyp:hlinkClr xmlns:ahyp="http://schemas.microsoft.com/office/drawing/2018/hyperlinkcolor" val="tx"/>
                    </a:ext>
                  </a:extLst>
                </a:hlinkClick>
              </a:rPr>
              <a:t>records life cycle</a:t>
            </a:r>
            <a:r>
              <a:rPr lang="en-US" sz="2400" dirty="0">
                <a:solidFill>
                  <a:schemeClr val="tx1"/>
                </a:solidFill>
                <a:latin typeface="Arial" panose="020B0604020202020204" pitchFamily="34" charset="0"/>
                <a:cs typeface="Arial" panose="020B0604020202020204" pitchFamily="34" charset="0"/>
              </a:rPr>
              <a:t> that identifies the duration of time for which the information should be maintained or "retained," irrespective of format (paper, electronic, or other). </a:t>
            </a:r>
          </a:p>
          <a:p>
            <a:pPr algn="just"/>
            <a:r>
              <a:rPr lang="en-US" sz="2400" dirty="0">
                <a:solidFill>
                  <a:schemeClr val="tx1"/>
                </a:solidFill>
                <a:latin typeface="Arial" panose="020B0604020202020204" pitchFamily="34" charset="0"/>
                <a:cs typeface="Arial" panose="020B0604020202020204" pitchFamily="34" charset="0"/>
              </a:rPr>
              <a:t>Retention periods vary with different types of information, based on content and a variety of other factors, including</a:t>
            </a:r>
          </a:p>
          <a:p>
            <a:pPr marL="502920" indent="-457200" algn="just">
              <a:buFont typeface="+mj-lt"/>
              <a:buAutoNum type="arabicPeriod"/>
            </a:pPr>
            <a:r>
              <a:rPr lang="en-US" sz="2400" dirty="0">
                <a:solidFill>
                  <a:schemeClr val="tx1"/>
                </a:solidFill>
                <a:latin typeface="Arial" panose="020B0604020202020204" pitchFamily="34" charset="0"/>
                <a:cs typeface="Arial" panose="020B0604020202020204" pitchFamily="34" charset="0"/>
              </a:rPr>
              <a:t> internal organizational need,</a:t>
            </a:r>
          </a:p>
          <a:p>
            <a:pPr marL="502920" indent="-457200" algn="just">
              <a:buFont typeface="+mj-lt"/>
              <a:buAutoNum type="arabicPeriod"/>
            </a:pPr>
            <a:r>
              <a:rPr lang="en-US" sz="2400" dirty="0">
                <a:solidFill>
                  <a:schemeClr val="tx1"/>
                </a:solidFill>
                <a:latin typeface="Arial" panose="020B0604020202020204" pitchFamily="34" charset="0"/>
                <a:cs typeface="Arial" panose="020B0604020202020204" pitchFamily="34" charset="0"/>
              </a:rPr>
              <a:t> regulatory requirements for inspection or audit,</a:t>
            </a:r>
          </a:p>
          <a:p>
            <a:pPr marL="502920" indent="-457200" algn="just">
              <a:buFont typeface="+mj-lt"/>
              <a:buAutoNum type="arabicPeriod"/>
            </a:pPr>
            <a:r>
              <a:rPr lang="en-US" sz="2400" dirty="0">
                <a:solidFill>
                  <a:schemeClr val="tx1"/>
                </a:solidFill>
                <a:latin typeface="Arial" panose="020B0604020202020204" pitchFamily="34" charset="0"/>
                <a:cs typeface="Arial" panose="020B0604020202020204" pitchFamily="34" charset="0"/>
              </a:rPr>
              <a:t> legal statutes of limitation, </a:t>
            </a:r>
          </a:p>
          <a:p>
            <a:pPr marL="502920" indent="-457200" algn="just">
              <a:buFont typeface="+mj-lt"/>
              <a:buAutoNum type="arabicPeriod"/>
            </a:pPr>
            <a:r>
              <a:rPr lang="en-US" sz="2400" dirty="0">
                <a:solidFill>
                  <a:schemeClr val="tx1"/>
                </a:solidFill>
                <a:latin typeface="Arial" panose="020B0604020202020204" pitchFamily="34" charset="0"/>
                <a:cs typeface="Arial" panose="020B0604020202020204" pitchFamily="34" charset="0"/>
              </a:rPr>
              <a:t>involvement in litigation, and</a:t>
            </a:r>
          </a:p>
          <a:p>
            <a:pPr marL="502920" indent="-457200" algn="just">
              <a:buFont typeface="+mj-lt"/>
              <a:buAutoNum type="arabicPeriod"/>
            </a:pPr>
            <a:r>
              <a:rPr lang="en-US" sz="2400" dirty="0">
                <a:solidFill>
                  <a:schemeClr val="tx1"/>
                </a:solidFill>
                <a:latin typeface="Arial" panose="020B0604020202020204" pitchFamily="34" charset="0"/>
                <a:cs typeface="Arial" panose="020B0604020202020204" pitchFamily="34" charset="0"/>
              </a:rPr>
              <a:t> taxation and </a:t>
            </a:r>
          </a:p>
          <a:p>
            <a:pPr marL="502920" indent="-457200" algn="just">
              <a:buFont typeface="+mj-lt"/>
              <a:buAutoNum type="arabicPeriod"/>
            </a:pPr>
            <a:r>
              <a:rPr lang="en-US" sz="2400" dirty="0">
                <a:solidFill>
                  <a:schemeClr val="tx1"/>
                </a:solidFill>
                <a:latin typeface="Arial" panose="020B0604020202020204" pitchFamily="34" charset="0"/>
                <a:cs typeface="Arial" panose="020B0604020202020204" pitchFamily="34" charset="0"/>
              </a:rPr>
              <a:t>financial reporting needs,</a:t>
            </a:r>
            <a:endParaRPr lang="en-IN" sz="2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9015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6A3B2B-E8C5-4004-AB30-2ED2D3651421}"/>
              </a:ext>
            </a:extLst>
          </p:cNvPr>
          <p:cNvSpPr>
            <a:spLocks noGrp="1"/>
          </p:cNvSpPr>
          <p:nvPr>
            <p:ph idx="1"/>
          </p:nvPr>
        </p:nvSpPr>
        <p:spPr>
          <a:xfrm>
            <a:off x="568037" y="512618"/>
            <a:ext cx="11055926" cy="5832764"/>
          </a:xfrm>
          <a:solidFill>
            <a:schemeClr val="bg1">
              <a:lumMod val="95000"/>
            </a:schemeClr>
          </a:solidFill>
        </p:spPr>
        <p:style>
          <a:lnRef idx="1">
            <a:schemeClr val="dk1"/>
          </a:lnRef>
          <a:fillRef idx="2">
            <a:schemeClr val="dk1"/>
          </a:fillRef>
          <a:effectRef idx="1">
            <a:schemeClr val="dk1"/>
          </a:effectRef>
          <a:fontRef idx="minor">
            <a:schemeClr val="dk1"/>
          </a:fontRef>
        </p:style>
        <p:txBody>
          <a:bodyPr>
            <a:normAutofit/>
          </a:bodyPr>
          <a:lstStyle/>
          <a:p>
            <a:r>
              <a:rPr lang="en-IN" dirty="0">
                <a:solidFill>
                  <a:schemeClr val="tx1"/>
                </a:solidFill>
                <a:latin typeface="Arial" panose="020B0604020202020204" pitchFamily="34" charset="0"/>
                <a:cs typeface="Arial" panose="020B0604020202020204" pitchFamily="34" charset="0"/>
              </a:rPr>
              <a:t>As long as information is retained, it is subject to use and abuse .</a:t>
            </a:r>
          </a:p>
          <a:p>
            <a:r>
              <a:rPr lang="en-IN" dirty="0">
                <a:solidFill>
                  <a:schemeClr val="tx1"/>
                </a:solidFill>
                <a:latin typeface="Arial" panose="020B0604020202020204" pitchFamily="34" charset="0"/>
                <a:cs typeface="Arial" panose="020B0604020202020204" pitchFamily="34" charset="0"/>
              </a:rPr>
              <a:t>The prudent facility holding health information will recognize the link between retention schedules and confidentiality of information .</a:t>
            </a:r>
          </a:p>
          <a:p>
            <a:r>
              <a:rPr lang="en-IN" dirty="0">
                <a:solidFill>
                  <a:schemeClr val="tx1"/>
                </a:solidFill>
                <a:latin typeface="Arial" panose="020B0604020202020204" pitchFamily="34" charset="0"/>
                <a:cs typeface="Arial" panose="020B0604020202020204" pitchFamily="34" charset="0"/>
              </a:rPr>
              <a:t>All facilities should establish a retention schedule that first takes into account mandatory state statutes, beyond those standards, or in their absence the retention schedules should be developed depending on practical situation.</a:t>
            </a:r>
          </a:p>
          <a:p>
            <a:r>
              <a:rPr lang="en-IN" dirty="0">
                <a:solidFill>
                  <a:schemeClr val="tx1"/>
                </a:solidFill>
                <a:latin typeface="Arial" panose="020B0604020202020204" pitchFamily="34" charset="0"/>
                <a:cs typeface="Arial" panose="020B0604020202020204" pitchFamily="34" charset="0"/>
              </a:rPr>
              <a:t>Because of pressure on space for filling of medical records, a medical records officer has to plan carefully the retention of medical records.</a:t>
            </a:r>
          </a:p>
          <a:p>
            <a:r>
              <a:rPr lang="en-IN" dirty="0">
                <a:solidFill>
                  <a:schemeClr val="tx1"/>
                </a:solidFill>
                <a:latin typeface="Arial" panose="020B0604020202020204" pitchFamily="34" charset="0"/>
                <a:cs typeface="Arial" panose="020B0604020202020204" pitchFamily="34" charset="0"/>
              </a:rPr>
              <a:t>Medical records officer should study the needs of his particular hospital and determine whether medical records, indexes, registers and reports are being used often enough to warrant the cost of acquisition of additional space or cost of </a:t>
            </a:r>
            <a:r>
              <a:rPr lang="en-IN" dirty="0" err="1">
                <a:solidFill>
                  <a:schemeClr val="tx1"/>
                </a:solidFill>
                <a:latin typeface="Arial" panose="020B0604020202020204" pitchFamily="34" charset="0"/>
                <a:cs typeface="Arial" panose="020B0604020202020204" pitchFamily="34" charset="0"/>
              </a:rPr>
              <a:t>miocrofilming</a:t>
            </a:r>
            <a:r>
              <a:rPr lang="en-IN" dirty="0">
                <a:solidFill>
                  <a:schemeClr val="tx1"/>
                </a:solidFill>
                <a:latin typeface="Arial" panose="020B0604020202020204" pitchFamily="34" charset="0"/>
                <a:cs typeface="Arial" panose="020B0604020202020204" pitchFamily="34" charset="0"/>
              </a:rPr>
              <a:t> or whether retention schedules should be established in certain instance and some records destroyed after their period of usefulness has passed  .</a:t>
            </a:r>
          </a:p>
        </p:txBody>
      </p:sp>
    </p:spTree>
    <p:extLst>
      <p:ext uri="{BB962C8B-B14F-4D97-AF65-F5344CB8AC3E}">
        <p14:creationId xmlns:p14="http://schemas.microsoft.com/office/powerpoint/2010/main" val="825218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F8F1B1-C936-4DCC-B90F-9EB559C30E34}"/>
              </a:ext>
            </a:extLst>
          </p:cNvPr>
          <p:cNvSpPr>
            <a:spLocks noGrp="1"/>
          </p:cNvSpPr>
          <p:nvPr>
            <p:ph type="title"/>
          </p:nvPr>
        </p:nvSpPr>
        <p:spPr>
          <a:xfrm>
            <a:off x="554182" y="346364"/>
            <a:ext cx="11000509" cy="775855"/>
          </a:xfrm>
        </p:spPr>
        <p:style>
          <a:lnRef idx="2">
            <a:schemeClr val="accent2">
              <a:shade val="50000"/>
            </a:schemeClr>
          </a:lnRef>
          <a:fillRef idx="1">
            <a:schemeClr val="accent2"/>
          </a:fillRef>
          <a:effectRef idx="0">
            <a:schemeClr val="accent2"/>
          </a:effectRef>
          <a:fontRef idx="minor">
            <a:schemeClr val="lt1"/>
          </a:fontRef>
        </p:style>
        <p:txBody>
          <a:bodyPr/>
          <a:lstStyle/>
          <a:p>
            <a:r>
              <a:rPr lang="en-IN" dirty="0"/>
              <a:t>MEDICAL RECORD RETENTION SCHEDULE </a:t>
            </a:r>
          </a:p>
        </p:txBody>
      </p:sp>
      <p:graphicFrame>
        <p:nvGraphicFramePr>
          <p:cNvPr id="6" name="Table 6">
            <a:extLst>
              <a:ext uri="{FF2B5EF4-FFF2-40B4-BE49-F238E27FC236}">
                <a16:creationId xmlns:a16="http://schemas.microsoft.com/office/drawing/2014/main" id="{F594860A-6BE6-4E62-8DBA-3786024EFCBB}"/>
              </a:ext>
            </a:extLst>
          </p:cNvPr>
          <p:cNvGraphicFramePr>
            <a:graphicFrameLocks noGrp="1"/>
          </p:cNvGraphicFramePr>
          <p:nvPr>
            <p:ph idx="1"/>
            <p:extLst>
              <p:ext uri="{D42A27DB-BD31-4B8C-83A1-F6EECF244321}">
                <p14:modId xmlns:p14="http://schemas.microsoft.com/office/powerpoint/2010/main" val="3098664025"/>
              </p:ext>
            </p:extLst>
          </p:nvPr>
        </p:nvGraphicFramePr>
        <p:xfrm>
          <a:off x="623454" y="1208116"/>
          <a:ext cx="10861964" cy="5303520"/>
        </p:xfrm>
        <a:graphic>
          <a:graphicData uri="http://schemas.openxmlformats.org/drawingml/2006/table">
            <a:tbl>
              <a:tblPr firstRow="1" bandRow="1">
                <a:tableStyleId>{5C22544A-7EE6-4342-B048-85BDC9FD1C3A}</a:tableStyleId>
              </a:tblPr>
              <a:tblGrid>
                <a:gridCol w="2549237">
                  <a:extLst>
                    <a:ext uri="{9D8B030D-6E8A-4147-A177-3AD203B41FA5}">
                      <a16:colId xmlns:a16="http://schemas.microsoft.com/office/drawing/2014/main" val="4106356956"/>
                    </a:ext>
                  </a:extLst>
                </a:gridCol>
                <a:gridCol w="2576945">
                  <a:extLst>
                    <a:ext uri="{9D8B030D-6E8A-4147-A177-3AD203B41FA5}">
                      <a16:colId xmlns:a16="http://schemas.microsoft.com/office/drawing/2014/main" val="511293435"/>
                    </a:ext>
                  </a:extLst>
                </a:gridCol>
                <a:gridCol w="2964873">
                  <a:extLst>
                    <a:ext uri="{9D8B030D-6E8A-4147-A177-3AD203B41FA5}">
                      <a16:colId xmlns:a16="http://schemas.microsoft.com/office/drawing/2014/main" val="4198447779"/>
                    </a:ext>
                  </a:extLst>
                </a:gridCol>
                <a:gridCol w="2770909">
                  <a:extLst>
                    <a:ext uri="{9D8B030D-6E8A-4147-A177-3AD203B41FA5}">
                      <a16:colId xmlns:a16="http://schemas.microsoft.com/office/drawing/2014/main" val="2286930550"/>
                    </a:ext>
                  </a:extLst>
                </a:gridCol>
              </a:tblGrid>
              <a:tr h="1142761">
                <a:tc>
                  <a:txBody>
                    <a:bodyPr/>
                    <a:lstStyle/>
                    <a:p>
                      <a:r>
                        <a:rPr lang="en-IN" dirty="0"/>
                        <a:t>NAME OF MEDICAL RECORD </a:t>
                      </a:r>
                    </a:p>
                  </a:txBody>
                  <a:tcPr/>
                </a:tc>
                <a:tc>
                  <a:txBody>
                    <a:bodyPr/>
                    <a:lstStyle/>
                    <a:p>
                      <a:r>
                        <a:rPr lang="en-IN" dirty="0"/>
                        <a:t>RETENTION IN ORIGINAL FROM (IN YRS)</a:t>
                      </a:r>
                    </a:p>
                  </a:txBody>
                  <a:tcPr/>
                </a:tc>
                <a:tc>
                  <a:txBody>
                    <a:bodyPr/>
                    <a:lstStyle/>
                    <a:p>
                      <a:r>
                        <a:rPr lang="en-IN" dirty="0"/>
                        <a:t>EFFECTIVE FROM THE DATE </a:t>
                      </a:r>
                    </a:p>
                  </a:txBody>
                  <a:tcPr/>
                </a:tc>
                <a:tc>
                  <a:txBody>
                    <a:bodyPr/>
                    <a:lstStyle/>
                    <a:p>
                      <a:r>
                        <a:rPr lang="en-IN" dirty="0"/>
                        <a:t>PERMANENT RETENTION IN MICROFLIM COMPUTER / ORIGINAL FORM</a:t>
                      </a:r>
                    </a:p>
                  </a:txBody>
                  <a:tcPr/>
                </a:tc>
                <a:extLst>
                  <a:ext uri="{0D108BD9-81ED-4DB2-BD59-A6C34878D82A}">
                    <a16:rowId xmlns:a16="http://schemas.microsoft.com/office/drawing/2014/main" val="514538581"/>
                  </a:ext>
                </a:extLst>
              </a:tr>
              <a:tr h="1406475">
                <a:tc>
                  <a:txBody>
                    <a:bodyPr/>
                    <a:lstStyle/>
                    <a:p>
                      <a:r>
                        <a:rPr lang="en-IN" b="1" u="sng" dirty="0">
                          <a:highlight>
                            <a:srgbClr val="FFFF00"/>
                          </a:highlight>
                        </a:rPr>
                        <a:t>PATIENT RECORD </a:t>
                      </a:r>
                      <a:r>
                        <a:rPr lang="en-IN" dirty="0"/>
                        <a:t>:</a:t>
                      </a:r>
                    </a:p>
                    <a:p>
                      <a:r>
                        <a:rPr lang="en-IN" dirty="0"/>
                        <a:t>Inpatient Record </a:t>
                      </a:r>
                    </a:p>
                    <a:p>
                      <a:r>
                        <a:rPr lang="en-IN" dirty="0"/>
                        <a:t>Outpatient Unit Record </a:t>
                      </a:r>
                    </a:p>
                    <a:p>
                      <a:r>
                        <a:rPr lang="en-IN" dirty="0"/>
                        <a:t>Outpatient G.P Record </a:t>
                      </a:r>
                    </a:p>
                  </a:txBody>
                  <a:tcPr/>
                </a:tc>
                <a:tc>
                  <a:txBody>
                    <a:bodyPr/>
                    <a:lstStyle/>
                    <a:p>
                      <a:endParaRPr lang="en-IN" dirty="0"/>
                    </a:p>
                    <a:p>
                      <a:r>
                        <a:rPr lang="en-IN" dirty="0"/>
                        <a:t>10 </a:t>
                      </a:r>
                    </a:p>
                    <a:p>
                      <a:r>
                        <a:rPr lang="en-IN" dirty="0"/>
                        <a:t>5</a:t>
                      </a:r>
                    </a:p>
                    <a:p>
                      <a:r>
                        <a:rPr lang="en-IN" dirty="0"/>
                        <a:t>2</a:t>
                      </a:r>
                    </a:p>
                  </a:txBody>
                  <a:tcPr/>
                </a:tc>
                <a:tc>
                  <a:txBody>
                    <a:bodyPr/>
                    <a:lstStyle/>
                    <a:p>
                      <a:endParaRPr lang="en-IN" dirty="0"/>
                    </a:p>
                    <a:p>
                      <a:r>
                        <a:rPr lang="en-IN" dirty="0"/>
                        <a:t>Of last visit of the patient </a:t>
                      </a:r>
                    </a:p>
                    <a:p>
                      <a:r>
                        <a:rPr lang="en-IN" dirty="0"/>
                        <a:t>-do-</a:t>
                      </a:r>
                    </a:p>
                    <a:p>
                      <a:r>
                        <a:rPr lang="en-IN" dirty="0"/>
                        <a:t>-do-</a:t>
                      </a:r>
                    </a:p>
                  </a:txBody>
                  <a:tcPr/>
                </a:tc>
                <a:tc>
                  <a:txBody>
                    <a:bodyPr/>
                    <a:lstStyle/>
                    <a:p>
                      <a:endParaRPr lang="en-IN" dirty="0"/>
                    </a:p>
                    <a:p>
                      <a:r>
                        <a:rPr lang="en-IN" dirty="0"/>
                        <a:t>Yes</a:t>
                      </a:r>
                    </a:p>
                    <a:p>
                      <a:r>
                        <a:rPr lang="en-IN" dirty="0"/>
                        <a:t>Yes</a:t>
                      </a:r>
                    </a:p>
                    <a:p>
                      <a:r>
                        <a:rPr lang="en-IN" dirty="0"/>
                        <a:t>Yes</a:t>
                      </a:r>
                    </a:p>
                    <a:p>
                      <a:endParaRPr lang="en-IN" dirty="0"/>
                    </a:p>
                  </a:txBody>
                  <a:tcPr/>
                </a:tc>
                <a:extLst>
                  <a:ext uri="{0D108BD9-81ED-4DB2-BD59-A6C34878D82A}">
                    <a16:rowId xmlns:a16="http://schemas.microsoft.com/office/drawing/2014/main" val="2062652204"/>
                  </a:ext>
                </a:extLst>
              </a:tr>
              <a:tr h="1142761">
                <a:tc>
                  <a:txBody>
                    <a:bodyPr/>
                    <a:lstStyle/>
                    <a:p>
                      <a:r>
                        <a:rPr lang="en-IN" b="1" u="sng" dirty="0">
                          <a:highlight>
                            <a:srgbClr val="FFFF00"/>
                          </a:highlight>
                        </a:rPr>
                        <a:t>CASULITY RECORD </a:t>
                      </a:r>
                      <a:r>
                        <a:rPr lang="en-IN" dirty="0"/>
                        <a:t>:</a:t>
                      </a:r>
                    </a:p>
                    <a:p>
                      <a:r>
                        <a:rPr lang="en-IN" dirty="0"/>
                        <a:t>Medicolegal cases </a:t>
                      </a:r>
                    </a:p>
                    <a:p>
                      <a:r>
                        <a:rPr lang="en-IN" dirty="0"/>
                        <a:t>Outpatient unit record </a:t>
                      </a:r>
                    </a:p>
                  </a:txBody>
                  <a:tcPr/>
                </a:tc>
                <a:tc>
                  <a:txBody>
                    <a:bodyPr/>
                    <a:lstStyle/>
                    <a:p>
                      <a:endParaRPr lang="en-IN" dirty="0"/>
                    </a:p>
                    <a:p>
                      <a:r>
                        <a:rPr lang="en-IN" dirty="0"/>
                        <a:t>5</a:t>
                      </a:r>
                    </a:p>
                    <a:p>
                      <a:r>
                        <a:rPr lang="en-IN" dirty="0"/>
                        <a:t>1</a:t>
                      </a:r>
                    </a:p>
                  </a:txBody>
                  <a:tcPr/>
                </a:tc>
                <a:tc>
                  <a:txBody>
                    <a:bodyPr/>
                    <a:lstStyle/>
                    <a:p>
                      <a:endParaRPr lang="en-IN" dirty="0"/>
                    </a:p>
                    <a:p>
                      <a:r>
                        <a:rPr lang="en-IN" dirty="0"/>
                        <a:t>Of last visit of the patient </a:t>
                      </a:r>
                    </a:p>
                    <a:p>
                      <a:r>
                        <a:rPr lang="en-IN" dirty="0"/>
                        <a:t>-do-</a:t>
                      </a:r>
                    </a:p>
                    <a:p>
                      <a:endParaRPr lang="en-IN" dirty="0"/>
                    </a:p>
                  </a:txBody>
                  <a:tcPr/>
                </a:tc>
                <a:tc>
                  <a:txBody>
                    <a:bodyPr/>
                    <a:lstStyle/>
                    <a:p>
                      <a:endParaRPr lang="en-IN" dirty="0"/>
                    </a:p>
                    <a:p>
                      <a:r>
                        <a:rPr lang="en-IN" dirty="0"/>
                        <a:t>No</a:t>
                      </a:r>
                    </a:p>
                    <a:p>
                      <a:r>
                        <a:rPr lang="en-IN" dirty="0"/>
                        <a:t>No</a:t>
                      </a:r>
                    </a:p>
                    <a:p>
                      <a:endParaRPr lang="en-IN" dirty="0"/>
                    </a:p>
                  </a:txBody>
                  <a:tcPr/>
                </a:tc>
                <a:extLst>
                  <a:ext uri="{0D108BD9-81ED-4DB2-BD59-A6C34878D82A}">
                    <a16:rowId xmlns:a16="http://schemas.microsoft.com/office/drawing/2014/main" val="1710445208"/>
                  </a:ext>
                </a:extLst>
              </a:tr>
              <a:tr h="1406475">
                <a:tc>
                  <a:txBody>
                    <a:bodyPr/>
                    <a:lstStyle/>
                    <a:p>
                      <a:r>
                        <a:rPr lang="en-IN" b="1" u="sng" dirty="0">
                          <a:highlight>
                            <a:srgbClr val="FFFF00"/>
                          </a:highlight>
                        </a:rPr>
                        <a:t>X RAYS</a:t>
                      </a:r>
                      <a:r>
                        <a:rPr lang="en-IN" dirty="0"/>
                        <a:t>:</a:t>
                      </a:r>
                    </a:p>
                    <a:p>
                      <a:r>
                        <a:rPr lang="en-IN" dirty="0"/>
                        <a:t>Outpatient  x rays </a:t>
                      </a:r>
                    </a:p>
                    <a:p>
                      <a:r>
                        <a:rPr lang="en-IN" dirty="0"/>
                        <a:t>Inpatient x rays</a:t>
                      </a:r>
                    </a:p>
                    <a:p>
                      <a:r>
                        <a:rPr lang="en-IN" dirty="0" err="1"/>
                        <a:t>Casuality</a:t>
                      </a:r>
                      <a:r>
                        <a:rPr lang="en-IN" dirty="0"/>
                        <a:t> x rays </a:t>
                      </a:r>
                    </a:p>
                  </a:txBody>
                  <a:tcPr/>
                </a:tc>
                <a:tc>
                  <a:txBody>
                    <a:bodyPr/>
                    <a:lstStyle/>
                    <a:p>
                      <a:endParaRPr lang="en-IN" dirty="0"/>
                    </a:p>
                    <a:p>
                      <a:r>
                        <a:rPr lang="en-IN" dirty="0"/>
                        <a:t>5</a:t>
                      </a:r>
                    </a:p>
                    <a:p>
                      <a:r>
                        <a:rPr lang="en-IN" dirty="0"/>
                        <a:t>5</a:t>
                      </a:r>
                    </a:p>
                    <a:p>
                      <a:r>
                        <a:rPr lang="en-IN" dirty="0"/>
                        <a:t>5</a:t>
                      </a:r>
                    </a:p>
                  </a:txBody>
                  <a:tcPr/>
                </a:tc>
                <a:tc>
                  <a:txBody>
                    <a:bodyPr/>
                    <a:lstStyle/>
                    <a:p>
                      <a:endParaRPr lang="en-IN" dirty="0"/>
                    </a:p>
                    <a:p>
                      <a:r>
                        <a:rPr lang="en-IN" dirty="0"/>
                        <a:t>Of last visit of the patient </a:t>
                      </a:r>
                    </a:p>
                    <a:p>
                      <a:r>
                        <a:rPr lang="en-IN" dirty="0"/>
                        <a:t>-do-</a:t>
                      </a:r>
                    </a:p>
                    <a:p>
                      <a:r>
                        <a:rPr lang="en-IN" dirty="0"/>
                        <a:t>-do-</a:t>
                      </a:r>
                    </a:p>
                  </a:txBody>
                  <a:tcPr/>
                </a:tc>
                <a:tc>
                  <a:txBody>
                    <a:bodyPr/>
                    <a:lstStyle/>
                    <a:p>
                      <a:endParaRPr lang="en-IN" dirty="0"/>
                    </a:p>
                    <a:p>
                      <a:r>
                        <a:rPr lang="en-IN" dirty="0"/>
                        <a:t>No</a:t>
                      </a:r>
                    </a:p>
                    <a:p>
                      <a:r>
                        <a:rPr lang="en-IN" dirty="0"/>
                        <a:t>No</a:t>
                      </a:r>
                    </a:p>
                    <a:p>
                      <a:r>
                        <a:rPr lang="en-IN" dirty="0"/>
                        <a:t>No</a:t>
                      </a:r>
                    </a:p>
                    <a:p>
                      <a:endParaRPr lang="en-IN" dirty="0"/>
                    </a:p>
                  </a:txBody>
                  <a:tcPr/>
                </a:tc>
                <a:extLst>
                  <a:ext uri="{0D108BD9-81ED-4DB2-BD59-A6C34878D82A}">
                    <a16:rowId xmlns:a16="http://schemas.microsoft.com/office/drawing/2014/main" val="1102847427"/>
                  </a:ext>
                </a:extLst>
              </a:tr>
            </a:tbl>
          </a:graphicData>
        </a:graphic>
      </p:graphicFrame>
    </p:spTree>
    <p:extLst>
      <p:ext uri="{BB962C8B-B14F-4D97-AF65-F5344CB8AC3E}">
        <p14:creationId xmlns:p14="http://schemas.microsoft.com/office/powerpoint/2010/main" val="2107198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F8F1B1-C936-4DCC-B90F-9EB559C30E34}"/>
              </a:ext>
            </a:extLst>
          </p:cNvPr>
          <p:cNvSpPr>
            <a:spLocks noGrp="1"/>
          </p:cNvSpPr>
          <p:nvPr>
            <p:ph type="title"/>
          </p:nvPr>
        </p:nvSpPr>
        <p:spPr>
          <a:xfrm>
            <a:off x="554182" y="346364"/>
            <a:ext cx="11000509" cy="775855"/>
          </a:xfrm>
        </p:spPr>
        <p:style>
          <a:lnRef idx="2">
            <a:schemeClr val="accent2">
              <a:shade val="50000"/>
            </a:schemeClr>
          </a:lnRef>
          <a:fillRef idx="1">
            <a:schemeClr val="accent2"/>
          </a:fillRef>
          <a:effectRef idx="0">
            <a:schemeClr val="accent2"/>
          </a:effectRef>
          <a:fontRef idx="minor">
            <a:schemeClr val="lt1"/>
          </a:fontRef>
        </p:style>
        <p:txBody>
          <a:bodyPr/>
          <a:lstStyle/>
          <a:p>
            <a:r>
              <a:rPr lang="en-IN" dirty="0"/>
              <a:t>MEDICAL RECORD RETENTION SCHEDULE </a:t>
            </a:r>
          </a:p>
        </p:txBody>
      </p:sp>
      <p:graphicFrame>
        <p:nvGraphicFramePr>
          <p:cNvPr id="6" name="Table 6">
            <a:extLst>
              <a:ext uri="{FF2B5EF4-FFF2-40B4-BE49-F238E27FC236}">
                <a16:creationId xmlns:a16="http://schemas.microsoft.com/office/drawing/2014/main" id="{F594860A-6BE6-4E62-8DBA-3786024EFCBB}"/>
              </a:ext>
            </a:extLst>
          </p:cNvPr>
          <p:cNvGraphicFramePr>
            <a:graphicFrameLocks noGrp="1"/>
          </p:cNvGraphicFramePr>
          <p:nvPr>
            <p:ph idx="1"/>
            <p:extLst>
              <p:ext uri="{D42A27DB-BD31-4B8C-83A1-F6EECF244321}">
                <p14:modId xmlns:p14="http://schemas.microsoft.com/office/powerpoint/2010/main" val="1436024927"/>
              </p:ext>
            </p:extLst>
          </p:nvPr>
        </p:nvGraphicFramePr>
        <p:xfrm>
          <a:off x="665017" y="1122219"/>
          <a:ext cx="10778838" cy="5120640"/>
        </p:xfrm>
        <a:graphic>
          <a:graphicData uri="http://schemas.openxmlformats.org/drawingml/2006/table">
            <a:tbl>
              <a:tblPr firstRow="1" bandRow="1">
                <a:tableStyleId>{5C22544A-7EE6-4342-B048-85BDC9FD1C3A}</a:tableStyleId>
              </a:tblPr>
              <a:tblGrid>
                <a:gridCol w="2529728">
                  <a:extLst>
                    <a:ext uri="{9D8B030D-6E8A-4147-A177-3AD203B41FA5}">
                      <a16:colId xmlns:a16="http://schemas.microsoft.com/office/drawing/2014/main" val="4106356956"/>
                    </a:ext>
                  </a:extLst>
                </a:gridCol>
                <a:gridCol w="2557224">
                  <a:extLst>
                    <a:ext uri="{9D8B030D-6E8A-4147-A177-3AD203B41FA5}">
                      <a16:colId xmlns:a16="http://schemas.microsoft.com/office/drawing/2014/main" val="511293435"/>
                    </a:ext>
                  </a:extLst>
                </a:gridCol>
                <a:gridCol w="2942183">
                  <a:extLst>
                    <a:ext uri="{9D8B030D-6E8A-4147-A177-3AD203B41FA5}">
                      <a16:colId xmlns:a16="http://schemas.microsoft.com/office/drawing/2014/main" val="4198447779"/>
                    </a:ext>
                  </a:extLst>
                </a:gridCol>
                <a:gridCol w="2749703">
                  <a:extLst>
                    <a:ext uri="{9D8B030D-6E8A-4147-A177-3AD203B41FA5}">
                      <a16:colId xmlns:a16="http://schemas.microsoft.com/office/drawing/2014/main" val="2286930550"/>
                    </a:ext>
                  </a:extLst>
                </a:gridCol>
              </a:tblGrid>
              <a:tr h="1160417">
                <a:tc>
                  <a:txBody>
                    <a:bodyPr/>
                    <a:lstStyle/>
                    <a:p>
                      <a:r>
                        <a:rPr lang="en-IN" dirty="0"/>
                        <a:t>NAME OF MEDICAL RECORD </a:t>
                      </a:r>
                    </a:p>
                  </a:txBody>
                  <a:tcPr/>
                </a:tc>
                <a:tc>
                  <a:txBody>
                    <a:bodyPr/>
                    <a:lstStyle/>
                    <a:p>
                      <a:r>
                        <a:rPr lang="en-IN" dirty="0"/>
                        <a:t>RETENTION IN ORIGINAL FROM (IN YRS)</a:t>
                      </a:r>
                    </a:p>
                  </a:txBody>
                  <a:tcPr/>
                </a:tc>
                <a:tc>
                  <a:txBody>
                    <a:bodyPr/>
                    <a:lstStyle/>
                    <a:p>
                      <a:r>
                        <a:rPr lang="en-IN" dirty="0"/>
                        <a:t>EFFECTIVE FROM THE DATE </a:t>
                      </a:r>
                    </a:p>
                  </a:txBody>
                  <a:tcPr/>
                </a:tc>
                <a:tc>
                  <a:txBody>
                    <a:bodyPr/>
                    <a:lstStyle/>
                    <a:p>
                      <a:r>
                        <a:rPr lang="en-IN" dirty="0"/>
                        <a:t>PERMANENT RETENTION IN MICROFLIM COMPUTER / ORIGINAL FORM</a:t>
                      </a:r>
                    </a:p>
                  </a:txBody>
                  <a:tcPr/>
                </a:tc>
                <a:extLst>
                  <a:ext uri="{0D108BD9-81ED-4DB2-BD59-A6C34878D82A}">
                    <a16:rowId xmlns:a16="http://schemas.microsoft.com/office/drawing/2014/main" val="514538581"/>
                  </a:ext>
                </a:extLst>
              </a:tr>
              <a:tr h="3838301">
                <a:tc>
                  <a:txBody>
                    <a:bodyPr/>
                    <a:lstStyle/>
                    <a:p>
                      <a:r>
                        <a:rPr lang="en-IN" b="1" u="sng" dirty="0">
                          <a:highlight>
                            <a:srgbClr val="FFFF00"/>
                          </a:highlight>
                        </a:rPr>
                        <a:t>PATIENT REGISTER </a:t>
                      </a:r>
                      <a:r>
                        <a:rPr lang="en-IN" dirty="0"/>
                        <a:t>:</a:t>
                      </a:r>
                    </a:p>
                    <a:p>
                      <a:r>
                        <a:rPr lang="en-IN" dirty="0"/>
                        <a:t>Birth Register</a:t>
                      </a:r>
                    </a:p>
                    <a:p>
                      <a:r>
                        <a:rPr lang="en-IN" dirty="0"/>
                        <a:t>Death Register </a:t>
                      </a:r>
                    </a:p>
                    <a:p>
                      <a:r>
                        <a:rPr lang="en-IN" dirty="0" err="1"/>
                        <a:t>Adm</a:t>
                      </a:r>
                      <a:r>
                        <a:rPr lang="en-IN" dirty="0"/>
                        <a:t> and </a:t>
                      </a:r>
                      <a:r>
                        <a:rPr lang="en-IN" dirty="0" err="1"/>
                        <a:t>disch</a:t>
                      </a:r>
                      <a:r>
                        <a:rPr lang="en-IN" dirty="0"/>
                        <a:t> Register </a:t>
                      </a:r>
                    </a:p>
                    <a:p>
                      <a:r>
                        <a:rPr lang="en-IN" dirty="0"/>
                        <a:t>Hosp. master Register </a:t>
                      </a:r>
                    </a:p>
                    <a:p>
                      <a:r>
                        <a:rPr lang="en-IN" dirty="0"/>
                        <a:t>Medicolegal Register </a:t>
                      </a:r>
                    </a:p>
                    <a:p>
                      <a:r>
                        <a:rPr lang="en-IN" dirty="0"/>
                        <a:t>Operation Register </a:t>
                      </a:r>
                    </a:p>
                    <a:p>
                      <a:r>
                        <a:rPr lang="en-IN" dirty="0"/>
                        <a:t>Ward </a:t>
                      </a:r>
                      <a:r>
                        <a:rPr lang="en-IN" dirty="0" err="1"/>
                        <a:t>adm</a:t>
                      </a:r>
                      <a:r>
                        <a:rPr lang="en-IN" dirty="0"/>
                        <a:t> and </a:t>
                      </a:r>
                      <a:r>
                        <a:rPr lang="en-IN" dirty="0" err="1"/>
                        <a:t>disch</a:t>
                      </a:r>
                      <a:r>
                        <a:rPr lang="en-IN" dirty="0"/>
                        <a:t> Reg</a:t>
                      </a:r>
                    </a:p>
                    <a:p>
                      <a:r>
                        <a:rPr lang="en-IN" dirty="0"/>
                        <a:t>Narcotic Register </a:t>
                      </a:r>
                    </a:p>
                    <a:p>
                      <a:r>
                        <a:rPr lang="en-IN" dirty="0"/>
                        <a:t>Infection register </a:t>
                      </a:r>
                    </a:p>
                    <a:p>
                      <a:r>
                        <a:rPr lang="en-IN" dirty="0"/>
                        <a:t>X-ray  Register </a:t>
                      </a:r>
                    </a:p>
                    <a:p>
                      <a:r>
                        <a:rPr lang="en-IN" dirty="0"/>
                        <a:t>Lab and other </a:t>
                      </a:r>
                      <a:r>
                        <a:rPr lang="en-IN" dirty="0" err="1"/>
                        <a:t>invest.Reg</a:t>
                      </a:r>
                      <a:endParaRPr lang="en-IN" dirty="0"/>
                    </a:p>
                  </a:txBody>
                  <a:tcPr/>
                </a:tc>
                <a:tc>
                  <a:txBody>
                    <a:bodyPr/>
                    <a:lstStyle/>
                    <a:p>
                      <a:endParaRPr lang="en-IN" dirty="0"/>
                    </a:p>
                    <a:p>
                      <a:r>
                        <a:rPr lang="en-IN" dirty="0"/>
                        <a:t>2</a:t>
                      </a:r>
                    </a:p>
                    <a:p>
                      <a:r>
                        <a:rPr lang="en-IN" dirty="0"/>
                        <a:t>2</a:t>
                      </a:r>
                    </a:p>
                    <a:p>
                      <a:r>
                        <a:rPr lang="en-IN" dirty="0"/>
                        <a:t>2</a:t>
                      </a:r>
                    </a:p>
                    <a:p>
                      <a:r>
                        <a:rPr lang="en-IN" dirty="0"/>
                        <a:t>2</a:t>
                      </a:r>
                    </a:p>
                    <a:p>
                      <a:r>
                        <a:rPr lang="en-IN" dirty="0"/>
                        <a:t>2</a:t>
                      </a:r>
                    </a:p>
                    <a:p>
                      <a:r>
                        <a:rPr lang="en-IN" dirty="0"/>
                        <a:t>2</a:t>
                      </a:r>
                    </a:p>
                    <a:p>
                      <a:r>
                        <a:rPr lang="en-IN" dirty="0"/>
                        <a:t>2</a:t>
                      </a:r>
                    </a:p>
                    <a:p>
                      <a:r>
                        <a:rPr lang="en-IN" dirty="0"/>
                        <a:t>2</a:t>
                      </a:r>
                    </a:p>
                    <a:p>
                      <a:r>
                        <a:rPr lang="en-IN" dirty="0"/>
                        <a:t>2</a:t>
                      </a:r>
                    </a:p>
                    <a:p>
                      <a:r>
                        <a:rPr lang="en-IN" dirty="0"/>
                        <a:t>2</a:t>
                      </a:r>
                    </a:p>
                    <a:p>
                      <a:r>
                        <a:rPr lang="en-IN" dirty="0"/>
                        <a:t>2</a:t>
                      </a:r>
                    </a:p>
                  </a:txBody>
                  <a:tcPr/>
                </a:tc>
                <a:tc>
                  <a:txBody>
                    <a:bodyPr/>
                    <a:lstStyle/>
                    <a:p>
                      <a:endParaRPr lang="en-IN" dirty="0"/>
                    </a:p>
                    <a:p>
                      <a:r>
                        <a:rPr lang="en-IN" dirty="0"/>
                        <a:t>Of last entry of the patient </a:t>
                      </a:r>
                    </a:p>
                    <a:p>
                      <a:r>
                        <a:rPr lang="en-IN" dirty="0"/>
                        <a:t>-do-</a:t>
                      </a:r>
                    </a:p>
                    <a:p>
                      <a:r>
                        <a:rPr lang="en-IN" dirty="0"/>
                        <a:t>-do-</a:t>
                      </a:r>
                    </a:p>
                    <a:p>
                      <a:r>
                        <a:rPr lang="en-IN" dirty="0"/>
                        <a:t>-do-</a:t>
                      </a:r>
                    </a:p>
                    <a:p>
                      <a:r>
                        <a:rPr lang="en-IN" dirty="0"/>
                        <a:t>-do-</a:t>
                      </a:r>
                    </a:p>
                    <a:p>
                      <a:r>
                        <a:rPr lang="en-IN" dirty="0"/>
                        <a:t>-do-</a:t>
                      </a:r>
                    </a:p>
                    <a:p>
                      <a:r>
                        <a:rPr lang="en-IN" dirty="0"/>
                        <a:t>-do-</a:t>
                      </a:r>
                    </a:p>
                    <a:p>
                      <a:r>
                        <a:rPr lang="en-IN" dirty="0"/>
                        <a:t>-do-</a:t>
                      </a:r>
                    </a:p>
                    <a:p>
                      <a:r>
                        <a:rPr lang="en-IN" dirty="0"/>
                        <a:t>-do-</a:t>
                      </a:r>
                    </a:p>
                    <a:p>
                      <a:r>
                        <a:rPr lang="en-IN" dirty="0"/>
                        <a:t>-do-</a:t>
                      </a:r>
                    </a:p>
                    <a:p>
                      <a:r>
                        <a:rPr lang="en-IN" dirty="0"/>
                        <a:t>-do-</a:t>
                      </a:r>
                    </a:p>
                    <a:p>
                      <a:endParaRPr lang="en-IN" dirty="0"/>
                    </a:p>
                    <a:p>
                      <a:endParaRPr lang="en-IN" dirty="0"/>
                    </a:p>
                  </a:txBody>
                  <a:tcPr/>
                </a:tc>
                <a:tc>
                  <a:txBody>
                    <a:bodyPr/>
                    <a:lstStyle/>
                    <a:p>
                      <a:endParaRPr lang="en-IN" dirty="0"/>
                    </a:p>
                    <a:p>
                      <a:r>
                        <a:rPr lang="en-IN" dirty="0"/>
                        <a:t>Yes</a:t>
                      </a:r>
                    </a:p>
                    <a:p>
                      <a:r>
                        <a:rPr lang="en-IN" dirty="0"/>
                        <a:t>Yes</a:t>
                      </a:r>
                    </a:p>
                    <a:p>
                      <a:r>
                        <a:rPr lang="en-IN" dirty="0"/>
                        <a:t>Yes</a:t>
                      </a:r>
                    </a:p>
                    <a:p>
                      <a:r>
                        <a:rPr lang="en-IN" dirty="0"/>
                        <a:t>Yes</a:t>
                      </a:r>
                    </a:p>
                    <a:p>
                      <a:r>
                        <a:rPr lang="en-IN" dirty="0"/>
                        <a:t>Yes</a:t>
                      </a:r>
                    </a:p>
                    <a:p>
                      <a:r>
                        <a:rPr lang="en-IN" dirty="0"/>
                        <a:t>No</a:t>
                      </a:r>
                    </a:p>
                    <a:p>
                      <a:r>
                        <a:rPr lang="en-IN" dirty="0"/>
                        <a:t>No</a:t>
                      </a:r>
                    </a:p>
                    <a:p>
                      <a:r>
                        <a:rPr lang="en-IN" dirty="0"/>
                        <a:t>No</a:t>
                      </a:r>
                    </a:p>
                    <a:p>
                      <a:r>
                        <a:rPr lang="en-IN" dirty="0"/>
                        <a:t>No</a:t>
                      </a:r>
                    </a:p>
                    <a:p>
                      <a:r>
                        <a:rPr lang="en-IN" dirty="0"/>
                        <a:t>No</a:t>
                      </a:r>
                    </a:p>
                    <a:p>
                      <a:r>
                        <a:rPr lang="en-IN" dirty="0"/>
                        <a:t>No</a:t>
                      </a:r>
                    </a:p>
                    <a:p>
                      <a:endParaRPr lang="en-IN" dirty="0"/>
                    </a:p>
                    <a:p>
                      <a:endParaRPr lang="en-IN" dirty="0"/>
                    </a:p>
                  </a:txBody>
                  <a:tcPr/>
                </a:tc>
                <a:extLst>
                  <a:ext uri="{0D108BD9-81ED-4DB2-BD59-A6C34878D82A}">
                    <a16:rowId xmlns:a16="http://schemas.microsoft.com/office/drawing/2014/main" val="2062652204"/>
                  </a:ext>
                </a:extLst>
              </a:tr>
            </a:tbl>
          </a:graphicData>
        </a:graphic>
      </p:graphicFrame>
    </p:spTree>
    <p:extLst>
      <p:ext uri="{BB962C8B-B14F-4D97-AF65-F5344CB8AC3E}">
        <p14:creationId xmlns:p14="http://schemas.microsoft.com/office/powerpoint/2010/main" val="3913692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F8F1B1-C936-4DCC-B90F-9EB559C30E34}"/>
              </a:ext>
            </a:extLst>
          </p:cNvPr>
          <p:cNvSpPr>
            <a:spLocks noGrp="1"/>
          </p:cNvSpPr>
          <p:nvPr>
            <p:ph type="title"/>
          </p:nvPr>
        </p:nvSpPr>
        <p:spPr>
          <a:xfrm>
            <a:off x="637309" y="229986"/>
            <a:ext cx="11166764" cy="775855"/>
          </a:xfrm>
        </p:spPr>
        <p:style>
          <a:lnRef idx="2">
            <a:schemeClr val="accent2">
              <a:shade val="50000"/>
            </a:schemeClr>
          </a:lnRef>
          <a:fillRef idx="1">
            <a:schemeClr val="accent2"/>
          </a:fillRef>
          <a:effectRef idx="0">
            <a:schemeClr val="accent2"/>
          </a:effectRef>
          <a:fontRef idx="minor">
            <a:schemeClr val="lt1"/>
          </a:fontRef>
        </p:style>
        <p:txBody>
          <a:bodyPr/>
          <a:lstStyle/>
          <a:p>
            <a:r>
              <a:rPr lang="en-IN" dirty="0"/>
              <a:t>MEDICAL RECORD RETENTION SCHEDULE </a:t>
            </a:r>
          </a:p>
        </p:txBody>
      </p:sp>
      <p:graphicFrame>
        <p:nvGraphicFramePr>
          <p:cNvPr id="6" name="Table 6">
            <a:extLst>
              <a:ext uri="{FF2B5EF4-FFF2-40B4-BE49-F238E27FC236}">
                <a16:creationId xmlns:a16="http://schemas.microsoft.com/office/drawing/2014/main" id="{F594860A-6BE6-4E62-8DBA-3786024EFCBB}"/>
              </a:ext>
            </a:extLst>
          </p:cNvPr>
          <p:cNvGraphicFramePr>
            <a:graphicFrameLocks noGrp="1"/>
          </p:cNvGraphicFramePr>
          <p:nvPr>
            <p:ph idx="1"/>
            <p:extLst>
              <p:ext uri="{D42A27DB-BD31-4B8C-83A1-F6EECF244321}">
                <p14:modId xmlns:p14="http://schemas.microsoft.com/office/powerpoint/2010/main" val="3067091623"/>
              </p:ext>
            </p:extLst>
          </p:nvPr>
        </p:nvGraphicFramePr>
        <p:xfrm>
          <a:off x="637309" y="1005841"/>
          <a:ext cx="11166764" cy="5703552"/>
        </p:xfrm>
        <a:graphic>
          <a:graphicData uri="http://schemas.openxmlformats.org/drawingml/2006/table">
            <a:tbl>
              <a:tblPr firstRow="1" bandRow="1">
                <a:tableStyleId>{5C22544A-7EE6-4342-B048-85BDC9FD1C3A}</a:tableStyleId>
              </a:tblPr>
              <a:tblGrid>
                <a:gridCol w="3117273">
                  <a:extLst>
                    <a:ext uri="{9D8B030D-6E8A-4147-A177-3AD203B41FA5}">
                      <a16:colId xmlns:a16="http://schemas.microsoft.com/office/drawing/2014/main" val="4106356956"/>
                    </a:ext>
                  </a:extLst>
                </a:gridCol>
                <a:gridCol w="2472523">
                  <a:extLst>
                    <a:ext uri="{9D8B030D-6E8A-4147-A177-3AD203B41FA5}">
                      <a16:colId xmlns:a16="http://schemas.microsoft.com/office/drawing/2014/main" val="511293435"/>
                    </a:ext>
                  </a:extLst>
                </a:gridCol>
                <a:gridCol w="2882781">
                  <a:extLst>
                    <a:ext uri="{9D8B030D-6E8A-4147-A177-3AD203B41FA5}">
                      <a16:colId xmlns:a16="http://schemas.microsoft.com/office/drawing/2014/main" val="4198447779"/>
                    </a:ext>
                  </a:extLst>
                </a:gridCol>
                <a:gridCol w="2694187">
                  <a:extLst>
                    <a:ext uri="{9D8B030D-6E8A-4147-A177-3AD203B41FA5}">
                      <a16:colId xmlns:a16="http://schemas.microsoft.com/office/drawing/2014/main" val="2286930550"/>
                    </a:ext>
                  </a:extLst>
                </a:gridCol>
              </a:tblGrid>
              <a:tr h="1314432">
                <a:tc>
                  <a:txBody>
                    <a:bodyPr/>
                    <a:lstStyle/>
                    <a:p>
                      <a:r>
                        <a:rPr lang="en-IN" dirty="0"/>
                        <a:t>NAME OF MEDICAL RECORD </a:t>
                      </a:r>
                    </a:p>
                  </a:txBody>
                  <a:tcPr/>
                </a:tc>
                <a:tc>
                  <a:txBody>
                    <a:bodyPr/>
                    <a:lstStyle/>
                    <a:p>
                      <a:r>
                        <a:rPr lang="en-IN" dirty="0"/>
                        <a:t>RETENTION IN ORIGINAL FROM (IN YRS)</a:t>
                      </a:r>
                    </a:p>
                  </a:txBody>
                  <a:tcPr/>
                </a:tc>
                <a:tc>
                  <a:txBody>
                    <a:bodyPr/>
                    <a:lstStyle/>
                    <a:p>
                      <a:r>
                        <a:rPr lang="en-IN" dirty="0"/>
                        <a:t>EFFECTIVE FROM THE DATE </a:t>
                      </a:r>
                    </a:p>
                  </a:txBody>
                  <a:tcPr/>
                </a:tc>
                <a:tc>
                  <a:txBody>
                    <a:bodyPr/>
                    <a:lstStyle/>
                    <a:p>
                      <a:r>
                        <a:rPr lang="en-IN" dirty="0"/>
                        <a:t>PERMANENT RETENTION IN MICROFLIM COMPUTER / ORIGINAL FORM</a:t>
                      </a:r>
                    </a:p>
                  </a:txBody>
                  <a:tcPr/>
                </a:tc>
                <a:extLst>
                  <a:ext uri="{0D108BD9-81ED-4DB2-BD59-A6C34878D82A}">
                    <a16:rowId xmlns:a16="http://schemas.microsoft.com/office/drawing/2014/main" val="514538581"/>
                  </a:ext>
                </a:extLst>
              </a:tr>
              <a:tr h="873201">
                <a:tc>
                  <a:txBody>
                    <a:bodyPr/>
                    <a:lstStyle/>
                    <a:p>
                      <a:r>
                        <a:rPr lang="en-IN" b="1" u="sng" dirty="0">
                          <a:highlight>
                            <a:srgbClr val="FFFF00"/>
                          </a:highlight>
                        </a:rPr>
                        <a:t>PHYSICAIN INDEX </a:t>
                      </a:r>
                      <a:r>
                        <a:rPr lang="en-IN" dirty="0"/>
                        <a:t>:</a:t>
                      </a:r>
                    </a:p>
                  </a:txBody>
                  <a:tcPr/>
                </a:tc>
                <a:tc>
                  <a:txBody>
                    <a:bodyPr/>
                    <a:lstStyle/>
                    <a:p>
                      <a:r>
                        <a:rPr lang="en-IN" dirty="0"/>
                        <a:t>1</a:t>
                      </a:r>
                    </a:p>
                  </a:txBody>
                  <a:tcPr/>
                </a:tc>
                <a:tc>
                  <a:txBody>
                    <a:bodyPr/>
                    <a:lstStyle/>
                    <a:p>
                      <a:r>
                        <a:rPr lang="en-IN" dirty="0"/>
                        <a:t>The physician left the hospital </a:t>
                      </a:r>
                    </a:p>
                    <a:p>
                      <a:endParaRPr lang="en-IN" dirty="0"/>
                    </a:p>
                  </a:txBody>
                  <a:tcPr/>
                </a:tc>
                <a:tc>
                  <a:txBody>
                    <a:bodyPr/>
                    <a:lstStyle/>
                    <a:p>
                      <a:r>
                        <a:rPr lang="en-IN" dirty="0"/>
                        <a:t>no</a:t>
                      </a:r>
                    </a:p>
                    <a:p>
                      <a:endParaRPr lang="en-IN" dirty="0"/>
                    </a:p>
                  </a:txBody>
                  <a:tcPr/>
                </a:tc>
                <a:extLst>
                  <a:ext uri="{0D108BD9-81ED-4DB2-BD59-A6C34878D82A}">
                    <a16:rowId xmlns:a16="http://schemas.microsoft.com/office/drawing/2014/main" val="2062652204"/>
                  </a:ext>
                </a:extLst>
              </a:tr>
              <a:tr h="1921042">
                <a:tc>
                  <a:txBody>
                    <a:bodyPr/>
                    <a:lstStyle/>
                    <a:p>
                      <a:r>
                        <a:rPr lang="en-IN" b="1" u="sng" dirty="0">
                          <a:highlight>
                            <a:srgbClr val="FFFF00"/>
                          </a:highlight>
                        </a:rPr>
                        <a:t>REPORT </a:t>
                      </a:r>
                      <a:r>
                        <a:rPr lang="en-IN" dirty="0"/>
                        <a:t>:</a:t>
                      </a:r>
                    </a:p>
                    <a:p>
                      <a:r>
                        <a:rPr lang="en-IN" dirty="0"/>
                        <a:t>Daily ward census report</a:t>
                      </a:r>
                    </a:p>
                    <a:p>
                      <a:r>
                        <a:rPr lang="en-IN" dirty="0"/>
                        <a:t>Daily statistical report</a:t>
                      </a:r>
                    </a:p>
                    <a:p>
                      <a:r>
                        <a:rPr lang="en-IN" dirty="0"/>
                        <a:t>Monthly report</a:t>
                      </a:r>
                    </a:p>
                    <a:p>
                      <a:r>
                        <a:rPr lang="en-IN" dirty="0"/>
                        <a:t>Yearly report</a:t>
                      </a:r>
                    </a:p>
                    <a:p>
                      <a:r>
                        <a:rPr lang="en-IN" dirty="0"/>
                        <a:t>Duplicate lab/ x ray report </a:t>
                      </a:r>
                    </a:p>
                  </a:txBody>
                  <a:tcPr/>
                </a:tc>
                <a:tc>
                  <a:txBody>
                    <a:bodyPr/>
                    <a:lstStyle/>
                    <a:p>
                      <a:endParaRPr lang="en-IN" dirty="0"/>
                    </a:p>
                    <a:p>
                      <a:r>
                        <a:rPr lang="en-IN" dirty="0"/>
                        <a:t>1</a:t>
                      </a:r>
                    </a:p>
                    <a:p>
                      <a:r>
                        <a:rPr lang="en-IN" dirty="0"/>
                        <a:t>1</a:t>
                      </a:r>
                    </a:p>
                    <a:p>
                      <a:r>
                        <a:rPr lang="en-IN" dirty="0"/>
                        <a:t>1</a:t>
                      </a:r>
                    </a:p>
                    <a:p>
                      <a:r>
                        <a:rPr lang="en-IN" dirty="0"/>
                        <a:t>10</a:t>
                      </a:r>
                    </a:p>
                    <a:p>
                      <a:r>
                        <a:rPr lang="en-IN" dirty="0"/>
                        <a:t>1</a:t>
                      </a:r>
                    </a:p>
                  </a:txBody>
                  <a:tcPr/>
                </a:tc>
                <a:tc>
                  <a:txBody>
                    <a:bodyPr/>
                    <a:lstStyle/>
                    <a:p>
                      <a:endParaRPr lang="en-IN" dirty="0"/>
                    </a:p>
                    <a:p>
                      <a:r>
                        <a:rPr lang="en-IN" dirty="0"/>
                        <a:t>Of  the report </a:t>
                      </a:r>
                    </a:p>
                    <a:p>
                      <a:r>
                        <a:rPr lang="en-IN" dirty="0"/>
                        <a:t>-do-</a:t>
                      </a:r>
                    </a:p>
                    <a:p>
                      <a:r>
                        <a:rPr lang="en-IN" dirty="0"/>
                        <a:t>-do-</a:t>
                      </a:r>
                    </a:p>
                    <a:p>
                      <a:r>
                        <a:rPr lang="en-IN" dirty="0"/>
                        <a:t>-do-</a:t>
                      </a:r>
                    </a:p>
                    <a:p>
                      <a:r>
                        <a:rPr lang="en-IN" dirty="0"/>
                        <a:t>-do-</a:t>
                      </a:r>
                    </a:p>
                    <a:p>
                      <a:endParaRPr lang="en-IN" dirty="0"/>
                    </a:p>
                  </a:txBody>
                  <a:tcPr/>
                </a:tc>
                <a:tc>
                  <a:txBody>
                    <a:bodyPr/>
                    <a:lstStyle/>
                    <a:p>
                      <a:endParaRPr lang="en-IN" dirty="0"/>
                    </a:p>
                    <a:p>
                      <a:r>
                        <a:rPr lang="en-IN" dirty="0"/>
                        <a:t>No</a:t>
                      </a:r>
                    </a:p>
                    <a:p>
                      <a:r>
                        <a:rPr lang="en-IN" dirty="0"/>
                        <a:t>No</a:t>
                      </a:r>
                    </a:p>
                    <a:p>
                      <a:r>
                        <a:rPr lang="en-IN" dirty="0"/>
                        <a:t>No</a:t>
                      </a:r>
                    </a:p>
                    <a:p>
                      <a:r>
                        <a:rPr lang="en-IN" dirty="0"/>
                        <a:t>No</a:t>
                      </a:r>
                    </a:p>
                    <a:p>
                      <a:r>
                        <a:rPr lang="en-IN" dirty="0"/>
                        <a:t>No</a:t>
                      </a:r>
                    </a:p>
                    <a:p>
                      <a:endParaRPr lang="en-IN" dirty="0"/>
                    </a:p>
                  </a:txBody>
                  <a:tcPr/>
                </a:tc>
                <a:extLst>
                  <a:ext uri="{0D108BD9-81ED-4DB2-BD59-A6C34878D82A}">
                    <a16:rowId xmlns:a16="http://schemas.microsoft.com/office/drawing/2014/main" val="1710445208"/>
                  </a:ext>
                </a:extLst>
              </a:tr>
              <a:tr h="1397121">
                <a:tc>
                  <a:txBody>
                    <a:bodyPr/>
                    <a:lstStyle/>
                    <a:p>
                      <a:r>
                        <a:rPr lang="en-IN" b="1" u="sng" dirty="0">
                          <a:highlight>
                            <a:srgbClr val="FFFF00"/>
                          </a:highlight>
                        </a:rPr>
                        <a:t>INDEX</a:t>
                      </a:r>
                      <a:r>
                        <a:rPr lang="en-IN" dirty="0"/>
                        <a:t>:</a:t>
                      </a:r>
                    </a:p>
                    <a:p>
                      <a:r>
                        <a:rPr lang="en-IN" dirty="0"/>
                        <a:t>Disease Index</a:t>
                      </a:r>
                    </a:p>
                    <a:p>
                      <a:r>
                        <a:rPr lang="en-IN" dirty="0"/>
                        <a:t>Operation Index</a:t>
                      </a:r>
                    </a:p>
                    <a:p>
                      <a:r>
                        <a:rPr lang="en-IN" dirty="0"/>
                        <a:t>Patient master Index</a:t>
                      </a:r>
                    </a:p>
                  </a:txBody>
                  <a:tcPr/>
                </a:tc>
                <a:tc>
                  <a:txBody>
                    <a:bodyPr/>
                    <a:lstStyle/>
                    <a:p>
                      <a:endParaRPr lang="en-IN" dirty="0"/>
                    </a:p>
                  </a:txBody>
                  <a:tcPr/>
                </a:tc>
                <a:tc>
                  <a:txBody>
                    <a:bodyPr/>
                    <a:lstStyle/>
                    <a:p>
                      <a:endParaRPr lang="en-IN" dirty="0"/>
                    </a:p>
                    <a:p>
                      <a:r>
                        <a:rPr lang="en-IN" dirty="0"/>
                        <a:t>Permanently either in physical or computer form </a:t>
                      </a:r>
                    </a:p>
                  </a:txBody>
                  <a:tcPr/>
                </a:tc>
                <a:tc>
                  <a:txBody>
                    <a:bodyPr/>
                    <a:lstStyle/>
                    <a:p>
                      <a:endParaRPr lang="en-IN" dirty="0"/>
                    </a:p>
                    <a:p>
                      <a:r>
                        <a:rPr lang="en-IN" dirty="0"/>
                        <a:t>Yes</a:t>
                      </a:r>
                    </a:p>
                    <a:p>
                      <a:r>
                        <a:rPr lang="en-IN" dirty="0"/>
                        <a:t>Yes</a:t>
                      </a:r>
                    </a:p>
                    <a:p>
                      <a:r>
                        <a:rPr lang="en-IN" dirty="0"/>
                        <a:t>Yes</a:t>
                      </a:r>
                    </a:p>
                    <a:p>
                      <a:endParaRPr lang="en-IN" dirty="0"/>
                    </a:p>
                  </a:txBody>
                  <a:tcPr/>
                </a:tc>
                <a:extLst>
                  <a:ext uri="{0D108BD9-81ED-4DB2-BD59-A6C34878D82A}">
                    <a16:rowId xmlns:a16="http://schemas.microsoft.com/office/drawing/2014/main" val="1102847427"/>
                  </a:ext>
                </a:extLst>
              </a:tr>
            </a:tbl>
          </a:graphicData>
        </a:graphic>
      </p:graphicFrame>
    </p:spTree>
    <p:extLst>
      <p:ext uri="{BB962C8B-B14F-4D97-AF65-F5344CB8AC3E}">
        <p14:creationId xmlns:p14="http://schemas.microsoft.com/office/powerpoint/2010/main" val="1878755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1E43DAA-B97A-4409-A936-D48051B226E5}"/>
              </a:ext>
            </a:extLst>
          </p:cNvPr>
          <p:cNvPicPr>
            <a:picLocks noGrp="1" noChangeAspect="1"/>
          </p:cNvPicPr>
          <p:nvPr>
            <p:ph idx="4294967295"/>
          </p:nvPr>
        </p:nvPicPr>
        <p:blipFill rotWithShape="1">
          <a:blip r:embed="rId2"/>
          <a:srcRect t="21990" b="7342"/>
          <a:stretch/>
        </p:blipFill>
        <p:spPr>
          <a:xfrm>
            <a:off x="792163" y="886691"/>
            <a:ext cx="10637837" cy="5417127"/>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78103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DDFB1-5E2D-43C5-BCBB-7FF71926C762}"/>
              </a:ext>
            </a:extLst>
          </p:cNvPr>
          <p:cNvSpPr>
            <a:spLocks noGrp="1"/>
          </p:cNvSpPr>
          <p:nvPr>
            <p:ph type="title"/>
          </p:nvPr>
        </p:nvSpPr>
        <p:spPr>
          <a:xfrm>
            <a:off x="1143000" y="609600"/>
            <a:ext cx="9875520" cy="845127"/>
          </a:xfrm>
        </p:spPr>
        <p:style>
          <a:lnRef idx="2">
            <a:schemeClr val="accent5">
              <a:shade val="50000"/>
            </a:schemeClr>
          </a:lnRef>
          <a:fillRef idx="1">
            <a:schemeClr val="accent5"/>
          </a:fillRef>
          <a:effectRef idx="0">
            <a:schemeClr val="accent5"/>
          </a:effectRef>
          <a:fontRef idx="minor">
            <a:schemeClr val="lt1"/>
          </a:fontRef>
        </p:style>
        <p:txBody>
          <a:bodyPr/>
          <a:lstStyle/>
          <a:p>
            <a:r>
              <a:rPr lang="en-IN" dirty="0"/>
              <a:t>PRESERVATION OF RECORDS </a:t>
            </a:r>
          </a:p>
        </p:txBody>
      </p:sp>
      <p:sp>
        <p:nvSpPr>
          <p:cNvPr id="3" name="Content Placeholder 2">
            <a:extLst>
              <a:ext uri="{FF2B5EF4-FFF2-40B4-BE49-F238E27FC236}">
                <a16:creationId xmlns:a16="http://schemas.microsoft.com/office/drawing/2014/main" id="{92575690-1C82-4FCF-A3EA-9C73113D3AFF}"/>
              </a:ext>
            </a:extLst>
          </p:cNvPr>
          <p:cNvSpPr>
            <a:spLocks noGrp="1"/>
          </p:cNvSpPr>
          <p:nvPr>
            <p:ph idx="1"/>
          </p:nvPr>
        </p:nvSpPr>
        <p:spPr>
          <a:xfrm>
            <a:off x="1140352" y="1814945"/>
            <a:ext cx="9875519" cy="3782291"/>
          </a:xfrm>
          <a:solidFill>
            <a:schemeClr val="bg1">
              <a:lumMod val="95000"/>
            </a:schemeClr>
          </a:solidFill>
        </p:spPr>
        <p:txBody>
          <a:bodyPr/>
          <a:lstStyle/>
          <a:p>
            <a:r>
              <a:rPr lang="en-IN" dirty="0">
                <a:solidFill>
                  <a:schemeClr val="tx1"/>
                </a:solidFill>
                <a:latin typeface="Arial" panose="020B0604020202020204" pitchFamily="34" charset="0"/>
                <a:cs typeface="Arial" panose="020B0604020202020204" pitchFamily="34" charset="0"/>
              </a:rPr>
              <a:t>There are some important purpose to retain some medical records .these are .</a:t>
            </a:r>
          </a:p>
          <a:p>
            <a:pPr marL="502920" indent="-457200">
              <a:buAutoNum type="arabicPeriod"/>
            </a:pPr>
            <a:r>
              <a:rPr lang="en-IN" dirty="0">
                <a:solidFill>
                  <a:schemeClr val="tx1"/>
                </a:solidFill>
                <a:latin typeface="Arial" panose="020B0604020202020204" pitchFamily="34" charset="0"/>
                <a:cs typeface="Arial" panose="020B0604020202020204" pitchFamily="34" charset="0"/>
              </a:rPr>
              <a:t>To meet the needs of patient .</a:t>
            </a:r>
          </a:p>
          <a:p>
            <a:pPr marL="502920" indent="-457200">
              <a:buAutoNum type="arabicPeriod"/>
            </a:pPr>
            <a:r>
              <a:rPr lang="en-IN" dirty="0">
                <a:solidFill>
                  <a:schemeClr val="tx1"/>
                </a:solidFill>
                <a:latin typeface="Arial" panose="020B0604020202020204" pitchFamily="34" charset="0"/>
                <a:cs typeface="Arial" panose="020B0604020202020204" pitchFamily="34" charset="0"/>
              </a:rPr>
              <a:t>To assist in protecting the legal interest of the patient, the attending staff and the hospital and also to serve as proof of work done .</a:t>
            </a:r>
          </a:p>
          <a:p>
            <a:pPr marL="502920" indent="-457200">
              <a:buAutoNum type="arabicPeriod"/>
            </a:pPr>
            <a:r>
              <a:rPr lang="en-IN" dirty="0">
                <a:solidFill>
                  <a:schemeClr val="tx1"/>
                </a:solidFill>
                <a:latin typeface="Arial" panose="020B0604020202020204" pitchFamily="34" charset="0"/>
                <a:cs typeface="Arial" panose="020B0604020202020204" pitchFamily="34" charset="0"/>
              </a:rPr>
              <a:t>To assist in the teaching of medical and paramedical staff and carry out medical research .</a:t>
            </a:r>
          </a:p>
          <a:p>
            <a:pPr marL="502920" indent="-457200">
              <a:buAutoNum type="arabicPeriod"/>
            </a:pPr>
            <a:endParaRPr lang="en-IN" dirty="0"/>
          </a:p>
        </p:txBody>
      </p:sp>
    </p:spTree>
    <p:extLst>
      <p:ext uri="{BB962C8B-B14F-4D97-AF65-F5344CB8AC3E}">
        <p14:creationId xmlns:p14="http://schemas.microsoft.com/office/powerpoint/2010/main" val="1533514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EE574-8068-43DF-AF69-23C4B8D4994A}"/>
              </a:ext>
            </a:extLst>
          </p:cNvPr>
          <p:cNvSpPr>
            <a:spLocks noGrp="1"/>
          </p:cNvSpPr>
          <p:nvPr>
            <p:ph type="title"/>
          </p:nvPr>
        </p:nvSpPr>
        <p:spPr>
          <a:xfrm>
            <a:off x="789709" y="609600"/>
            <a:ext cx="10709564" cy="817418"/>
          </a:xfrm>
        </p:spPr>
        <p:style>
          <a:lnRef idx="3">
            <a:schemeClr val="lt1"/>
          </a:lnRef>
          <a:fillRef idx="1">
            <a:schemeClr val="accent2"/>
          </a:fillRef>
          <a:effectRef idx="1">
            <a:schemeClr val="accent2"/>
          </a:effectRef>
          <a:fontRef idx="minor">
            <a:schemeClr val="lt1"/>
          </a:fontRef>
        </p:style>
        <p:txBody>
          <a:bodyPr/>
          <a:lstStyle/>
          <a:p>
            <a:r>
              <a:rPr lang="en-IN" dirty="0"/>
              <a:t>MEASURES OF PROPER PRESERVATION </a:t>
            </a:r>
          </a:p>
        </p:txBody>
      </p:sp>
      <p:sp>
        <p:nvSpPr>
          <p:cNvPr id="3" name="Content Placeholder 2">
            <a:extLst>
              <a:ext uri="{FF2B5EF4-FFF2-40B4-BE49-F238E27FC236}">
                <a16:creationId xmlns:a16="http://schemas.microsoft.com/office/drawing/2014/main" id="{C0BC5458-C1E9-42B5-8185-30852402367D}"/>
              </a:ext>
            </a:extLst>
          </p:cNvPr>
          <p:cNvSpPr>
            <a:spLocks noGrp="1"/>
          </p:cNvSpPr>
          <p:nvPr>
            <p:ph idx="1"/>
          </p:nvPr>
        </p:nvSpPr>
        <p:spPr>
          <a:xfrm>
            <a:off x="1025236" y="1704109"/>
            <a:ext cx="9990636" cy="4391891"/>
          </a:xfrm>
          <a:solidFill>
            <a:schemeClr val="bg1">
              <a:lumMod val="95000"/>
            </a:schemeClr>
          </a:solidFill>
          <a:ln>
            <a:noFill/>
          </a:ln>
        </p:spPr>
        <p:style>
          <a:lnRef idx="0">
            <a:scrgbClr r="0" g="0" b="0"/>
          </a:lnRef>
          <a:fillRef idx="0">
            <a:scrgbClr r="0" g="0" b="0"/>
          </a:fillRef>
          <a:effectRef idx="0">
            <a:scrgbClr r="0" g="0" b="0"/>
          </a:effectRef>
          <a:fontRef idx="minor">
            <a:schemeClr val="dk1"/>
          </a:fontRef>
        </p:style>
        <p:txBody>
          <a:bodyPr/>
          <a:lstStyle/>
          <a:p>
            <a:r>
              <a:rPr lang="en-IN" u="sng" dirty="0">
                <a:solidFill>
                  <a:schemeClr val="tx1"/>
                </a:solidFill>
                <a:highlight>
                  <a:srgbClr val="FFFF00"/>
                </a:highlight>
                <a:latin typeface="Arial" panose="020B0604020202020204" pitchFamily="34" charset="0"/>
                <a:cs typeface="Arial" panose="020B0604020202020204" pitchFamily="34" charset="0"/>
              </a:rPr>
              <a:t>1.SELECTION OF PAPER AND INK </a:t>
            </a:r>
            <a:r>
              <a:rPr lang="en-IN" dirty="0">
                <a:solidFill>
                  <a:schemeClr val="tx1"/>
                </a:solidFill>
                <a:highlight>
                  <a:srgbClr val="FFFF00"/>
                </a:highlight>
                <a:latin typeface="Arial" panose="020B0604020202020204" pitchFamily="34" charset="0"/>
                <a:cs typeface="Arial" panose="020B0604020202020204" pitchFamily="34" charset="0"/>
              </a:rPr>
              <a:t>:</a:t>
            </a:r>
            <a:r>
              <a:rPr lang="en-IN" dirty="0">
                <a:solidFill>
                  <a:schemeClr val="tx1"/>
                </a:solidFill>
                <a:latin typeface="Arial" panose="020B0604020202020204" pitchFamily="34" charset="0"/>
                <a:cs typeface="Arial" panose="020B0604020202020204" pitchFamily="34" charset="0"/>
              </a:rPr>
              <a:t>For longer duration , for lasting more than 10 </a:t>
            </a:r>
            <a:r>
              <a:rPr lang="en-IN" dirty="0" err="1">
                <a:solidFill>
                  <a:schemeClr val="tx1"/>
                </a:solidFill>
                <a:latin typeface="Arial" panose="020B0604020202020204" pitchFamily="34" charset="0"/>
                <a:cs typeface="Arial" panose="020B0604020202020204" pitchFamily="34" charset="0"/>
              </a:rPr>
              <a:t>yrs</a:t>
            </a:r>
            <a:r>
              <a:rPr lang="en-IN" dirty="0">
                <a:solidFill>
                  <a:schemeClr val="tx1"/>
                </a:solidFill>
                <a:latin typeface="Arial" panose="020B0604020202020204" pitchFamily="34" charset="0"/>
                <a:cs typeface="Arial" panose="020B0604020202020204" pitchFamily="34" charset="0"/>
              </a:rPr>
              <a:t> or lasting permanently.</a:t>
            </a:r>
          </a:p>
          <a:p>
            <a:r>
              <a:rPr lang="en-IN" dirty="0">
                <a:solidFill>
                  <a:schemeClr val="tx1"/>
                </a:solidFill>
                <a:latin typeface="Arial" panose="020B0604020202020204" pitchFamily="34" charset="0"/>
                <a:cs typeface="Arial" panose="020B0604020202020204" pitchFamily="34" charset="0"/>
              </a:rPr>
              <a:t>USA, UK developed specific ink and paper for preservation.</a:t>
            </a:r>
          </a:p>
          <a:p>
            <a:pPr marL="45720" indent="0">
              <a:buNone/>
            </a:pPr>
            <a:r>
              <a:rPr lang="en-IN" dirty="0">
                <a:solidFill>
                  <a:schemeClr val="tx1"/>
                </a:solidFill>
                <a:latin typeface="Arial" panose="020B0604020202020204" pitchFamily="34" charset="0"/>
                <a:cs typeface="Arial" panose="020B0604020202020204" pitchFamily="34" charset="0"/>
              </a:rPr>
              <a:t>2</a:t>
            </a:r>
            <a:r>
              <a:rPr lang="en-IN" dirty="0">
                <a:solidFill>
                  <a:schemeClr val="tx1"/>
                </a:solidFill>
                <a:highlight>
                  <a:srgbClr val="FFFF00"/>
                </a:highlight>
                <a:latin typeface="Arial" panose="020B0604020202020204" pitchFamily="34" charset="0"/>
                <a:cs typeface="Arial" panose="020B0604020202020204" pitchFamily="34" charset="0"/>
              </a:rPr>
              <a:t>. </a:t>
            </a:r>
            <a:r>
              <a:rPr lang="en-IN" u="sng" dirty="0">
                <a:solidFill>
                  <a:schemeClr val="tx1"/>
                </a:solidFill>
                <a:highlight>
                  <a:srgbClr val="FFFF00"/>
                </a:highlight>
                <a:latin typeface="Arial" panose="020B0604020202020204" pitchFamily="34" charset="0"/>
                <a:cs typeface="Arial" panose="020B0604020202020204" pitchFamily="34" charset="0"/>
              </a:rPr>
              <a:t>PRESERVATION OF DECAY AND ROT </a:t>
            </a:r>
            <a:r>
              <a:rPr lang="en-IN" dirty="0">
                <a:solidFill>
                  <a:schemeClr val="tx1"/>
                </a:solidFill>
                <a:highlight>
                  <a:srgbClr val="FFFF00"/>
                </a:highlight>
                <a:latin typeface="Arial" panose="020B0604020202020204" pitchFamily="34" charset="0"/>
                <a:cs typeface="Arial" panose="020B0604020202020204" pitchFamily="34" charset="0"/>
              </a:rPr>
              <a:t>:</a:t>
            </a:r>
            <a:r>
              <a:rPr lang="en-IN" dirty="0">
                <a:solidFill>
                  <a:schemeClr val="tx1"/>
                </a:solidFill>
                <a:latin typeface="Arial" panose="020B0604020202020204" pitchFamily="34" charset="0"/>
                <a:cs typeface="Arial" panose="020B0604020202020204" pitchFamily="34" charset="0"/>
              </a:rPr>
              <a:t>Deterioration of records takes place  if they are exposed to hot ,&amp; dry climate, stagnant air, direct sunlight , accumulation of dust, and dampness.</a:t>
            </a:r>
          </a:p>
          <a:p>
            <a:pPr marL="45720" indent="0">
              <a:buNone/>
            </a:pPr>
            <a:r>
              <a:rPr lang="en-IN" dirty="0">
                <a:solidFill>
                  <a:schemeClr val="tx1"/>
                </a:solidFill>
                <a:latin typeface="Arial" panose="020B0604020202020204" pitchFamily="34" charset="0"/>
                <a:cs typeface="Arial" panose="020B0604020202020204" pitchFamily="34" charset="0"/>
              </a:rPr>
              <a:t>Arrangement for proper cross-ventilation and provisions for adequate number of electrical fans or air-conditions and exhaust fan should be made to ensure good air circulation. </a:t>
            </a:r>
          </a:p>
          <a:p>
            <a:pPr marL="45720" indent="0">
              <a:buNone/>
            </a:pPr>
            <a:r>
              <a:rPr lang="en-IN" dirty="0">
                <a:solidFill>
                  <a:schemeClr val="tx1"/>
                </a:solidFill>
                <a:latin typeface="Arial" panose="020B0604020202020204" pitchFamily="34" charset="0"/>
                <a:cs typeface="Arial" panose="020B0604020202020204" pitchFamily="34" charset="0"/>
              </a:rPr>
              <a:t>Regular dusting of records with vacuum cleaners is also necessary </a:t>
            </a:r>
          </a:p>
        </p:txBody>
      </p:sp>
    </p:spTree>
    <p:extLst>
      <p:ext uri="{BB962C8B-B14F-4D97-AF65-F5344CB8AC3E}">
        <p14:creationId xmlns:p14="http://schemas.microsoft.com/office/powerpoint/2010/main" val="2724649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E75F9-45C3-450E-8309-55ED02D26B3B}"/>
              </a:ext>
            </a:extLst>
          </p:cNvPr>
          <p:cNvSpPr>
            <a:spLocks noGrp="1"/>
          </p:cNvSpPr>
          <p:nvPr>
            <p:ph type="title"/>
          </p:nvPr>
        </p:nvSpPr>
        <p:spPr>
          <a:xfrm>
            <a:off x="678873" y="484910"/>
            <a:ext cx="10751127" cy="706582"/>
          </a:xfrm>
        </p:spPr>
        <p:style>
          <a:lnRef idx="3">
            <a:schemeClr val="lt1"/>
          </a:lnRef>
          <a:fillRef idx="1">
            <a:schemeClr val="accent2"/>
          </a:fillRef>
          <a:effectRef idx="1">
            <a:schemeClr val="accent2"/>
          </a:effectRef>
          <a:fontRef idx="minor">
            <a:schemeClr val="lt1"/>
          </a:fontRef>
        </p:style>
        <p:txBody>
          <a:bodyPr/>
          <a:lstStyle/>
          <a:p>
            <a:r>
              <a:rPr lang="en-IN" dirty="0"/>
              <a:t>MEASURES OF PROPER PRESERVATION </a:t>
            </a:r>
          </a:p>
        </p:txBody>
      </p:sp>
      <p:sp>
        <p:nvSpPr>
          <p:cNvPr id="3" name="Content Placeholder 2">
            <a:extLst>
              <a:ext uri="{FF2B5EF4-FFF2-40B4-BE49-F238E27FC236}">
                <a16:creationId xmlns:a16="http://schemas.microsoft.com/office/drawing/2014/main" id="{81CBB0FB-1D80-4A96-B297-140F443927D3}"/>
              </a:ext>
            </a:extLst>
          </p:cNvPr>
          <p:cNvSpPr>
            <a:spLocks noGrp="1"/>
          </p:cNvSpPr>
          <p:nvPr>
            <p:ph idx="1"/>
          </p:nvPr>
        </p:nvSpPr>
        <p:spPr>
          <a:xfrm>
            <a:off x="775855" y="1316181"/>
            <a:ext cx="10543309" cy="5153891"/>
          </a:xfrm>
          <a:solidFill>
            <a:schemeClr val="bg1">
              <a:lumMod val="95000"/>
            </a:schemeClr>
          </a:solidFill>
        </p:spPr>
        <p:txBody>
          <a:bodyPr>
            <a:normAutofit lnSpcReduction="10000"/>
          </a:bodyPr>
          <a:lstStyle/>
          <a:p>
            <a:r>
              <a:rPr lang="en-IN" b="1" u="sng" dirty="0">
                <a:solidFill>
                  <a:schemeClr val="tx1"/>
                </a:solidFill>
                <a:highlight>
                  <a:srgbClr val="FFFF00"/>
                </a:highlight>
              </a:rPr>
              <a:t>3</a:t>
            </a:r>
            <a:r>
              <a:rPr lang="en-IN" u="sng" dirty="0">
                <a:solidFill>
                  <a:schemeClr val="tx1"/>
                </a:solidFill>
                <a:highlight>
                  <a:srgbClr val="FFFF00"/>
                </a:highlight>
                <a:latin typeface="Arial" panose="020B0604020202020204" pitchFamily="34" charset="0"/>
                <a:cs typeface="Arial" panose="020B0604020202020204" pitchFamily="34" charset="0"/>
              </a:rPr>
              <a:t>.PROTECTION FROM INSECT ATTACK </a:t>
            </a:r>
            <a:r>
              <a:rPr lang="en-IN" dirty="0">
                <a:solidFill>
                  <a:schemeClr val="tx1"/>
                </a:solidFill>
                <a:highlight>
                  <a:srgbClr val="FFFF00"/>
                </a:highlight>
                <a:latin typeface="Arial" panose="020B0604020202020204" pitchFamily="34" charset="0"/>
                <a:cs typeface="Arial" panose="020B0604020202020204" pitchFamily="34" charset="0"/>
              </a:rPr>
              <a:t>:</a:t>
            </a:r>
            <a:r>
              <a:rPr lang="en-IN" dirty="0">
                <a:solidFill>
                  <a:schemeClr val="tx1"/>
                </a:solidFill>
                <a:latin typeface="Arial" panose="020B0604020202020204" pitchFamily="34" charset="0"/>
                <a:cs typeface="Arial" panose="020B0604020202020204" pitchFamily="34" charset="0"/>
              </a:rPr>
              <a:t>Dark and dingy places, crack, loose joints in floor and wall and presence of edibles in the record room encourage insect breeding .</a:t>
            </a:r>
          </a:p>
          <a:p>
            <a:r>
              <a:rPr lang="en-IN" dirty="0">
                <a:solidFill>
                  <a:schemeClr val="tx1"/>
                </a:solidFill>
                <a:latin typeface="Arial" panose="020B0604020202020204" pitchFamily="34" charset="0"/>
                <a:cs typeface="Arial" panose="020B0604020202020204" pitchFamily="34" charset="0"/>
              </a:rPr>
              <a:t>Periodical checking  of the floors, walls, attending to minor defects, insecticidal powders/ spray , naphthalene ball in bookshelves prevent infestation of records by insects.</a:t>
            </a:r>
          </a:p>
          <a:p>
            <a:r>
              <a:rPr lang="en-IN" dirty="0">
                <a:solidFill>
                  <a:schemeClr val="tx1"/>
                </a:solidFill>
                <a:latin typeface="Arial" panose="020B0604020202020204" pitchFamily="34" charset="0"/>
                <a:cs typeface="Arial" panose="020B0604020202020204" pitchFamily="34" charset="0"/>
              </a:rPr>
              <a:t>Measures should be taken in using liquid on shelves as it might cause stain or damage the record.</a:t>
            </a:r>
          </a:p>
          <a:p>
            <a:r>
              <a:rPr lang="en-IN" dirty="0">
                <a:solidFill>
                  <a:schemeClr val="tx1"/>
                </a:solidFill>
                <a:latin typeface="Arial" panose="020B0604020202020204" pitchFamily="34" charset="0"/>
                <a:cs typeface="Arial" panose="020B0604020202020204" pitchFamily="34" charset="0"/>
              </a:rPr>
              <a:t>Fumigation of record rooms can be done , but fumigants should not have any deleterious effect on paper and other record material.</a:t>
            </a:r>
          </a:p>
          <a:p>
            <a:r>
              <a:rPr lang="en-IN" dirty="0">
                <a:solidFill>
                  <a:schemeClr val="tx1"/>
                </a:solidFill>
                <a:latin typeface="Arial" panose="020B0604020202020204" pitchFamily="34" charset="0"/>
                <a:cs typeface="Arial" panose="020B0604020202020204" pitchFamily="34" charset="0"/>
              </a:rPr>
              <a:t>Filing rack should not be kept in close contact with damp walls to avoid damage by dam and silverfish.it should be installed 5’’ away from the wall.</a:t>
            </a:r>
          </a:p>
          <a:p>
            <a:pPr marL="45720" indent="0">
              <a:buNone/>
            </a:pPr>
            <a:r>
              <a:rPr lang="en-IN" dirty="0">
                <a:solidFill>
                  <a:schemeClr val="tx1"/>
                </a:solidFill>
                <a:latin typeface="Arial" panose="020B0604020202020204" pitchFamily="34" charset="0"/>
                <a:cs typeface="Arial" panose="020B0604020202020204" pitchFamily="34" charset="0"/>
              </a:rPr>
              <a:t>Closed steel rack preferred for filing Medical record as wooden rack may attract white ants.</a:t>
            </a:r>
          </a:p>
          <a:p>
            <a:endParaRPr lang="en-IN" b="1" dirty="0">
              <a:solidFill>
                <a:schemeClr val="tx1"/>
              </a:solidFill>
            </a:endParaRPr>
          </a:p>
        </p:txBody>
      </p:sp>
    </p:spTree>
    <p:extLst>
      <p:ext uri="{BB962C8B-B14F-4D97-AF65-F5344CB8AC3E}">
        <p14:creationId xmlns:p14="http://schemas.microsoft.com/office/powerpoint/2010/main" val="89533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64767-F291-46FE-A398-A342F17BC3E3}"/>
              </a:ext>
            </a:extLst>
          </p:cNvPr>
          <p:cNvSpPr>
            <a:spLocks noGrp="1"/>
          </p:cNvSpPr>
          <p:nvPr>
            <p:ph type="title"/>
          </p:nvPr>
        </p:nvSpPr>
        <p:spPr>
          <a:xfrm>
            <a:off x="561109" y="401782"/>
            <a:ext cx="11069781" cy="720436"/>
          </a:xfrm>
        </p:spPr>
        <p:style>
          <a:lnRef idx="3">
            <a:schemeClr val="lt1"/>
          </a:lnRef>
          <a:fillRef idx="1">
            <a:schemeClr val="accent2"/>
          </a:fillRef>
          <a:effectRef idx="1">
            <a:schemeClr val="accent2"/>
          </a:effectRef>
          <a:fontRef idx="minor">
            <a:schemeClr val="lt1"/>
          </a:fontRef>
        </p:style>
        <p:txBody>
          <a:bodyPr/>
          <a:lstStyle/>
          <a:p>
            <a:r>
              <a:rPr lang="en-IN" dirty="0"/>
              <a:t>MEASURES OF PROPER PRESERVATION </a:t>
            </a:r>
          </a:p>
        </p:txBody>
      </p:sp>
      <p:sp>
        <p:nvSpPr>
          <p:cNvPr id="3" name="Content Placeholder 2">
            <a:extLst>
              <a:ext uri="{FF2B5EF4-FFF2-40B4-BE49-F238E27FC236}">
                <a16:creationId xmlns:a16="http://schemas.microsoft.com/office/drawing/2014/main" id="{19C3645F-E456-4639-83FC-DC00919D51E6}"/>
              </a:ext>
            </a:extLst>
          </p:cNvPr>
          <p:cNvSpPr>
            <a:spLocks noGrp="1"/>
          </p:cNvSpPr>
          <p:nvPr>
            <p:ph idx="1"/>
          </p:nvPr>
        </p:nvSpPr>
        <p:spPr>
          <a:xfrm>
            <a:off x="678873" y="1260764"/>
            <a:ext cx="10952017" cy="5195454"/>
          </a:xfrm>
          <a:solidFill>
            <a:schemeClr val="bg1">
              <a:lumMod val="95000"/>
            </a:schemeClr>
          </a:solidFill>
        </p:spPr>
        <p:txBody>
          <a:bodyPr>
            <a:normAutofit/>
          </a:bodyPr>
          <a:lstStyle/>
          <a:p>
            <a:r>
              <a:rPr lang="en-IN" u="sng" dirty="0">
                <a:solidFill>
                  <a:schemeClr val="tx1"/>
                </a:solidFill>
                <a:highlight>
                  <a:srgbClr val="FFFF00"/>
                </a:highlight>
                <a:latin typeface="Arial" panose="020B0604020202020204" pitchFamily="34" charset="0"/>
                <a:cs typeface="Arial" panose="020B0604020202020204" pitchFamily="34" charset="0"/>
              </a:rPr>
              <a:t>4.ATMOSPHERIC POLLUTION </a:t>
            </a:r>
            <a:r>
              <a:rPr lang="en-IN" dirty="0">
                <a:solidFill>
                  <a:schemeClr val="tx1"/>
                </a:solidFill>
                <a:latin typeface="Arial" panose="020B0604020202020204" pitchFamily="34" charset="0"/>
                <a:cs typeface="Arial" panose="020B0604020202020204" pitchFamily="34" charset="0"/>
              </a:rPr>
              <a:t>:medical records and register </a:t>
            </a:r>
            <a:r>
              <a:rPr lang="en-IN" dirty="0" err="1">
                <a:solidFill>
                  <a:schemeClr val="tx1"/>
                </a:solidFill>
                <a:latin typeface="Arial" panose="020B0604020202020204" pitchFamily="34" charset="0"/>
                <a:cs typeface="Arial" panose="020B0604020202020204" pitchFamily="34" charset="0"/>
              </a:rPr>
              <a:t>detoriate</a:t>
            </a:r>
            <a:r>
              <a:rPr lang="en-IN" dirty="0">
                <a:solidFill>
                  <a:schemeClr val="tx1"/>
                </a:solidFill>
                <a:latin typeface="Arial" panose="020B0604020202020204" pitchFamily="34" charset="0"/>
                <a:cs typeface="Arial" panose="020B0604020202020204" pitchFamily="34" charset="0"/>
              </a:rPr>
              <a:t> more rapidly in a city than in its suburbs due to presence of acidic gases in the atmosphere .</a:t>
            </a:r>
          </a:p>
          <a:p>
            <a:r>
              <a:rPr lang="en-IN" dirty="0">
                <a:solidFill>
                  <a:schemeClr val="tx1"/>
                </a:solidFill>
                <a:latin typeface="Arial" panose="020B0604020202020204" pitchFamily="34" charset="0"/>
                <a:cs typeface="Arial" panose="020B0604020202020204" pitchFamily="34" charset="0"/>
              </a:rPr>
              <a:t>As sulphur dioxide and sulfurated hydrogen is more  in the polluted air of industrial zones.</a:t>
            </a:r>
          </a:p>
          <a:p>
            <a:r>
              <a:rPr lang="en-IN" dirty="0">
                <a:solidFill>
                  <a:schemeClr val="tx1"/>
                </a:solidFill>
                <a:latin typeface="Arial" panose="020B0604020202020204" pitchFamily="34" charset="0"/>
                <a:cs typeface="Arial" panose="020B0604020202020204" pitchFamily="34" charset="0"/>
              </a:rPr>
              <a:t>Dust particles present on paper, act as nuclei for the condensation of acidic gases and propagation of mildew spores and lead to growth of mildew .</a:t>
            </a:r>
          </a:p>
          <a:p>
            <a:r>
              <a:rPr lang="en-IN" dirty="0">
                <a:solidFill>
                  <a:schemeClr val="tx1"/>
                </a:solidFill>
                <a:highlight>
                  <a:srgbClr val="FFFF00"/>
                </a:highlight>
                <a:latin typeface="Arial" panose="020B0604020202020204" pitchFamily="34" charset="0"/>
                <a:cs typeface="Arial" panose="020B0604020202020204" pitchFamily="34" charset="0"/>
              </a:rPr>
              <a:t>5. </a:t>
            </a:r>
            <a:r>
              <a:rPr lang="en-IN" u="sng" dirty="0">
                <a:solidFill>
                  <a:schemeClr val="tx1"/>
                </a:solidFill>
                <a:highlight>
                  <a:srgbClr val="FFFF00"/>
                </a:highlight>
                <a:latin typeface="Arial" panose="020B0604020202020204" pitchFamily="34" charset="0"/>
                <a:cs typeface="Arial" panose="020B0604020202020204" pitchFamily="34" charset="0"/>
              </a:rPr>
              <a:t>SAFTY MEASURES AGAINST FIRE IN RECORDS ROOM</a:t>
            </a:r>
            <a:r>
              <a:rPr lang="en-IN" dirty="0">
                <a:solidFill>
                  <a:schemeClr val="tx1"/>
                </a:solidFill>
                <a:highlight>
                  <a:srgbClr val="FFFF00"/>
                </a:highlight>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Smoking , lighting of match stick or carrying of an open flame and storage of chemical in a record room should be prohibited.</a:t>
            </a:r>
          </a:p>
          <a:p>
            <a:r>
              <a:rPr lang="en-IN" dirty="0">
                <a:solidFill>
                  <a:schemeClr val="tx1"/>
                </a:solidFill>
                <a:latin typeface="Arial" panose="020B0604020202020204" pitchFamily="34" charset="0"/>
                <a:cs typeface="Arial" panose="020B0604020202020204" pitchFamily="34" charset="0"/>
              </a:rPr>
              <a:t>Adequate fire extinguishers should be fixed at convenient places.</a:t>
            </a:r>
          </a:p>
          <a:p>
            <a:r>
              <a:rPr lang="en-IN" dirty="0">
                <a:solidFill>
                  <a:schemeClr val="tx1"/>
                </a:solidFill>
                <a:latin typeface="Arial" panose="020B0604020202020204" pitchFamily="34" charset="0"/>
                <a:cs typeface="Arial" panose="020B0604020202020204" pitchFamily="34" charset="0"/>
              </a:rPr>
              <a:t>All electric wires should run through conduits.</a:t>
            </a:r>
          </a:p>
          <a:p>
            <a:r>
              <a:rPr lang="en-IN" dirty="0">
                <a:solidFill>
                  <a:schemeClr val="tx1"/>
                </a:solidFill>
                <a:latin typeface="Arial" panose="020B0604020202020204" pitchFamily="34" charset="0"/>
                <a:cs typeface="Arial" panose="020B0604020202020204" pitchFamily="34" charset="0"/>
              </a:rPr>
              <a:t>Window and ventilators should be covered with wire –net frames as safeguard and against sabotage or pilferage.</a:t>
            </a:r>
          </a:p>
          <a:p>
            <a:endParaRPr lang="en-IN"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3015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BAB2D-52DE-41AA-B43D-8D8D41D33176}"/>
              </a:ext>
            </a:extLst>
          </p:cNvPr>
          <p:cNvSpPr>
            <a:spLocks noGrp="1"/>
          </p:cNvSpPr>
          <p:nvPr>
            <p:ph type="title"/>
          </p:nvPr>
        </p:nvSpPr>
        <p:spPr>
          <a:xfrm>
            <a:off x="983673" y="609600"/>
            <a:ext cx="10034847" cy="637309"/>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IN" dirty="0"/>
              <a:t>MEASURES OF PROPER PRESERVATION </a:t>
            </a:r>
          </a:p>
        </p:txBody>
      </p:sp>
      <p:sp>
        <p:nvSpPr>
          <p:cNvPr id="3" name="Content Placeholder 2">
            <a:extLst>
              <a:ext uri="{FF2B5EF4-FFF2-40B4-BE49-F238E27FC236}">
                <a16:creationId xmlns:a16="http://schemas.microsoft.com/office/drawing/2014/main" id="{BC7B2FA1-A8C7-4246-8ED0-9847FAD8F537}"/>
              </a:ext>
            </a:extLst>
          </p:cNvPr>
          <p:cNvSpPr>
            <a:spLocks noGrp="1"/>
          </p:cNvSpPr>
          <p:nvPr>
            <p:ph idx="1"/>
          </p:nvPr>
        </p:nvSpPr>
        <p:spPr>
          <a:xfrm>
            <a:off x="872836" y="1399309"/>
            <a:ext cx="10143035" cy="4696691"/>
          </a:xfrm>
          <a:solidFill>
            <a:schemeClr val="bg1">
              <a:lumMod val="95000"/>
            </a:schemeClr>
          </a:solidFill>
        </p:spPr>
        <p:txBody>
          <a:bodyPr>
            <a:normAutofit/>
          </a:bodyPr>
          <a:lstStyle/>
          <a:p>
            <a:r>
              <a:rPr lang="en-IN" b="1" u="sng" dirty="0">
                <a:solidFill>
                  <a:schemeClr val="tx1"/>
                </a:solidFill>
                <a:highlight>
                  <a:srgbClr val="FFFF00"/>
                </a:highlight>
              </a:rPr>
              <a:t>6.TEMPERATURE AND HUMIDITY CONTROL</a:t>
            </a:r>
            <a:r>
              <a:rPr lang="en-IN" dirty="0">
                <a:solidFill>
                  <a:schemeClr val="tx1"/>
                </a:solidFill>
                <a:highlight>
                  <a:srgbClr val="FFFF00"/>
                </a:highlight>
              </a:rPr>
              <a:t> </a:t>
            </a:r>
            <a:r>
              <a:rPr lang="en-IN" dirty="0"/>
              <a:t>: </a:t>
            </a:r>
            <a:r>
              <a:rPr lang="en-IN" dirty="0">
                <a:solidFill>
                  <a:schemeClr val="tx1"/>
                </a:solidFill>
                <a:latin typeface="Arial" panose="020B0604020202020204" pitchFamily="34" charset="0"/>
                <a:cs typeface="Arial" panose="020B0604020202020204" pitchFamily="34" charset="0"/>
              </a:rPr>
              <a:t>Temperature and relative humidity most </a:t>
            </a:r>
            <a:r>
              <a:rPr lang="en-IN" dirty="0" err="1">
                <a:solidFill>
                  <a:schemeClr val="tx1"/>
                </a:solidFill>
                <a:latin typeface="Arial" panose="020B0604020202020204" pitchFamily="34" charset="0"/>
                <a:cs typeface="Arial" panose="020B0604020202020204" pitchFamily="34" charset="0"/>
              </a:rPr>
              <a:t>sutable</a:t>
            </a:r>
            <a:r>
              <a:rPr lang="en-IN" dirty="0">
                <a:solidFill>
                  <a:schemeClr val="tx1"/>
                </a:solidFill>
                <a:latin typeface="Arial" panose="020B0604020202020204" pitchFamily="34" charset="0"/>
                <a:cs typeface="Arial" panose="020B0604020202020204" pitchFamily="34" charset="0"/>
              </a:rPr>
              <a:t> for proper preservation of paper and other record material range between 22-25 * C&amp; 45-55 % .</a:t>
            </a:r>
          </a:p>
          <a:p>
            <a:r>
              <a:rPr lang="en-IN" dirty="0">
                <a:solidFill>
                  <a:schemeClr val="tx1"/>
                </a:solidFill>
                <a:latin typeface="Arial" panose="020B0604020202020204" pitchFamily="34" charset="0"/>
                <a:cs typeface="Arial" panose="020B0604020202020204" pitchFamily="34" charset="0"/>
              </a:rPr>
              <a:t>It is only possible with the help of an elaborate air-conditioning plant, where it is also possible to treat the air with the alkaline water having pH of 8.6 or above, so that acidic gas in the atmosphere may neutralized.</a:t>
            </a:r>
          </a:p>
          <a:p>
            <a:r>
              <a:rPr lang="en-IN" dirty="0">
                <a:solidFill>
                  <a:schemeClr val="tx1"/>
                </a:solidFill>
                <a:latin typeface="Arial" panose="020B0604020202020204" pitchFamily="34" charset="0"/>
                <a:cs typeface="Arial" panose="020B0604020202020204" pitchFamily="34" charset="0"/>
              </a:rPr>
              <a:t>Atmosphere temp. more than 32 *c and humidity more than 70%result in growth and propagation of pests, like hook worms, silverfish, cockroaches, termites and </a:t>
            </a:r>
            <a:r>
              <a:rPr lang="en-IN" dirty="0" err="1">
                <a:solidFill>
                  <a:schemeClr val="tx1"/>
                </a:solidFill>
                <a:latin typeface="Arial" panose="020B0604020202020204" pitchFamily="34" charset="0"/>
                <a:cs typeface="Arial" panose="020B0604020202020204" pitchFamily="34" charset="0"/>
              </a:rPr>
              <a:t>varity</a:t>
            </a:r>
            <a:r>
              <a:rPr lang="en-IN" dirty="0">
                <a:solidFill>
                  <a:schemeClr val="tx1"/>
                </a:solidFill>
                <a:latin typeface="Arial" panose="020B0604020202020204" pitchFamily="34" charset="0"/>
                <a:cs typeface="Arial" panose="020B0604020202020204" pitchFamily="34" charset="0"/>
              </a:rPr>
              <a:t> of fungus.</a:t>
            </a:r>
          </a:p>
          <a:p>
            <a:r>
              <a:rPr lang="en-IN" dirty="0">
                <a:solidFill>
                  <a:schemeClr val="tx1"/>
                </a:solidFill>
                <a:latin typeface="Arial" panose="020B0604020202020204" pitchFamily="34" charset="0"/>
                <a:cs typeface="Arial" panose="020B0604020202020204" pitchFamily="34" charset="0"/>
              </a:rPr>
              <a:t>Heavy dust particles are also eliminated in the airway system </a:t>
            </a:r>
          </a:p>
          <a:p>
            <a:r>
              <a:rPr lang="en-IN" dirty="0">
                <a:solidFill>
                  <a:schemeClr val="tx1"/>
                </a:solidFill>
                <a:latin typeface="Arial" panose="020B0604020202020204" pitchFamily="34" charset="0"/>
                <a:cs typeface="Arial" panose="020B0604020202020204" pitchFamily="34" charset="0"/>
              </a:rPr>
              <a:t>Commercial humidifiers can be used for reducing humidity .</a:t>
            </a:r>
          </a:p>
          <a:p>
            <a:endParaRPr lang="en-IN" dirty="0"/>
          </a:p>
        </p:txBody>
      </p:sp>
    </p:spTree>
    <p:extLst>
      <p:ext uri="{BB962C8B-B14F-4D97-AF65-F5344CB8AC3E}">
        <p14:creationId xmlns:p14="http://schemas.microsoft.com/office/powerpoint/2010/main" val="661474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C1441-ECF8-40D8-B203-4911BD167A02}"/>
              </a:ext>
            </a:extLst>
          </p:cNvPr>
          <p:cNvSpPr>
            <a:spLocks noGrp="1"/>
          </p:cNvSpPr>
          <p:nvPr>
            <p:ph type="title"/>
          </p:nvPr>
        </p:nvSpPr>
        <p:spPr>
          <a:xfrm>
            <a:off x="1143000" y="609600"/>
            <a:ext cx="9875520" cy="665018"/>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IN" dirty="0"/>
              <a:t>MEASURES OF PROPER PRESERVATION </a:t>
            </a:r>
          </a:p>
        </p:txBody>
      </p:sp>
      <p:sp>
        <p:nvSpPr>
          <p:cNvPr id="3" name="Content Placeholder 2">
            <a:extLst>
              <a:ext uri="{FF2B5EF4-FFF2-40B4-BE49-F238E27FC236}">
                <a16:creationId xmlns:a16="http://schemas.microsoft.com/office/drawing/2014/main" id="{484FB851-2F17-4399-A50D-3D0FFB546F5F}"/>
              </a:ext>
            </a:extLst>
          </p:cNvPr>
          <p:cNvSpPr>
            <a:spLocks noGrp="1"/>
          </p:cNvSpPr>
          <p:nvPr>
            <p:ph idx="1"/>
          </p:nvPr>
        </p:nvSpPr>
        <p:spPr>
          <a:xfrm>
            <a:off x="1143000" y="1274617"/>
            <a:ext cx="9872871" cy="5361709"/>
          </a:xfrm>
        </p:spPr>
        <p:txBody>
          <a:bodyPr/>
          <a:lstStyle/>
          <a:p>
            <a:r>
              <a:rPr lang="en-IN" u="sng" dirty="0">
                <a:solidFill>
                  <a:schemeClr val="tx1"/>
                </a:solidFill>
                <a:highlight>
                  <a:srgbClr val="FFFF00"/>
                </a:highlight>
                <a:latin typeface="Arial" panose="020B0604020202020204" pitchFamily="34" charset="0"/>
                <a:cs typeface="Arial" panose="020B0604020202020204" pitchFamily="34" charset="0"/>
              </a:rPr>
              <a:t>7.CARE IN HANDLING</a:t>
            </a:r>
            <a:r>
              <a:rPr lang="en-IN" dirty="0">
                <a:solidFill>
                  <a:schemeClr val="tx1"/>
                </a:solidFill>
                <a:latin typeface="Arial" panose="020B0604020202020204" pitchFamily="34" charset="0"/>
                <a:cs typeface="Arial" panose="020B0604020202020204" pitchFamily="34" charset="0"/>
              </a:rPr>
              <a:t> :All endeavours for proper  preservation and storage will require proper handling . This is often conspicuous by absence in our libraries and record rooms.</a:t>
            </a:r>
          </a:p>
          <a:p>
            <a:r>
              <a:rPr lang="en-IN" u="sng">
                <a:solidFill>
                  <a:schemeClr val="tx1"/>
                </a:solidFill>
                <a:highlight>
                  <a:srgbClr val="FFFF00"/>
                </a:highlight>
                <a:latin typeface="Arial" panose="020B0604020202020204" pitchFamily="34" charset="0"/>
                <a:cs typeface="Arial" panose="020B0604020202020204" pitchFamily="34" charset="0"/>
              </a:rPr>
              <a:t>8.MICROFILMING </a:t>
            </a:r>
            <a:r>
              <a:rPr lang="en-IN" u="sng" dirty="0">
                <a:solidFill>
                  <a:schemeClr val="tx1"/>
                </a:solidFill>
                <a:highlight>
                  <a:srgbClr val="FFFF00"/>
                </a:highlight>
                <a:latin typeface="Arial" panose="020B0604020202020204" pitchFamily="34" charset="0"/>
                <a:cs typeface="Arial" panose="020B0604020202020204" pitchFamily="34" charset="0"/>
              </a:rPr>
              <a:t>CONTROL REGISTER </a:t>
            </a:r>
            <a:r>
              <a:rPr lang="en-IN" dirty="0">
                <a:solidFill>
                  <a:schemeClr val="tx1"/>
                </a:solidFill>
                <a:latin typeface="Arial" panose="020B0604020202020204" pitchFamily="34" charset="0"/>
                <a:cs typeface="Arial" panose="020B0604020202020204" pitchFamily="34" charset="0"/>
              </a:rPr>
              <a:t>: as per the record retention schedule, certain medical records including patient files must be preserved and microfilmed.</a:t>
            </a:r>
          </a:p>
          <a:p>
            <a:r>
              <a:rPr lang="en-IN" dirty="0">
                <a:solidFill>
                  <a:schemeClr val="tx1"/>
                </a:solidFill>
                <a:latin typeface="Arial" panose="020B0604020202020204" pitchFamily="34" charset="0"/>
                <a:cs typeface="Arial" panose="020B0604020202020204" pitchFamily="34" charset="0"/>
              </a:rPr>
              <a:t>Maintaining a microfilming control register in order to have a good account of the records microfilmed is essential.</a:t>
            </a:r>
          </a:p>
          <a:p>
            <a:r>
              <a:rPr lang="en-IN" dirty="0">
                <a:solidFill>
                  <a:schemeClr val="tx1"/>
                </a:solidFill>
                <a:latin typeface="Arial" panose="020B0604020202020204" pitchFamily="34" charset="0"/>
                <a:cs typeface="Arial" panose="020B0604020202020204" pitchFamily="34" charset="0"/>
              </a:rPr>
              <a:t>In long term measures, two methods are suggested, 1)Maintaining a microfilm prehospital number register,  with the following columns : hospital  number, patient’s name, age, sex, date last admitted, date microfilmed, microfilm file number, date of original record destroyed, and other pertinent remarks.</a:t>
            </a:r>
          </a:p>
          <a:p>
            <a:r>
              <a:rPr lang="en-IN" dirty="0">
                <a:solidFill>
                  <a:schemeClr val="tx1"/>
                </a:solidFill>
                <a:latin typeface="Arial" panose="020B0604020202020204" pitchFamily="34" charset="0"/>
                <a:cs typeface="Arial" panose="020B0604020202020204" pitchFamily="34" charset="0"/>
              </a:rPr>
              <a:t>A prenumbered microfilmed sheet contains 0 to 100 numbers.</a:t>
            </a:r>
          </a:p>
          <a:p>
            <a:endParaRPr lang="en-IN"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1351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05F1-7C47-4817-A7B3-943976F097EA}"/>
              </a:ext>
            </a:extLst>
          </p:cNvPr>
          <p:cNvSpPr>
            <a:spLocks noGrp="1"/>
          </p:cNvSpPr>
          <p:nvPr>
            <p:ph type="title"/>
          </p:nvPr>
        </p:nvSpPr>
        <p:spPr>
          <a:xfrm>
            <a:off x="1385454" y="387927"/>
            <a:ext cx="9961419" cy="1302327"/>
          </a:xfrm>
        </p:spPr>
        <p:style>
          <a:lnRef idx="3">
            <a:schemeClr val="lt1"/>
          </a:lnRef>
          <a:fillRef idx="1">
            <a:schemeClr val="accent6"/>
          </a:fillRef>
          <a:effectRef idx="1">
            <a:schemeClr val="accent6"/>
          </a:effectRef>
          <a:fontRef idx="minor">
            <a:schemeClr val="lt1"/>
          </a:fontRef>
        </p:style>
        <p:txBody>
          <a:bodyPr>
            <a:normAutofit/>
          </a:bodyPr>
          <a:lstStyle/>
          <a:p>
            <a:pPr algn="ctr"/>
            <a:r>
              <a:rPr lang="en-IN" dirty="0"/>
              <a:t>DESTRUCTION PROCEDURE </a:t>
            </a:r>
            <a:br>
              <a:rPr lang="en-IN" dirty="0"/>
            </a:br>
            <a:endParaRPr lang="en-IN" dirty="0"/>
          </a:p>
        </p:txBody>
      </p:sp>
      <p:sp>
        <p:nvSpPr>
          <p:cNvPr id="3" name="Content Placeholder 2">
            <a:extLst>
              <a:ext uri="{FF2B5EF4-FFF2-40B4-BE49-F238E27FC236}">
                <a16:creationId xmlns:a16="http://schemas.microsoft.com/office/drawing/2014/main" id="{98962352-5266-4ACF-AAC4-D7B70C0A3865}"/>
              </a:ext>
            </a:extLst>
          </p:cNvPr>
          <p:cNvSpPr>
            <a:spLocks noGrp="1"/>
          </p:cNvSpPr>
          <p:nvPr>
            <p:ph idx="1"/>
          </p:nvPr>
        </p:nvSpPr>
        <p:spPr>
          <a:xfrm>
            <a:off x="1524000" y="1690254"/>
            <a:ext cx="9491871" cy="4405746"/>
          </a:xfrm>
        </p:spPr>
        <p:style>
          <a:lnRef idx="1">
            <a:schemeClr val="accent1"/>
          </a:lnRef>
          <a:fillRef idx="2">
            <a:schemeClr val="accent1"/>
          </a:fillRef>
          <a:effectRef idx="1">
            <a:schemeClr val="accent1"/>
          </a:effectRef>
          <a:fontRef idx="minor">
            <a:schemeClr val="dk1"/>
          </a:fontRef>
        </p:style>
        <p:txBody>
          <a:bodyPr/>
          <a:lstStyle/>
          <a:p>
            <a:pPr marL="502920" indent="-457200">
              <a:buFont typeface="+mj-lt"/>
              <a:buAutoNum type="arabicPeriod"/>
            </a:pPr>
            <a:r>
              <a:rPr lang="en-IN" dirty="0">
                <a:solidFill>
                  <a:schemeClr val="tx1"/>
                </a:solidFill>
                <a:latin typeface="Arial" panose="020B0604020202020204" pitchFamily="34" charset="0"/>
                <a:cs typeface="Arial" panose="020B0604020202020204" pitchFamily="34" charset="0"/>
              </a:rPr>
              <a:t>There should be a destruction plan for the inactive medical records as per the retention schedule.</a:t>
            </a:r>
          </a:p>
          <a:p>
            <a:pPr marL="502920" indent="-457200">
              <a:buFont typeface="+mj-lt"/>
              <a:buAutoNum type="arabicPeriod"/>
            </a:pPr>
            <a:r>
              <a:rPr lang="en-IN" dirty="0">
                <a:solidFill>
                  <a:schemeClr val="tx1"/>
                </a:solidFill>
                <a:latin typeface="Arial" panose="020B0604020202020204" pitchFamily="34" charset="0"/>
                <a:cs typeface="Arial" panose="020B0604020202020204" pitchFamily="34" charset="0"/>
              </a:rPr>
              <a:t>The plan should comprise the way of destruction such as shredding or burning , place for destruction, mode of transportation of records, from the MRD.</a:t>
            </a:r>
          </a:p>
          <a:p>
            <a:pPr marL="502920" indent="-457200">
              <a:buFont typeface="+mj-lt"/>
              <a:buAutoNum type="arabicPeriod"/>
            </a:pPr>
            <a:r>
              <a:rPr lang="en-IN" dirty="0">
                <a:solidFill>
                  <a:schemeClr val="tx1"/>
                </a:solidFill>
                <a:latin typeface="Arial" panose="020B0604020202020204" pitchFamily="34" charset="0"/>
                <a:cs typeface="Arial" panose="020B0604020202020204" pitchFamily="34" charset="0"/>
              </a:rPr>
              <a:t>A Destruction register have to maintained in which the sociological information such as hospital number , patient name, age , sex, address, date of registration , admitted or not ,final diagnosis, operation etc of the records which are going to be destroyed have to documented for future reference .</a:t>
            </a:r>
          </a:p>
          <a:p>
            <a:pPr marL="502920" indent="-457200">
              <a:buFont typeface="+mj-lt"/>
              <a:buAutoNum type="arabicPeriod"/>
            </a:pPr>
            <a:r>
              <a:rPr lang="en-IN" dirty="0">
                <a:solidFill>
                  <a:schemeClr val="tx1"/>
                </a:solidFill>
                <a:latin typeface="Arial" panose="020B0604020202020204" pitchFamily="34" charset="0"/>
                <a:cs typeface="Arial" panose="020B0604020202020204" pitchFamily="34" charset="0"/>
              </a:rPr>
              <a:t>Before destruction , a written permission must be obtained from the hospital administration and the same to be informed to all department.</a:t>
            </a:r>
          </a:p>
        </p:txBody>
      </p:sp>
    </p:spTree>
    <p:extLst>
      <p:ext uri="{BB962C8B-B14F-4D97-AF65-F5344CB8AC3E}">
        <p14:creationId xmlns:p14="http://schemas.microsoft.com/office/powerpoint/2010/main" val="2827230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F1BF34-9BB3-4A84-A701-1354C8ABD035}"/>
              </a:ext>
            </a:extLst>
          </p:cNvPr>
          <p:cNvSpPr>
            <a:spLocks noGrp="1"/>
          </p:cNvSpPr>
          <p:nvPr>
            <p:ph type="title"/>
          </p:nvPr>
        </p:nvSpPr>
        <p:spPr>
          <a:xfrm>
            <a:off x="1106424" y="2735847"/>
            <a:ext cx="9966960" cy="1363807"/>
          </a:xfrm>
        </p:spPr>
        <p:txBody>
          <a:bodyPr/>
          <a:lstStyle/>
          <a:p>
            <a:r>
              <a:rPr lang="en-IN" dirty="0"/>
              <a:t>Thank you </a:t>
            </a:r>
          </a:p>
        </p:txBody>
      </p:sp>
    </p:spTree>
    <p:extLst>
      <p:ext uri="{BB962C8B-B14F-4D97-AF65-F5344CB8AC3E}">
        <p14:creationId xmlns:p14="http://schemas.microsoft.com/office/powerpoint/2010/main" val="3884826414"/>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TM03457444[[fn=Basis]]</Template>
  <TotalTime>242</TotalTime>
  <Words>1467</Words>
  <Application>Microsoft Office PowerPoint</Application>
  <PresentationFormat>Widescreen</PresentationFormat>
  <Paragraphs>205</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Corbel</vt:lpstr>
      <vt:lpstr>Basis</vt:lpstr>
      <vt:lpstr>RETENTION &amp; PRESERVATION OF MRD</vt:lpstr>
      <vt:lpstr>RETENTION OF MRD</vt:lpstr>
      <vt:lpstr>PowerPoint Presentation</vt:lpstr>
      <vt:lpstr>MEDICAL RECORD RETENTION SCHEDULE </vt:lpstr>
      <vt:lpstr>MEDICAL RECORD RETENTION SCHEDULE </vt:lpstr>
      <vt:lpstr>MEDICAL RECORD RETENTION SCHEDULE </vt:lpstr>
      <vt:lpstr>PowerPoint Presentation</vt:lpstr>
      <vt:lpstr>PRESERVATION OF RECORDS </vt:lpstr>
      <vt:lpstr>MEASURES OF PROPER PRESERVATION </vt:lpstr>
      <vt:lpstr>MEASURES OF PROPER PRESERVATION </vt:lpstr>
      <vt:lpstr>MEASURES OF PROPER PRESERVATION </vt:lpstr>
      <vt:lpstr>MEASURES OF PROPER PRESERVATION </vt:lpstr>
      <vt:lpstr>MEASURES OF PROPER PRESERVATION </vt:lpstr>
      <vt:lpstr>DESTRUCTION PROCEDURE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RETENTION &amp; PRESERVATION OF MRD</dc:title>
  <dc:creator>debjani mukherjee</dc:creator>
  <cp:lastModifiedBy>debjani mukherjee</cp:lastModifiedBy>
  <cp:revision>31</cp:revision>
  <dcterms:created xsi:type="dcterms:W3CDTF">2020-04-02T15:39:55Z</dcterms:created>
  <dcterms:modified xsi:type="dcterms:W3CDTF">2020-04-05T19:17:00Z</dcterms:modified>
</cp:coreProperties>
</file>