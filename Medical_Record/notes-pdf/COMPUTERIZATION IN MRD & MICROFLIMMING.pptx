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63" r:id="rId3"/>
    <p:sldId id="261" r:id="rId4"/>
    <p:sldId id="268" r:id="rId5"/>
    <p:sldId id="262" r:id="rId6"/>
    <p:sldId id="266" r:id="rId7"/>
    <p:sldId id="257" r:id="rId8"/>
    <p:sldId id="264" r:id="rId9"/>
    <p:sldId id="265" r:id="rId10"/>
    <p:sldId id="260" r:id="rId11"/>
    <p:sldId id="267" r:id="rId12"/>
    <p:sldId id="258" r:id="rId13"/>
    <p:sldId id="269" r:id="rId14"/>
    <p:sldId id="270" r:id="rId15"/>
    <p:sldId id="272" r:id="rId16"/>
    <p:sldId id="273" r:id="rId17"/>
    <p:sldId id="274" r:id="rId18"/>
    <p:sldId id="275" r:id="rId19"/>
    <p:sldId id="276"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3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91F2D3-F48E-4203-9BD8-F49570401AA0}" type="datetimeFigureOut">
              <a:rPr lang="en-IN" smtClean="0"/>
              <a:t>08-08-2022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AFBC0C-C3D0-411A-BB12-41EA0154153C}" type="slidenum">
              <a:rPr lang="en-IN" smtClean="0"/>
              <a:t>‹#›</a:t>
            </a:fld>
            <a:endParaRPr lang="en-IN"/>
          </a:p>
        </p:txBody>
      </p:sp>
    </p:spTree>
    <p:extLst>
      <p:ext uri="{BB962C8B-B14F-4D97-AF65-F5344CB8AC3E}">
        <p14:creationId xmlns:p14="http://schemas.microsoft.com/office/powerpoint/2010/main" val="2031183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AFBC0C-C3D0-411A-BB12-41EA0154153C}" type="slidenum">
              <a:rPr lang="en-IN" smtClean="0"/>
              <a:t>7</a:t>
            </a:fld>
            <a:endParaRPr lang="en-IN"/>
          </a:p>
        </p:txBody>
      </p:sp>
    </p:spTree>
    <p:extLst>
      <p:ext uri="{BB962C8B-B14F-4D97-AF65-F5344CB8AC3E}">
        <p14:creationId xmlns:p14="http://schemas.microsoft.com/office/powerpoint/2010/main" val="3092565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AFBC0C-C3D0-411A-BB12-41EA0154153C}" type="slidenum">
              <a:rPr lang="en-IN" smtClean="0"/>
              <a:t>16</a:t>
            </a:fld>
            <a:endParaRPr lang="en-IN"/>
          </a:p>
        </p:txBody>
      </p:sp>
    </p:spTree>
    <p:extLst>
      <p:ext uri="{BB962C8B-B14F-4D97-AF65-F5344CB8AC3E}">
        <p14:creationId xmlns:p14="http://schemas.microsoft.com/office/powerpoint/2010/main" val="2727182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F6103-8FA5-63C4-86D4-46F6CA9D03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71B490-FABC-9A1E-BAC2-6446A3A704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5766B7-4326-363E-60BF-1CD61CE69ADC}"/>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5" name="Footer Placeholder 4">
            <a:extLst>
              <a:ext uri="{FF2B5EF4-FFF2-40B4-BE49-F238E27FC236}">
                <a16:creationId xmlns:a16="http://schemas.microsoft.com/office/drawing/2014/main" id="{080AEF58-F1D9-8BC5-0F14-49FABE6A70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1247CE-691D-E488-9102-C73CBA1AD9EE}"/>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2348242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66140-0191-A4FC-134C-D705ABBC65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AE182E-782C-FD1E-7D70-66AE8CA970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6293AE-1EED-508D-4B0C-6772B29EAD3F}"/>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5" name="Footer Placeholder 4">
            <a:extLst>
              <a:ext uri="{FF2B5EF4-FFF2-40B4-BE49-F238E27FC236}">
                <a16:creationId xmlns:a16="http://schemas.microsoft.com/office/drawing/2014/main" id="{7A723913-3D9D-71D2-B400-95859BA55C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E4EF25-D74B-AB4A-94B1-DEABE11DC5B8}"/>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1919849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A7201-7D93-C70B-75B5-A83B293B61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F51EC5E-095E-0FC8-725D-360EAF732B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F60296-59C5-2CAC-E69A-1A6B3BAC9093}"/>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5" name="Footer Placeholder 4">
            <a:extLst>
              <a:ext uri="{FF2B5EF4-FFF2-40B4-BE49-F238E27FC236}">
                <a16:creationId xmlns:a16="http://schemas.microsoft.com/office/drawing/2014/main" id="{8BBAD250-5E81-9A37-2C57-5919501315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341812-9534-FC72-91CE-056036883834}"/>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500106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E619A-93A4-2C25-AF4D-29F93D0CB7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4C276E-D125-BF98-7767-0C36E8A218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F36D14-2115-A60E-9FC1-50B5B6D8B8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CD9FDBF-7AB3-5E30-0BFE-98F09335930A}"/>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6" name="Footer Placeholder 5">
            <a:extLst>
              <a:ext uri="{FF2B5EF4-FFF2-40B4-BE49-F238E27FC236}">
                <a16:creationId xmlns:a16="http://schemas.microsoft.com/office/drawing/2014/main" id="{A45B343D-2532-8B44-4152-0139CAAF5E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89D0BD-DB0F-D9E2-8916-85C82AEAF8D7}"/>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2782988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55B41-50AF-BB68-19F8-5C99FDBFA7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66D4F3-8A35-A6E5-9EF6-9BA9D116F3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2971A8-8DA7-96B4-1964-2B8EDF5978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4374CD-4E5C-34B0-AEC7-3F4BB90268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2EDAB9-B45A-33DE-01C0-C0E987E136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A5EBAE-EF16-EB70-ABE6-5A7833C1BF2E}"/>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8" name="Footer Placeholder 7">
            <a:extLst>
              <a:ext uri="{FF2B5EF4-FFF2-40B4-BE49-F238E27FC236}">
                <a16:creationId xmlns:a16="http://schemas.microsoft.com/office/drawing/2014/main" id="{33F36FC7-F884-38A2-7DF4-04482CF99D6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123B4C-4447-D252-9E03-30A19A216A40}"/>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128984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04660-C496-709F-2608-454E736122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5CBB67-3602-EF29-FC29-448D6B685467}"/>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4" name="Footer Placeholder 3">
            <a:extLst>
              <a:ext uri="{FF2B5EF4-FFF2-40B4-BE49-F238E27FC236}">
                <a16:creationId xmlns:a16="http://schemas.microsoft.com/office/drawing/2014/main" id="{656537A4-6400-72B5-1858-227196E5E0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568BC87-7623-D64E-47B1-924537DE6198}"/>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3523325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2248E8-ED46-4C43-C74F-7086B925357D}"/>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3" name="Footer Placeholder 2">
            <a:extLst>
              <a:ext uri="{FF2B5EF4-FFF2-40B4-BE49-F238E27FC236}">
                <a16:creationId xmlns:a16="http://schemas.microsoft.com/office/drawing/2014/main" id="{A80A2EDB-3068-110A-1E36-DFE99883CC5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50D1A3-910D-7CAA-E8AA-D87533DDD787}"/>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1280785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61C57-C984-981F-E7D9-17329B0E65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5E3A6B-1E5D-1CBF-7A21-1FE24DC2B2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811DC05-4FF6-D932-BB72-0DE0D4E2CC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10ED55-9F40-02A5-B19E-B5D16E6F4930}"/>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6" name="Footer Placeholder 5">
            <a:extLst>
              <a:ext uri="{FF2B5EF4-FFF2-40B4-BE49-F238E27FC236}">
                <a16:creationId xmlns:a16="http://schemas.microsoft.com/office/drawing/2014/main" id="{9B417E4A-6CB3-A85D-56EA-4DDCDF06B8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1E6426-B659-9CCE-FD4C-7868D3AC0B63}"/>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3898593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2A8A9-1404-C0CE-2977-55A699727E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A6296F0-FC2D-BF6C-7220-7B5E743024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7E19BDB-E759-EEC6-DF65-3B39AFE553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A59F2D-53AB-07F7-D652-9BEA197C2A6A}"/>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6" name="Footer Placeholder 5">
            <a:extLst>
              <a:ext uri="{FF2B5EF4-FFF2-40B4-BE49-F238E27FC236}">
                <a16:creationId xmlns:a16="http://schemas.microsoft.com/office/drawing/2014/main" id="{2F5765FF-D3F0-00D9-E7D1-E5EF5278E3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B94E0C-53FA-FCBD-1722-B382F77155CA}"/>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764385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06AE3-49DD-505B-1121-581B341DD9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9FD11B-6D37-FDD7-D6F1-88B0482DC7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D76185-781D-0581-DEE3-FB77DC5DEB43}"/>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5" name="Footer Placeholder 4">
            <a:extLst>
              <a:ext uri="{FF2B5EF4-FFF2-40B4-BE49-F238E27FC236}">
                <a16:creationId xmlns:a16="http://schemas.microsoft.com/office/drawing/2014/main" id="{DCEAE71F-932A-61AE-B622-DA4B445F7C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15FE21-43FA-A249-9AD6-527295F1E762}"/>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1373425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12C0EB-8D80-0668-104A-94C0ED50FC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54F4CB-23E5-2C18-C4F2-700CBF254E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15E3F5-39D8-5B06-3894-E1D58770A4D8}"/>
              </a:ext>
            </a:extLst>
          </p:cNvPr>
          <p:cNvSpPr>
            <a:spLocks noGrp="1"/>
          </p:cNvSpPr>
          <p:nvPr>
            <p:ph type="dt" sz="half" idx="10"/>
          </p:nvPr>
        </p:nvSpPr>
        <p:spPr/>
        <p:txBody>
          <a:bodyPr/>
          <a:lstStyle/>
          <a:p>
            <a:fld id="{ADD2D76C-4456-4A69-9A5C-031DFC81DDD4}" type="datetimeFigureOut">
              <a:rPr lang="en-IN" smtClean="0"/>
              <a:t>08-08-2022</a:t>
            </a:fld>
            <a:endParaRPr lang="en-IN"/>
          </a:p>
        </p:txBody>
      </p:sp>
      <p:sp>
        <p:nvSpPr>
          <p:cNvPr id="5" name="Footer Placeholder 4">
            <a:extLst>
              <a:ext uri="{FF2B5EF4-FFF2-40B4-BE49-F238E27FC236}">
                <a16:creationId xmlns:a16="http://schemas.microsoft.com/office/drawing/2014/main" id="{E938138C-72DD-0D4F-6817-EA3D3FF13E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F9EA2B-316E-F537-F50C-64F8F1893C1C}"/>
              </a:ext>
            </a:extLst>
          </p:cNvPr>
          <p:cNvSpPr>
            <a:spLocks noGrp="1"/>
          </p:cNvSpPr>
          <p:nvPr>
            <p:ph type="sldNum" sz="quarter" idx="12"/>
          </p:nvPr>
        </p:nvSpPr>
        <p:spPr/>
        <p:txBody>
          <a:bodyPr/>
          <a:lstStyle/>
          <a:p>
            <a:fld id="{DCD3E5EC-BD24-4E71-8484-294D04D17628}" type="slidenum">
              <a:rPr lang="en-IN" smtClean="0"/>
              <a:t>‹#›</a:t>
            </a:fld>
            <a:endParaRPr lang="en-IN"/>
          </a:p>
        </p:txBody>
      </p:sp>
    </p:spTree>
    <p:extLst>
      <p:ext uri="{BB962C8B-B14F-4D97-AF65-F5344CB8AC3E}">
        <p14:creationId xmlns:p14="http://schemas.microsoft.com/office/powerpoint/2010/main" val="2192319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6FF086-1BF0-533D-8F2C-3AAB0BBED4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40E032-C007-17B8-350C-32E596DF8F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9D964D-6BC2-8767-0B39-73881A5ACD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D2D76C-4456-4A69-9A5C-031DFC81DDD4}" type="datetimeFigureOut">
              <a:rPr lang="en-IN" smtClean="0"/>
              <a:t>08-08-2022</a:t>
            </a:fld>
            <a:endParaRPr lang="en-IN"/>
          </a:p>
        </p:txBody>
      </p:sp>
      <p:sp>
        <p:nvSpPr>
          <p:cNvPr id="5" name="Footer Placeholder 4">
            <a:extLst>
              <a:ext uri="{FF2B5EF4-FFF2-40B4-BE49-F238E27FC236}">
                <a16:creationId xmlns:a16="http://schemas.microsoft.com/office/drawing/2014/main" id="{A5DCB6BC-E861-3341-D60B-437CBC665E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C9F4299-EBF5-0887-8410-2F6D86C66A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D3E5EC-BD24-4E71-8484-294D04D17628}" type="slidenum">
              <a:rPr lang="en-IN" smtClean="0"/>
              <a:t>‹#›</a:t>
            </a:fld>
            <a:endParaRPr lang="en-IN"/>
          </a:p>
        </p:txBody>
      </p:sp>
    </p:spTree>
    <p:extLst>
      <p:ext uri="{BB962C8B-B14F-4D97-AF65-F5344CB8AC3E}">
        <p14:creationId xmlns:p14="http://schemas.microsoft.com/office/powerpoint/2010/main" val="4193025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84360E-6531-E74F-9A94-3DD7178964FA}"/>
              </a:ext>
            </a:extLst>
          </p:cNvPr>
          <p:cNvPicPr>
            <a:picLocks noChangeAspect="1"/>
          </p:cNvPicPr>
          <p:nvPr/>
        </p:nvPicPr>
        <p:blipFill>
          <a:blip r:embed="rId2"/>
          <a:stretch>
            <a:fillRect/>
          </a:stretch>
        </p:blipFill>
        <p:spPr>
          <a:xfrm>
            <a:off x="902208" y="898883"/>
            <a:ext cx="10553908" cy="4965469"/>
          </a:xfrm>
          <a:prstGeom prst="rect">
            <a:avLst/>
          </a:prstGeom>
        </p:spPr>
      </p:pic>
    </p:spTree>
    <p:extLst>
      <p:ext uri="{BB962C8B-B14F-4D97-AF65-F5344CB8AC3E}">
        <p14:creationId xmlns:p14="http://schemas.microsoft.com/office/powerpoint/2010/main" val="414658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37B2F-EA3B-F29A-0FDE-BD77E6F37ED0}"/>
              </a:ext>
            </a:extLst>
          </p:cNvPr>
          <p:cNvSpPr>
            <a:spLocks noGrp="1"/>
          </p:cNvSpPr>
          <p:nvPr>
            <p:ph type="title"/>
          </p:nvPr>
        </p:nvSpPr>
        <p:spPr/>
        <p:txBody>
          <a:bodyPr/>
          <a:lstStyle/>
          <a:p>
            <a:r>
              <a:rPr lang="en-IN" dirty="0"/>
              <a:t>What is computerized medical records ? </a:t>
            </a:r>
          </a:p>
        </p:txBody>
      </p:sp>
      <p:sp>
        <p:nvSpPr>
          <p:cNvPr id="3" name="Content Placeholder 2">
            <a:extLst>
              <a:ext uri="{FF2B5EF4-FFF2-40B4-BE49-F238E27FC236}">
                <a16:creationId xmlns:a16="http://schemas.microsoft.com/office/drawing/2014/main" id="{D69D995D-3682-3EBA-07E3-544B24DC3836}"/>
              </a:ext>
            </a:extLst>
          </p:cNvPr>
          <p:cNvSpPr>
            <a:spLocks noGrp="1"/>
          </p:cNvSpPr>
          <p:nvPr>
            <p:ph idx="1"/>
          </p:nvPr>
        </p:nvSpPr>
        <p:spPr/>
        <p:txBody>
          <a:bodyPr>
            <a:normAutofit/>
          </a:bodyPr>
          <a:lstStyle/>
          <a:p>
            <a:r>
              <a:rPr lang="en-US" sz="2400" b="0" i="0" dirty="0">
                <a:solidFill>
                  <a:srgbClr val="202124"/>
                </a:solidFill>
                <a:effectLst/>
              </a:rPr>
              <a:t>Computerized medical record (CMR): This is a generic term, similar to digital medical record, which implies that this is </a:t>
            </a:r>
            <a:r>
              <a:rPr lang="en-US" sz="2400" b="1" i="0" dirty="0">
                <a:solidFill>
                  <a:srgbClr val="202124"/>
                </a:solidFill>
                <a:effectLst/>
              </a:rPr>
              <a:t>a record under the custodianship of a medical or health care provider, and is inclusive of partial and complete records</a:t>
            </a:r>
            <a:r>
              <a:rPr lang="en-US" sz="2400" b="0" i="0" dirty="0">
                <a:solidFill>
                  <a:srgbClr val="202124"/>
                </a:solidFill>
                <a:effectLst/>
              </a:rPr>
              <a:t>.</a:t>
            </a:r>
          </a:p>
          <a:p>
            <a:r>
              <a:rPr lang="en-US" sz="2400" b="0" i="0" dirty="0">
                <a:solidFill>
                  <a:srgbClr val="2E2E2E"/>
                </a:solidFill>
                <a:effectLst/>
              </a:rPr>
              <a:t>The objectives of a successful computerized record system, include: </a:t>
            </a:r>
          </a:p>
          <a:p>
            <a:r>
              <a:rPr lang="en-US" sz="2400" b="0" i="0" dirty="0">
                <a:solidFill>
                  <a:srgbClr val="2E2E2E"/>
                </a:solidFill>
                <a:effectLst/>
              </a:rPr>
              <a:t>(1) a demonstrated superiority to the current record systems in ease of clinical use while providing pertinent and complete information, and while recording important and unexpected complications or physiologic processes; </a:t>
            </a:r>
          </a:p>
          <a:p>
            <a:r>
              <a:rPr lang="en-US" sz="2400" b="0" i="0" dirty="0">
                <a:solidFill>
                  <a:srgbClr val="2E2E2E"/>
                </a:solidFill>
                <a:effectLst/>
              </a:rPr>
              <a:t>(2) the capability of improving the decision making processes in clinical medicine by simplifying analysis of relevant clinical data; </a:t>
            </a:r>
          </a:p>
          <a:p>
            <a:r>
              <a:rPr lang="en-US" sz="2400" b="0" i="0" dirty="0">
                <a:solidFill>
                  <a:srgbClr val="2E2E2E"/>
                </a:solidFill>
                <a:effectLst/>
              </a:rPr>
              <a:t>(3) the provision of a model for monitoring the quality of medical care; and </a:t>
            </a:r>
          </a:p>
          <a:p>
            <a:r>
              <a:rPr lang="en-US" sz="2400" b="0" i="0" dirty="0">
                <a:solidFill>
                  <a:srgbClr val="2E2E2E"/>
                </a:solidFill>
                <a:effectLst/>
              </a:rPr>
              <a:t>(4) on-line availability of the data at any time for clinical use and interpretation.</a:t>
            </a:r>
            <a:endParaRPr lang="en-IN" sz="2400" dirty="0"/>
          </a:p>
        </p:txBody>
      </p:sp>
    </p:spTree>
    <p:extLst>
      <p:ext uri="{BB962C8B-B14F-4D97-AF65-F5344CB8AC3E}">
        <p14:creationId xmlns:p14="http://schemas.microsoft.com/office/powerpoint/2010/main" val="3697355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9ED10D-EE2D-9D0C-1A57-10575DAC25D5}"/>
              </a:ext>
            </a:extLst>
          </p:cNvPr>
          <p:cNvPicPr>
            <a:picLocks noChangeAspect="1"/>
          </p:cNvPicPr>
          <p:nvPr/>
        </p:nvPicPr>
        <p:blipFill>
          <a:blip r:embed="rId2"/>
          <a:stretch>
            <a:fillRect/>
          </a:stretch>
        </p:blipFill>
        <p:spPr>
          <a:xfrm>
            <a:off x="609219" y="748284"/>
            <a:ext cx="2609850" cy="1752600"/>
          </a:xfrm>
          <a:prstGeom prst="rect">
            <a:avLst/>
          </a:prstGeom>
        </p:spPr>
      </p:pic>
      <p:pic>
        <p:nvPicPr>
          <p:cNvPr id="3" name="Picture 2">
            <a:extLst>
              <a:ext uri="{FF2B5EF4-FFF2-40B4-BE49-F238E27FC236}">
                <a16:creationId xmlns:a16="http://schemas.microsoft.com/office/drawing/2014/main" id="{9151AD4A-25E8-B278-0B7F-5C2CE6120B6A}"/>
              </a:ext>
            </a:extLst>
          </p:cNvPr>
          <p:cNvPicPr>
            <a:picLocks noChangeAspect="1"/>
          </p:cNvPicPr>
          <p:nvPr/>
        </p:nvPicPr>
        <p:blipFill>
          <a:blip r:embed="rId3"/>
          <a:stretch>
            <a:fillRect/>
          </a:stretch>
        </p:blipFill>
        <p:spPr>
          <a:xfrm>
            <a:off x="3219069" y="0"/>
            <a:ext cx="9144000" cy="6858000"/>
          </a:xfrm>
          <a:prstGeom prst="rect">
            <a:avLst/>
          </a:prstGeom>
        </p:spPr>
      </p:pic>
    </p:spTree>
    <p:extLst>
      <p:ext uri="{BB962C8B-B14F-4D97-AF65-F5344CB8AC3E}">
        <p14:creationId xmlns:p14="http://schemas.microsoft.com/office/powerpoint/2010/main" val="1093494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7114BE-9D60-3ADF-2F6C-2A6B705F6EDF}"/>
              </a:ext>
            </a:extLst>
          </p:cNvPr>
          <p:cNvPicPr>
            <a:picLocks noChangeAspect="1"/>
          </p:cNvPicPr>
          <p:nvPr/>
        </p:nvPicPr>
        <p:blipFill>
          <a:blip r:embed="rId2"/>
          <a:stretch>
            <a:fillRect/>
          </a:stretch>
        </p:blipFill>
        <p:spPr>
          <a:xfrm>
            <a:off x="1292352" y="829056"/>
            <a:ext cx="9424416" cy="4120896"/>
          </a:xfrm>
          <a:prstGeom prst="rect">
            <a:avLst/>
          </a:prstGeom>
        </p:spPr>
      </p:pic>
      <p:sp>
        <p:nvSpPr>
          <p:cNvPr id="6" name="TextBox 5">
            <a:extLst>
              <a:ext uri="{FF2B5EF4-FFF2-40B4-BE49-F238E27FC236}">
                <a16:creationId xmlns:a16="http://schemas.microsoft.com/office/drawing/2014/main" id="{8C5C6A06-27FD-2515-2204-69B11B2F9512}"/>
              </a:ext>
            </a:extLst>
          </p:cNvPr>
          <p:cNvSpPr txBox="1"/>
          <p:nvPr/>
        </p:nvSpPr>
        <p:spPr>
          <a:xfrm>
            <a:off x="1292352" y="5058632"/>
            <a:ext cx="9424416" cy="1200329"/>
          </a:xfrm>
          <a:prstGeom prst="rect">
            <a:avLst/>
          </a:prstGeom>
          <a:noFill/>
        </p:spPr>
        <p:txBody>
          <a:bodyPr wrap="square">
            <a:spAutoFit/>
          </a:bodyPr>
          <a:lstStyle/>
          <a:p>
            <a:r>
              <a:rPr lang="en-US" dirty="0">
                <a:solidFill>
                  <a:srgbClr val="202124"/>
                </a:solidFill>
                <a:latin typeface="arial" panose="020B0604020202020204" pitchFamily="34" charset="0"/>
              </a:rPr>
              <a:t>I</a:t>
            </a:r>
            <a:r>
              <a:rPr lang="en-US" b="0" i="0" dirty="0">
                <a:solidFill>
                  <a:srgbClr val="202124"/>
                </a:solidFill>
                <a:effectLst/>
                <a:latin typeface="arial" panose="020B0604020202020204" pitchFamily="34" charset="0"/>
              </a:rPr>
              <a:t>n hospitals, computers are used for multiple tasks such as </a:t>
            </a:r>
            <a:r>
              <a:rPr lang="en-US" b="1" i="0" dirty="0">
                <a:solidFill>
                  <a:srgbClr val="202124"/>
                </a:solidFill>
                <a:effectLst/>
                <a:latin typeface="arial" panose="020B0604020202020204" pitchFamily="34" charset="0"/>
              </a:rPr>
              <a:t>maintaining the information of patients, records, live monitoring of patients, X-rays, and many more</a:t>
            </a:r>
            <a:r>
              <a:rPr lang="en-US" b="0" i="0" dirty="0">
                <a:solidFill>
                  <a:srgbClr val="202124"/>
                </a:solidFill>
                <a:effectLst/>
                <a:latin typeface="arial" panose="020B0604020202020204" pitchFamily="34" charset="0"/>
              </a:rPr>
              <a:t>. In hospitals, computers are also helpful to configure lab-tools, monitoring the blood pressure and heart rate, etc.</a:t>
            </a:r>
            <a:endParaRPr lang="en-IN" dirty="0"/>
          </a:p>
        </p:txBody>
      </p:sp>
    </p:spTree>
    <p:extLst>
      <p:ext uri="{BB962C8B-B14F-4D97-AF65-F5344CB8AC3E}">
        <p14:creationId xmlns:p14="http://schemas.microsoft.com/office/powerpoint/2010/main" val="344583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A29F3E2-C110-6F92-DD4F-1290D29CC668}"/>
              </a:ext>
            </a:extLst>
          </p:cNvPr>
          <p:cNvPicPr>
            <a:picLocks noChangeAspect="1"/>
          </p:cNvPicPr>
          <p:nvPr/>
        </p:nvPicPr>
        <p:blipFill>
          <a:blip r:embed="rId2"/>
          <a:stretch>
            <a:fillRect/>
          </a:stretch>
        </p:blipFill>
        <p:spPr>
          <a:xfrm>
            <a:off x="625982" y="1027023"/>
            <a:ext cx="3019425" cy="5120945"/>
          </a:xfrm>
          <a:prstGeom prst="rect">
            <a:avLst/>
          </a:prstGeom>
        </p:spPr>
      </p:pic>
      <p:pic>
        <p:nvPicPr>
          <p:cNvPr id="4" name="Picture 3">
            <a:extLst>
              <a:ext uri="{FF2B5EF4-FFF2-40B4-BE49-F238E27FC236}">
                <a16:creationId xmlns:a16="http://schemas.microsoft.com/office/drawing/2014/main" id="{234C0DF5-CEB8-C1ED-D486-2314CFA9D2BF}"/>
              </a:ext>
            </a:extLst>
          </p:cNvPr>
          <p:cNvPicPr>
            <a:picLocks noChangeAspect="1"/>
          </p:cNvPicPr>
          <p:nvPr/>
        </p:nvPicPr>
        <p:blipFill>
          <a:blip r:embed="rId3"/>
          <a:stretch>
            <a:fillRect/>
          </a:stretch>
        </p:blipFill>
        <p:spPr>
          <a:xfrm>
            <a:off x="4145280" y="357511"/>
            <a:ext cx="7790688" cy="6255956"/>
          </a:xfrm>
          <a:prstGeom prst="rect">
            <a:avLst/>
          </a:prstGeom>
        </p:spPr>
      </p:pic>
      <p:sp>
        <p:nvSpPr>
          <p:cNvPr id="5" name="Oval 4">
            <a:extLst>
              <a:ext uri="{FF2B5EF4-FFF2-40B4-BE49-F238E27FC236}">
                <a16:creationId xmlns:a16="http://schemas.microsoft.com/office/drawing/2014/main" id="{ACD16C8A-EDAE-9FBB-C821-D63BF45F8DF9}"/>
              </a:ext>
            </a:extLst>
          </p:cNvPr>
          <p:cNvSpPr/>
          <p:nvPr/>
        </p:nvSpPr>
        <p:spPr>
          <a:xfrm>
            <a:off x="999744" y="158495"/>
            <a:ext cx="2535936" cy="7100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PROCESS</a:t>
            </a:r>
          </a:p>
        </p:txBody>
      </p:sp>
    </p:spTree>
    <p:extLst>
      <p:ext uri="{BB962C8B-B14F-4D97-AF65-F5344CB8AC3E}">
        <p14:creationId xmlns:p14="http://schemas.microsoft.com/office/powerpoint/2010/main" val="1777608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3AB84-229D-E268-4552-2BCAEE7ED357}"/>
              </a:ext>
            </a:extLst>
          </p:cNvPr>
          <p:cNvSpPr txBox="1"/>
          <p:nvPr/>
        </p:nvSpPr>
        <p:spPr>
          <a:xfrm>
            <a:off x="1091184" y="1093184"/>
            <a:ext cx="9497568" cy="1200329"/>
          </a:xfrm>
          <a:prstGeom prst="rect">
            <a:avLst/>
          </a:prstGeom>
          <a:noFill/>
        </p:spPr>
        <p:txBody>
          <a:bodyPr wrap="square">
            <a:spAutoFit/>
          </a:bodyPr>
          <a:lstStyle/>
          <a:p>
            <a:pPr algn="l"/>
            <a:r>
              <a:rPr lang="en-US" b="1" i="0" dirty="0">
                <a:solidFill>
                  <a:srgbClr val="000000"/>
                </a:solidFill>
                <a:effectLst/>
                <a:latin typeface="source_sans_pro"/>
              </a:rPr>
              <a:t>What are EHR and EHR Systems?</a:t>
            </a:r>
          </a:p>
          <a:p>
            <a:pPr algn="l"/>
            <a:r>
              <a:rPr lang="en-US" b="0" i="0" dirty="0">
                <a:solidFill>
                  <a:srgbClr val="000000"/>
                </a:solidFill>
                <a:effectLst/>
                <a:latin typeface="source_sans_pro"/>
              </a:rPr>
              <a:t>It is software for a structural way of storing and sharing patient data. EHRs are digital versions of paper patient cards, real-time and patient-oriented records that make information instantly secure and accessible for users who have authorized them.</a:t>
            </a:r>
          </a:p>
        </p:txBody>
      </p:sp>
      <p:pic>
        <p:nvPicPr>
          <p:cNvPr id="4" name="Picture 3">
            <a:extLst>
              <a:ext uri="{FF2B5EF4-FFF2-40B4-BE49-F238E27FC236}">
                <a16:creationId xmlns:a16="http://schemas.microsoft.com/office/drawing/2014/main" id="{6C2CD76B-6080-28BA-E141-AA05936F1156}"/>
              </a:ext>
            </a:extLst>
          </p:cNvPr>
          <p:cNvPicPr>
            <a:picLocks noChangeAspect="1"/>
          </p:cNvPicPr>
          <p:nvPr/>
        </p:nvPicPr>
        <p:blipFill>
          <a:blip r:embed="rId2"/>
          <a:stretch>
            <a:fillRect/>
          </a:stretch>
        </p:blipFill>
        <p:spPr>
          <a:xfrm>
            <a:off x="1603248" y="2293513"/>
            <a:ext cx="9270997" cy="2843656"/>
          </a:xfrm>
          <a:prstGeom prst="rect">
            <a:avLst/>
          </a:prstGeom>
        </p:spPr>
      </p:pic>
      <p:sp>
        <p:nvSpPr>
          <p:cNvPr id="6" name="TextBox 5">
            <a:extLst>
              <a:ext uri="{FF2B5EF4-FFF2-40B4-BE49-F238E27FC236}">
                <a16:creationId xmlns:a16="http://schemas.microsoft.com/office/drawing/2014/main" id="{4318DC64-5A67-398A-CD6D-62FAFE53B74E}"/>
              </a:ext>
            </a:extLst>
          </p:cNvPr>
          <p:cNvSpPr txBox="1"/>
          <p:nvPr/>
        </p:nvSpPr>
        <p:spPr>
          <a:xfrm>
            <a:off x="853439" y="4860170"/>
            <a:ext cx="10020805" cy="1477328"/>
          </a:xfrm>
          <a:prstGeom prst="rect">
            <a:avLst/>
          </a:prstGeom>
          <a:noFill/>
        </p:spPr>
        <p:txBody>
          <a:bodyPr wrap="square">
            <a:spAutoFit/>
          </a:bodyPr>
          <a:lstStyle/>
          <a:p>
            <a:r>
              <a:rPr lang="en-US" b="0" i="0" dirty="0">
                <a:solidFill>
                  <a:srgbClr val="000000"/>
                </a:solidFill>
                <a:effectLst/>
                <a:latin typeface="source_sans_pro"/>
              </a:rPr>
              <a:t>This facilitates collaborative working practices where different health professionals can work together in real-time to provide patients with the best care. Also, it enables quick access to services, which will improve waiting lists and diagnosis accuracy using the most advanced EHR measures.</a:t>
            </a:r>
          </a:p>
          <a:p>
            <a:endParaRPr lang="en-US" dirty="0">
              <a:solidFill>
                <a:srgbClr val="000000"/>
              </a:solidFill>
              <a:latin typeface="source_sans_pro"/>
            </a:endParaRPr>
          </a:p>
          <a:p>
            <a:r>
              <a:rPr lang="en-US" b="0" i="0" dirty="0">
                <a:solidFill>
                  <a:srgbClr val="000000"/>
                </a:solidFill>
                <a:effectLst/>
                <a:latin typeface="source_sans_pro"/>
              </a:rPr>
              <a:t>The goal of any EHR system is to create a comprehensive, accurate healthcare history for a patient.</a:t>
            </a:r>
            <a:endParaRPr lang="en-IN" dirty="0"/>
          </a:p>
        </p:txBody>
      </p:sp>
    </p:spTree>
    <p:extLst>
      <p:ext uri="{BB962C8B-B14F-4D97-AF65-F5344CB8AC3E}">
        <p14:creationId xmlns:p14="http://schemas.microsoft.com/office/powerpoint/2010/main" val="1038285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A77DC1-F2BF-2792-C150-FDF01FCF51A6}"/>
              </a:ext>
            </a:extLst>
          </p:cNvPr>
          <p:cNvPicPr>
            <a:picLocks noChangeAspect="1"/>
          </p:cNvPicPr>
          <p:nvPr/>
        </p:nvPicPr>
        <p:blipFill>
          <a:blip r:embed="rId3"/>
          <a:stretch>
            <a:fillRect/>
          </a:stretch>
        </p:blipFill>
        <p:spPr>
          <a:xfrm>
            <a:off x="5680710" y="646938"/>
            <a:ext cx="5829300" cy="5144262"/>
          </a:xfrm>
          <a:prstGeom prst="rect">
            <a:avLst/>
          </a:prstGeom>
        </p:spPr>
      </p:pic>
      <p:sp>
        <p:nvSpPr>
          <p:cNvPr id="3" name="Rectangle 1">
            <a:extLst>
              <a:ext uri="{FF2B5EF4-FFF2-40B4-BE49-F238E27FC236}">
                <a16:creationId xmlns:a16="http://schemas.microsoft.com/office/drawing/2014/main" id="{ACBE5D87-F2E5-041F-9913-490CB3214EF1}"/>
              </a:ext>
            </a:extLst>
          </p:cNvPr>
          <p:cNvSpPr>
            <a:spLocks noChangeArrowheads="1"/>
          </p:cNvSpPr>
          <p:nvPr/>
        </p:nvSpPr>
        <p:spPr bwMode="auto">
          <a:xfrm>
            <a:off x="462534" y="646938"/>
            <a:ext cx="5218176" cy="5509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rPr>
              <a:t>EHRs and the ability to exchange health information electronically can help you provide higher quality and safer care for patients while creating tangible enhancements for your organization. EHRs help providers better manage care for patients and provide better health care by:</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33333"/>
                </a:solidFill>
                <a:effectLst/>
              </a:rPr>
              <a:t>Providing </a:t>
            </a:r>
            <a:r>
              <a:rPr kumimoji="0" lang="en-US" altLang="en-US" sz="2000" b="1" i="0" u="none" strike="noStrike" cap="none" normalizeH="0" baseline="0" dirty="0">
                <a:ln>
                  <a:noFill/>
                </a:ln>
                <a:solidFill>
                  <a:srgbClr val="333333"/>
                </a:solidFill>
                <a:effectLst/>
              </a:rPr>
              <a:t>accurate, up-to-date, and complete information about patients</a:t>
            </a:r>
            <a:r>
              <a:rPr kumimoji="0" lang="en-US" altLang="en-US" sz="2000" b="0" i="0" u="none" strike="noStrike" cap="none" normalizeH="0" baseline="0" dirty="0">
                <a:ln>
                  <a:noFill/>
                </a:ln>
                <a:solidFill>
                  <a:srgbClr val="333333"/>
                </a:solidFill>
                <a:effectLst/>
              </a:rPr>
              <a:t> at the point of care.</a:t>
            </a:r>
          </a:p>
          <a:p>
            <a:pPr algn="l">
              <a:buFont typeface="Arial" panose="020B0604020202020204" pitchFamily="34" charset="0"/>
              <a:buChar char="•"/>
            </a:pPr>
            <a:r>
              <a:rPr lang="en-US" sz="2000" i="0" dirty="0">
                <a:effectLst/>
                <a:latin typeface="Source Sans Pro" panose="020B0503030403020204" pitchFamily="34" charset="0"/>
              </a:rPr>
              <a:t>Enabling quick access to patient records for more </a:t>
            </a:r>
            <a:r>
              <a:rPr lang="en-US" sz="2000" i="0" strike="noStrike" dirty="0">
                <a:effectLst/>
                <a:latin typeface="Source Sans Pro" panose="020B0503030403020204" pitchFamily="34" charset="0"/>
              </a:rPr>
              <a:t>coordinated, efficient care</a:t>
            </a:r>
            <a:endParaRPr lang="en-US" sz="2000" i="0" dirty="0">
              <a:effectLst/>
              <a:latin typeface="Source Sans Pro" panose="020B0503030403020204" pitchFamily="34" charset="0"/>
            </a:endParaRPr>
          </a:p>
          <a:p>
            <a:pPr algn="l">
              <a:buFont typeface="Arial" panose="020B0604020202020204" pitchFamily="34" charset="0"/>
              <a:buChar char="•"/>
            </a:pPr>
            <a:r>
              <a:rPr lang="en-US" sz="2000" i="0" dirty="0">
                <a:effectLst/>
                <a:latin typeface="Source Sans Pro" panose="020B0503030403020204" pitchFamily="34" charset="0"/>
              </a:rPr>
              <a:t>Securely sharing electronic information with patients and other clinicians</a:t>
            </a:r>
          </a:p>
          <a:p>
            <a:pPr algn="l">
              <a:buFont typeface="Arial" panose="020B0604020202020204" pitchFamily="34" charset="0"/>
              <a:buChar char="•"/>
            </a:pPr>
            <a:r>
              <a:rPr lang="en-US" sz="2000" i="0" dirty="0">
                <a:effectLst/>
                <a:latin typeface="Source Sans Pro" panose="020B0503030403020204" pitchFamily="34" charset="0"/>
              </a:rPr>
              <a:t>Helping providers more effectively </a:t>
            </a:r>
            <a:r>
              <a:rPr lang="en-US" sz="2000" i="0" u="none" strike="noStrike" dirty="0">
                <a:effectLst/>
                <a:latin typeface="Source Sans Pro" panose="020B0503030403020204" pitchFamily="34" charset="0"/>
              </a:rPr>
              <a:t>diagnose </a:t>
            </a:r>
            <a:r>
              <a:rPr lang="en-US" sz="2000" i="0" u="sng" strike="noStrike" dirty="0">
                <a:effectLst/>
                <a:latin typeface="Source Sans Pro" panose="020B0503030403020204" pitchFamily="34" charset="0"/>
              </a:rPr>
              <a:t>patients, reduce medical errors, and provide safer care</a:t>
            </a:r>
            <a:endParaRPr lang="en-US" sz="2000" i="0" u="sng" dirty="0">
              <a:effectLst/>
              <a:latin typeface="Source Sans Pro" panose="020B0503030403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33333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379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15A1CD-9700-376E-074C-1ADD07812C21}"/>
              </a:ext>
            </a:extLst>
          </p:cNvPr>
          <p:cNvSpPr txBox="1"/>
          <p:nvPr/>
        </p:nvSpPr>
        <p:spPr>
          <a:xfrm>
            <a:off x="780287" y="1167444"/>
            <a:ext cx="5413249" cy="3970318"/>
          </a:xfrm>
          <a:prstGeom prst="rect">
            <a:avLst/>
          </a:prstGeom>
          <a:noFill/>
        </p:spPr>
        <p:txBody>
          <a:bodyPr wrap="square">
            <a:spAutoFit/>
          </a:bodyPr>
          <a:lstStyle/>
          <a:p>
            <a:pPr marL="285750" indent="-285750">
              <a:buFont typeface="Arial" panose="020B0604020202020204" pitchFamily="34" charset="0"/>
              <a:buChar char="•"/>
            </a:pPr>
            <a:r>
              <a:rPr lang="en-US" dirty="0"/>
              <a:t>Improving patient and provider interaction and communication, as well as health care convenience</a:t>
            </a:r>
          </a:p>
          <a:p>
            <a:pPr marL="285750" indent="-285750">
              <a:buFont typeface="Arial" panose="020B0604020202020204" pitchFamily="34" charset="0"/>
              <a:buChar char="•"/>
            </a:pPr>
            <a:r>
              <a:rPr lang="en-US" dirty="0"/>
              <a:t>Enabling safer, more reliable prescribing</a:t>
            </a:r>
          </a:p>
          <a:p>
            <a:pPr marL="285750" indent="-285750">
              <a:buFont typeface="Arial" panose="020B0604020202020204" pitchFamily="34" charset="0"/>
              <a:buChar char="•"/>
            </a:pPr>
            <a:r>
              <a:rPr lang="en-US" dirty="0"/>
              <a:t>Helping promote legible, complete documentation and accurate, streamlined coding and billing</a:t>
            </a:r>
          </a:p>
          <a:p>
            <a:pPr marL="285750" indent="-285750">
              <a:buFont typeface="Arial" panose="020B0604020202020204" pitchFamily="34" charset="0"/>
              <a:buChar char="•"/>
            </a:pPr>
            <a:r>
              <a:rPr lang="en-US" dirty="0"/>
              <a:t>Enhancing privacy and security of patient data</a:t>
            </a:r>
          </a:p>
          <a:p>
            <a:pPr marL="285750" indent="-285750">
              <a:buFont typeface="Arial" panose="020B0604020202020204" pitchFamily="34" charset="0"/>
              <a:buChar char="•"/>
            </a:pPr>
            <a:r>
              <a:rPr lang="en-US" dirty="0"/>
              <a:t>Helping providers improve productivity and work-life balance</a:t>
            </a:r>
          </a:p>
          <a:p>
            <a:pPr marL="285750" indent="-285750">
              <a:buFont typeface="Arial" panose="020B0604020202020204" pitchFamily="34" charset="0"/>
              <a:buChar char="•"/>
            </a:pPr>
            <a:r>
              <a:rPr lang="en-US" dirty="0"/>
              <a:t>Enabling providers to improve efficiency and meet their business goals</a:t>
            </a:r>
          </a:p>
          <a:p>
            <a:pPr marL="285750" indent="-285750">
              <a:buFont typeface="Arial" panose="020B0604020202020204" pitchFamily="34" charset="0"/>
              <a:buChar char="•"/>
            </a:pPr>
            <a:r>
              <a:rPr lang="en-US" dirty="0"/>
              <a:t>Reducing costs through decreased paperwork, improved safety, reduced duplication of testing, and improved health.</a:t>
            </a:r>
          </a:p>
        </p:txBody>
      </p:sp>
      <p:pic>
        <p:nvPicPr>
          <p:cNvPr id="6" name="Picture 5">
            <a:extLst>
              <a:ext uri="{FF2B5EF4-FFF2-40B4-BE49-F238E27FC236}">
                <a16:creationId xmlns:a16="http://schemas.microsoft.com/office/drawing/2014/main" id="{BA3F6C50-790B-0EC9-1D5E-4677C25E7B7A}"/>
              </a:ext>
            </a:extLst>
          </p:cNvPr>
          <p:cNvPicPr>
            <a:picLocks noChangeAspect="1"/>
          </p:cNvPicPr>
          <p:nvPr/>
        </p:nvPicPr>
        <p:blipFill>
          <a:blip r:embed="rId2"/>
          <a:stretch>
            <a:fillRect/>
          </a:stretch>
        </p:blipFill>
        <p:spPr>
          <a:xfrm>
            <a:off x="6096001" y="1167445"/>
            <a:ext cx="5315712" cy="4523112"/>
          </a:xfrm>
          <a:prstGeom prst="rect">
            <a:avLst/>
          </a:prstGeom>
        </p:spPr>
      </p:pic>
    </p:spTree>
    <p:extLst>
      <p:ext uri="{BB962C8B-B14F-4D97-AF65-F5344CB8AC3E}">
        <p14:creationId xmlns:p14="http://schemas.microsoft.com/office/powerpoint/2010/main" val="1035048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259F8C-F453-A5EC-0E6F-9DFC1334786E}"/>
              </a:ext>
            </a:extLst>
          </p:cNvPr>
          <p:cNvSpPr txBox="1"/>
          <p:nvPr/>
        </p:nvSpPr>
        <p:spPr>
          <a:xfrm>
            <a:off x="1493520" y="1337161"/>
            <a:ext cx="9887712"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US" b="0" i="0" dirty="0">
                <a:solidFill>
                  <a:srgbClr val="333333"/>
                </a:solidFill>
                <a:effectLst/>
              </a:rPr>
              <a:t>The </a:t>
            </a:r>
            <a:r>
              <a:rPr lang="en-US" b="0" i="0" u="none" strike="noStrike" dirty="0">
                <a:effectLst/>
              </a:rPr>
              <a:t>benefits of electronic health records</a:t>
            </a:r>
            <a:r>
              <a:rPr lang="en-US" b="0" i="0" dirty="0">
                <a:effectLst/>
              </a:rPr>
              <a:t> include</a:t>
            </a:r>
            <a:r>
              <a:rPr lang="en-US" b="0" i="0" dirty="0">
                <a:solidFill>
                  <a:srgbClr val="333333"/>
                </a:solidFill>
                <a:effectLst/>
              </a:rPr>
              <a:t>:</a:t>
            </a:r>
          </a:p>
          <a:p>
            <a:pPr algn="l">
              <a:buFont typeface="Arial" panose="020B0604020202020204" pitchFamily="34" charset="0"/>
              <a:buChar char="•"/>
            </a:pPr>
            <a:r>
              <a:rPr lang="en-US" b="1" i="1" dirty="0">
                <a:solidFill>
                  <a:srgbClr val="333333"/>
                </a:solidFill>
                <a:effectLst/>
              </a:rPr>
              <a:t>Better health care</a:t>
            </a:r>
            <a:r>
              <a:rPr lang="en-US" b="0" i="0" dirty="0">
                <a:solidFill>
                  <a:srgbClr val="333333"/>
                </a:solidFill>
                <a:effectLst/>
              </a:rPr>
              <a:t> by improving all aspects of patient care, including safety, effectiveness, patient-centeredness, communication, education, timeliness, efficiency, and equity.</a:t>
            </a:r>
          </a:p>
          <a:p>
            <a:pPr algn="l">
              <a:buFont typeface="Arial" panose="020B0604020202020204" pitchFamily="34" charset="0"/>
              <a:buChar char="•"/>
            </a:pPr>
            <a:r>
              <a:rPr lang="en-US" b="1" i="1" dirty="0">
                <a:solidFill>
                  <a:srgbClr val="333333"/>
                </a:solidFill>
                <a:effectLst/>
              </a:rPr>
              <a:t>Better health</a:t>
            </a:r>
            <a:r>
              <a:rPr lang="en-US" b="0" i="0" dirty="0">
                <a:solidFill>
                  <a:srgbClr val="333333"/>
                </a:solidFill>
                <a:effectLst/>
              </a:rPr>
              <a:t> by encouraging healthier lifestyles in the entire population, including increased physical activity, better nutrition, avoidance of behavioral risks, and wider use of preventative care.</a:t>
            </a:r>
          </a:p>
          <a:p>
            <a:pPr algn="l">
              <a:buFont typeface="Arial" panose="020B0604020202020204" pitchFamily="34" charset="0"/>
              <a:buChar char="•"/>
            </a:pPr>
            <a:r>
              <a:rPr lang="en-US" b="1" i="1" dirty="0">
                <a:solidFill>
                  <a:srgbClr val="333333"/>
                </a:solidFill>
                <a:effectLst/>
              </a:rPr>
              <a:t>Improved efficiencies and lower health care costs </a:t>
            </a:r>
            <a:r>
              <a:rPr lang="en-US" b="0" i="0" dirty="0">
                <a:solidFill>
                  <a:srgbClr val="333333"/>
                </a:solidFill>
                <a:effectLst/>
              </a:rPr>
              <a:t>by promoting preventative medicine and improved coordination of health care services, as well as by reducing waste and redundant tests.</a:t>
            </a:r>
          </a:p>
          <a:p>
            <a:pPr algn="l">
              <a:buFont typeface="Arial" panose="020B0604020202020204" pitchFamily="34" charset="0"/>
              <a:buChar char="•"/>
            </a:pPr>
            <a:r>
              <a:rPr lang="en-US" b="1" i="1" dirty="0">
                <a:solidFill>
                  <a:srgbClr val="333333"/>
                </a:solidFill>
                <a:effectLst/>
              </a:rPr>
              <a:t>Better clinical decision making</a:t>
            </a:r>
            <a:r>
              <a:rPr lang="en-US" b="0" i="0" dirty="0">
                <a:solidFill>
                  <a:srgbClr val="333333"/>
                </a:solidFill>
                <a:effectLst/>
              </a:rPr>
              <a:t> by integrating patient information from multiple sources.</a:t>
            </a:r>
          </a:p>
        </p:txBody>
      </p:sp>
      <p:sp>
        <p:nvSpPr>
          <p:cNvPr id="4" name="TextBox 3">
            <a:extLst>
              <a:ext uri="{FF2B5EF4-FFF2-40B4-BE49-F238E27FC236}">
                <a16:creationId xmlns:a16="http://schemas.microsoft.com/office/drawing/2014/main" id="{1FF8B038-7712-E1F3-6F4A-F6B8E31BB824}"/>
              </a:ext>
            </a:extLst>
          </p:cNvPr>
          <p:cNvSpPr txBox="1"/>
          <p:nvPr/>
        </p:nvSpPr>
        <p:spPr>
          <a:xfrm>
            <a:off x="1584960" y="4647093"/>
            <a:ext cx="9704832"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buFont typeface="Arial" panose="020B0604020202020204" pitchFamily="34" charset="0"/>
              <a:buChar char="•"/>
            </a:pPr>
            <a:r>
              <a:rPr lang="en-US" b="0" i="0" dirty="0">
                <a:solidFill>
                  <a:srgbClr val="202124"/>
                </a:solidFill>
                <a:effectLst/>
              </a:rPr>
              <a:t>Outdated data. EHRs can get incorrect information if the EHR is not updated immediately when new information, such as when new test results come in. ...</a:t>
            </a:r>
          </a:p>
          <a:p>
            <a:pPr algn="l">
              <a:buFont typeface="Arial" panose="020B0604020202020204" pitchFamily="34" charset="0"/>
              <a:buChar char="•"/>
            </a:pPr>
            <a:r>
              <a:rPr lang="en-US" b="0" i="0" dirty="0">
                <a:solidFill>
                  <a:srgbClr val="202124"/>
                </a:solidFill>
                <a:effectLst/>
              </a:rPr>
              <a:t>It takes time and costs money. Selecting and setting up an EHR system and digitizing all paper records can take years. ...</a:t>
            </a:r>
          </a:p>
          <a:p>
            <a:pPr algn="l">
              <a:buFont typeface="Arial" panose="020B0604020202020204" pitchFamily="34" charset="0"/>
              <a:buChar char="•"/>
            </a:pPr>
            <a:r>
              <a:rPr lang="en-US" b="0" i="0" dirty="0">
                <a:solidFill>
                  <a:srgbClr val="202124"/>
                </a:solidFill>
                <a:effectLst/>
              </a:rPr>
              <a:t>Inconsistency and inefficiency.</a:t>
            </a:r>
          </a:p>
        </p:txBody>
      </p:sp>
      <p:sp>
        <p:nvSpPr>
          <p:cNvPr id="8" name="Rectangle 7">
            <a:extLst>
              <a:ext uri="{FF2B5EF4-FFF2-40B4-BE49-F238E27FC236}">
                <a16:creationId xmlns:a16="http://schemas.microsoft.com/office/drawing/2014/main" id="{A2E21CC7-8621-4603-D765-2EBB45C2F3BE}"/>
              </a:ext>
            </a:extLst>
          </p:cNvPr>
          <p:cNvSpPr/>
          <p:nvPr/>
        </p:nvSpPr>
        <p:spPr>
          <a:xfrm>
            <a:off x="1584960" y="375894"/>
            <a:ext cx="9022080" cy="715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EHR ADVANTAGES </a:t>
            </a:r>
          </a:p>
        </p:txBody>
      </p:sp>
      <p:sp>
        <p:nvSpPr>
          <p:cNvPr id="9" name="Rectangle 8">
            <a:extLst>
              <a:ext uri="{FF2B5EF4-FFF2-40B4-BE49-F238E27FC236}">
                <a16:creationId xmlns:a16="http://schemas.microsoft.com/office/drawing/2014/main" id="{F8DA68BA-FFE1-AE9C-1FDB-9900192A0975}"/>
              </a:ext>
            </a:extLst>
          </p:cNvPr>
          <p:cNvSpPr/>
          <p:nvPr/>
        </p:nvSpPr>
        <p:spPr>
          <a:xfrm>
            <a:off x="1584960" y="3645485"/>
            <a:ext cx="9022080" cy="7153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EHR DISADVANTAGES</a:t>
            </a:r>
          </a:p>
        </p:txBody>
      </p:sp>
    </p:spTree>
    <p:extLst>
      <p:ext uri="{BB962C8B-B14F-4D97-AF65-F5344CB8AC3E}">
        <p14:creationId xmlns:p14="http://schemas.microsoft.com/office/powerpoint/2010/main" val="2787263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08BF2A-D8D1-C59E-5AED-084D86A29F80}"/>
              </a:ext>
            </a:extLst>
          </p:cNvPr>
          <p:cNvPicPr>
            <a:picLocks noChangeAspect="1"/>
          </p:cNvPicPr>
          <p:nvPr/>
        </p:nvPicPr>
        <p:blipFill>
          <a:blip r:embed="rId2"/>
          <a:stretch>
            <a:fillRect/>
          </a:stretch>
        </p:blipFill>
        <p:spPr>
          <a:xfrm>
            <a:off x="5187942" y="766234"/>
            <a:ext cx="6296922" cy="5110310"/>
          </a:xfrm>
          <a:prstGeom prst="rect">
            <a:avLst/>
          </a:prstGeom>
        </p:spPr>
      </p:pic>
      <p:sp>
        <p:nvSpPr>
          <p:cNvPr id="4" name="TextBox 3">
            <a:extLst>
              <a:ext uri="{FF2B5EF4-FFF2-40B4-BE49-F238E27FC236}">
                <a16:creationId xmlns:a16="http://schemas.microsoft.com/office/drawing/2014/main" id="{E1E043C1-54AA-0793-BDC3-99764CAFE721}"/>
              </a:ext>
            </a:extLst>
          </p:cNvPr>
          <p:cNvSpPr txBox="1"/>
          <p:nvPr/>
        </p:nvSpPr>
        <p:spPr>
          <a:xfrm>
            <a:off x="621792" y="876776"/>
            <a:ext cx="4480806" cy="3970318"/>
          </a:xfrm>
          <a:prstGeom prst="rect">
            <a:avLst/>
          </a:prstGeom>
          <a:noFill/>
        </p:spPr>
        <p:txBody>
          <a:bodyPr wrap="square">
            <a:spAutoFit/>
          </a:bodyPr>
          <a:lstStyle/>
          <a:p>
            <a:r>
              <a:rPr lang="en-US" dirty="0"/>
              <a:t>There are also several disadvantages of electronic medical records, such as: </a:t>
            </a:r>
          </a:p>
          <a:p>
            <a:r>
              <a:rPr lang="en-US" b="1" u="sng" dirty="0">
                <a:highlight>
                  <a:srgbClr val="FFFF00"/>
                </a:highlight>
              </a:rPr>
              <a:t>Potential Privacy and Security Issues</a:t>
            </a:r>
            <a:r>
              <a:rPr lang="en-US" dirty="0"/>
              <a:t>: As with just about every computer network these days, EHR systems are vulnerable to hacking, which means sensitive patient data could fall into the wrong hands</a:t>
            </a:r>
          </a:p>
          <a:p>
            <a:pPr algn="l"/>
            <a:r>
              <a:rPr lang="en-US" b="0" i="0" dirty="0">
                <a:solidFill>
                  <a:srgbClr val="202124"/>
                </a:solidFill>
                <a:effectLst/>
                <a:highlight>
                  <a:srgbClr val="FFFF00"/>
                </a:highlight>
              </a:rPr>
              <a:t>Cybersecurity risks</a:t>
            </a:r>
            <a:r>
              <a:rPr lang="en-US" b="0" i="0" dirty="0">
                <a:solidFill>
                  <a:srgbClr val="202124"/>
                </a:solidFill>
                <a:effectLst/>
              </a:rPr>
              <a:t>. Risk related to breach of protected health information.</a:t>
            </a:r>
          </a:p>
          <a:p>
            <a:pPr algn="l"/>
            <a:r>
              <a:rPr lang="en-US" b="0" i="0" dirty="0">
                <a:solidFill>
                  <a:srgbClr val="202124"/>
                </a:solidFill>
                <a:effectLst/>
                <a:highlight>
                  <a:srgbClr val="FFFF00"/>
                </a:highlight>
              </a:rPr>
              <a:t>Impersonal patient-doctor interaction / patient isolation. </a:t>
            </a:r>
            <a:r>
              <a:rPr lang="en-US" b="0" i="0" dirty="0">
                <a:solidFill>
                  <a:srgbClr val="202124"/>
                </a:solidFill>
                <a:effectLst/>
              </a:rPr>
              <a:t>Patients interact with technology instead of a live care provider. ...</a:t>
            </a:r>
          </a:p>
          <a:p>
            <a:pPr algn="l">
              <a:buFont typeface="Arial" panose="020B0604020202020204" pitchFamily="34" charset="0"/>
              <a:buChar char="•"/>
            </a:pPr>
            <a:r>
              <a:rPr lang="en-US" b="0" i="0" dirty="0">
                <a:solidFill>
                  <a:srgbClr val="202124"/>
                </a:solidFill>
                <a:effectLst/>
              </a:rPr>
              <a:t>Frustration with poor implementation</a:t>
            </a:r>
            <a:r>
              <a:rPr lang="en-US" b="0" i="0" dirty="0">
                <a:solidFill>
                  <a:srgbClr val="202124"/>
                </a:solidFill>
                <a:effectLst/>
                <a:latin typeface="arial" panose="020B0604020202020204" pitchFamily="34" charset="0"/>
              </a:rPr>
              <a:t>.</a:t>
            </a:r>
          </a:p>
          <a:p>
            <a:endParaRPr lang="en-IN" dirty="0"/>
          </a:p>
        </p:txBody>
      </p:sp>
    </p:spTree>
    <p:extLst>
      <p:ext uri="{BB962C8B-B14F-4D97-AF65-F5344CB8AC3E}">
        <p14:creationId xmlns:p14="http://schemas.microsoft.com/office/powerpoint/2010/main" val="2792585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2DC79-4E7D-2099-9C36-74E68C1CD071}"/>
              </a:ext>
            </a:extLst>
          </p:cNvPr>
          <p:cNvSpPr>
            <a:spLocks noGrp="1"/>
          </p:cNvSpPr>
          <p:nvPr>
            <p:ph type="title"/>
          </p:nvPr>
        </p:nvSpPr>
        <p:spPr/>
        <p:txBody>
          <a:bodyPr>
            <a:normAutofit fontScale="90000"/>
          </a:bodyPr>
          <a:lstStyle/>
          <a:p>
            <a:r>
              <a:rPr lang="en-IN" b="1" i="0" dirty="0">
                <a:solidFill>
                  <a:srgbClr val="000000"/>
                </a:solidFill>
                <a:effectLst/>
                <a:latin typeface="source_sans_pro"/>
              </a:rPr>
              <a:t>EMR vs. EHR</a:t>
            </a:r>
            <a:br>
              <a:rPr lang="en-IN" b="1" i="0" dirty="0">
                <a:solidFill>
                  <a:srgbClr val="000000"/>
                </a:solidFill>
                <a:effectLst/>
                <a:latin typeface="source_sans_pro"/>
              </a:rPr>
            </a:br>
            <a:r>
              <a:rPr lang="en-US" sz="2000" b="0" i="0" dirty="0">
                <a:solidFill>
                  <a:srgbClr val="000000"/>
                </a:solidFill>
                <a:effectLst/>
                <a:latin typeface="+mn-lt"/>
              </a:rPr>
              <a:t>The terms EMR and EHR are often used interchangeably, but this is fundamentally wrong. An EMR is a digital patient record from a single provider or clinic. The EMR system is designed to store medical information locally and is not intended for distribution outside of an individual’s practice.</a:t>
            </a:r>
            <a:endParaRPr lang="en-IN" sz="2000" dirty="0">
              <a:latin typeface="+mn-lt"/>
            </a:endParaRPr>
          </a:p>
        </p:txBody>
      </p:sp>
      <p:pic>
        <p:nvPicPr>
          <p:cNvPr id="2050" name="Picture 2">
            <a:extLst>
              <a:ext uri="{FF2B5EF4-FFF2-40B4-BE49-F238E27FC236}">
                <a16:creationId xmlns:a16="http://schemas.microsoft.com/office/drawing/2014/main" id="{9F935201-C9B9-DC9E-4B0B-48A498654A13}"/>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1701419"/>
            <a:ext cx="10515600" cy="4791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3423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588845-6157-CD78-F5D2-31922A4930F8}"/>
              </a:ext>
            </a:extLst>
          </p:cNvPr>
          <p:cNvPicPr>
            <a:picLocks noChangeAspect="1"/>
          </p:cNvPicPr>
          <p:nvPr/>
        </p:nvPicPr>
        <p:blipFill>
          <a:blip r:embed="rId2"/>
          <a:stretch>
            <a:fillRect/>
          </a:stretch>
        </p:blipFill>
        <p:spPr>
          <a:xfrm>
            <a:off x="816864" y="739430"/>
            <a:ext cx="10692384" cy="5786865"/>
          </a:xfrm>
          <a:prstGeom prst="rect">
            <a:avLst/>
          </a:prstGeom>
        </p:spPr>
      </p:pic>
    </p:spTree>
    <p:extLst>
      <p:ext uri="{BB962C8B-B14F-4D97-AF65-F5344CB8AC3E}">
        <p14:creationId xmlns:p14="http://schemas.microsoft.com/office/powerpoint/2010/main" val="786346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44AFC-DAEE-1FB0-714D-E18443088157}"/>
              </a:ext>
            </a:extLst>
          </p:cNvPr>
          <p:cNvSpPr>
            <a:spLocks noGrp="1"/>
          </p:cNvSpPr>
          <p:nvPr>
            <p:ph type="title"/>
          </p:nvPr>
        </p:nvSpPr>
        <p:spPr/>
        <p:txBody>
          <a:bodyPr/>
          <a:lstStyle/>
          <a:p>
            <a:r>
              <a:rPr lang="en-IN" dirty="0"/>
              <a:t>Microfilming of Medical Records</a:t>
            </a:r>
          </a:p>
        </p:txBody>
      </p:sp>
      <p:pic>
        <p:nvPicPr>
          <p:cNvPr id="5" name="Picture 4">
            <a:extLst>
              <a:ext uri="{FF2B5EF4-FFF2-40B4-BE49-F238E27FC236}">
                <a16:creationId xmlns:a16="http://schemas.microsoft.com/office/drawing/2014/main" id="{BAB99386-1CD0-1A40-C6AE-E33E404DB3F4}"/>
              </a:ext>
            </a:extLst>
          </p:cNvPr>
          <p:cNvPicPr>
            <a:picLocks noChangeAspect="1"/>
          </p:cNvPicPr>
          <p:nvPr/>
        </p:nvPicPr>
        <p:blipFill>
          <a:blip r:embed="rId2"/>
          <a:stretch>
            <a:fillRect/>
          </a:stretch>
        </p:blipFill>
        <p:spPr>
          <a:xfrm>
            <a:off x="3731260" y="4562476"/>
            <a:ext cx="4376928" cy="1743074"/>
          </a:xfrm>
          <a:prstGeom prst="rect">
            <a:avLst/>
          </a:prstGeom>
        </p:spPr>
      </p:pic>
      <p:pic>
        <p:nvPicPr>
          <p:cNvPr id="4" name="Picture 3">
            <a:extLst>
              <a:ext uri="{FF2B5EF4-FFF2-40B4-BE49-F238E27FC236}">
                <a16:creationId xmlns:a16="http://schemas.microsoft.com/office/drawing/2014/main" id="{D36BE71B-C3DC-D769-181D-E4B9DE7EF133}"/>
              </a:ext>
            </a:extLst>
          </p:cNvPr>
          <p:cNvPicPr>
            <a:picLocks noChangeAspect="1"/>
          </p:cNvPicPr>
          <p:nvPr/>
        </p:nvPicPr>
        <p:blipFill>
          <a:blip r:embed="rId3"/>
          <a:stretch>
            <a:fillRect/>
          </a:stretch>
        </p:blipFill>
        <p:spPr>
          <a:xfrm>
            <a:off x="0" y="4562475"/>
            <a:ext cx="3731260" cy="1743075"/>
          </a:xfrm>
          <a:prstGeom prst="rect">
            <a:avLst/>
          </a:prstGeom>
        </p:spPr>
      </p:pic>
      <p:pic>
        <p:nvPicPr>
          <p:cNvPr id="6" name="Picture 5">
            <a:extLst>
              <a:ext uri="{FF2B5EF4-FFF2-40B4-BE49-F238E27FC236}">
                <a16:creationId xmlns:a16="http://schemas.microsoft.com/office/drawing/2014/main" id="{0486E8BA-CE13-C4D5-4B49-D69BD05D3C7E}"/>
              </a:ext>
            </a:extLst>
          </p:cNvPr>
          <p:cNvPicPr>
            <a:picLocks noChangeAspect="1"/>
          </p:cNvPicPr>
          <p:nvPr/>
        </p:nvPicPr>
        <p:blipFill>
          <a:blip r:embed="rId4"/>
          <a:stretch>
            <a:fillRect/>
          </a:stretch>
        </p:blipFill>
        <p:spPr>
          <a:xfrm>
            <a:off x="8108188" y="4562474"/>
            <a:ext cx="3888740" cy="1743073"/>
          </a:xfrm>
          <a:prstGeom prst="rect">
            <a:avLst/>
          </a:prstGeom>
        </p:spPr>
      </p:pic>
    </p:spTree>
    <p:extLst>
      <p:ext uri="{BB962C8B-B14F-4D97-AF65-F5344CB8AC3E}">
        <p14:creationId xmlns:p14="http://schemas.microsoft.com/office/powerpoint/2010/main" val="2211999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6002ED-87BC-C397-D36D-A5888584475E}"/>
              </a:ext>
            </a:extLst>
          </p:cNvPr>
          <p:cNvPicPr>
            <a:picLocks noChangeAspect="1"/>
          </p:cNvPicPr>
          <p:nvPr/>
        </p:nvPicPr>
        <p:blipFill>
          <a:blip r:embed="rId2"/>
          <a:stretch>
            <a:fillRect/>
          </a:stretch>
        </p:blipFill>
        <p:spPr>
          <a:xfrm>
            <a:off x="757237" y="893063"/>
            <a:ext cx="4351211" cy="5410201"/>
          </a:xfrm>
          <a:prstGeom prst="rect">
            <a:avLst/>
          </a:prstGeom>
        </p:spPr>
      </p:pic>
      <p:sp>
        <p:nvSpPr>
          <p:cNvPr id="7" name="TextBox 6">
            <a:extLst>
              <a:ext uri="{FF2B5EF4-FFF2-40B4-BE49-F238E27FC236}">
                <a16:creationId xmlns:a16="http://schemas.microsoft.com/office/drawing/2014/main" id="{1CCF3D94-538A-0E74-8B4F-0EFBA712A6C4}"/>
              </a:ext>
            </a:extLst>
          </p:cNvPr>
          <p:cNvSpPr txBox="1"/>
          <p:nvPr/>
        </p:nvSpPr>
        <p:spPr>
          <a:xfrm>
            <a:off x="5338762" y="1780032"/>
            <a:ext cx="6536246" cy="4801314"/>
          </a:xfrm>
          <a:prstGeom prst="rect">
            <a:avLst/>
          </a:prstGeom>
          <a:noFill/>
        </p:spPr>
        <p:txBody>
          <a:bodyPr wrap="square">
            <a:spAutoFit/>
          </a:bodyPr>
          <a:lstStyle/>
          <a:p>
            <a:pPr algn="l"/>
            <a:r>
              <a:rPr lang="en-US" dirty="0"/>
              <a:t>Microcopy, or microfilm, the legal status of which as record copy usually has had to be determined by special legislation, is a practical medium for making additional copies of records as security against risk through acts of warfare; as preservation against normal deterioration or damage; </a:t>
            </a:r>
          </a:p>
          <a:p>
            <a:pPr algn="l"/>
            <a:endParaRPr lang="en-US" b="1" i="0" dirty="0">
              <a:solidFill>
                <a:srgbClr val="555555"/>
              </a:solidFill>
              <a:effectLst/>
              <a:latin typeface="Open Sans" panose="020B0606030504020204" pitchFamily="34" charset="0"/>
            </a:endParaRPr>
          </a:p>
          <a:p>
            <a:pPr algn="l"/>
            <a:r>
              <a:rPr lang="en-US" b="1" i="0" dirty="0">
                <a:solidFill>
                  <a:srgbClr val="555555"/>
                </a:solidFill>
                <a:effectLst/>
              </a:rPr>
              <a:t>Microfilm</a:t>
            </a:r>
            <a:r>
              <a:rPr lang="en-US" b="0" i="0" dirty="0">
                <a:solidFill>
                  <a:srgbClr val="555555"/>
                </a:solidFill>
                <a:effectLst/>
              </a:rPr>
              <a:t> is exactly as it sounds; it is images of documents that have been made microscopic.</a:t>
            </a:r>
          </a:p>
          <a:p>
            <a:pPr algn="l"/>
            <a:endParaRPr lang="en-US" dirty="0">
              <a:solidFill>
                <a:srgbClr val="555555"/>
              </a:solidFill>
            </a:endParaRPr>
          </a:p>
          <a:p>
            <a:pPr algn="l"/>
            <a:r>
              <a:rPr lang="en-US" b="0" i="0" dirty="0">
                <a:solidFill>
                  <a:srgbClr val="555555"/>
                </a:solidFill>
                <a:effectLst/>
              </a:rPr>
              <a:t> Microfilm can take entire newspapers and place them on a few 4X5 inch sheets. </a:t>
            </a:r>
          </a:p>
          <a:p>
            <a:pPr algn="l"/>
            <a:r>
              <a:rPr lang="en-US" b="0" i="0" dirty="0">
                <a:solidFill>
                  <a:srgbClr val="555555"/>
                </a:solidFill>
                <a:effectLst/>
              </a:rPr>
              <a:t>This is identical to photography, which is also considered microfilm, just in larger size.</a:t>
            </a:r>
          </a:p>
          <a:p>
            <a:pPr algn="l"/>
            <a:r>
              <a:rPr lang="en-US" b="0" i="0" dirty="0">
                <a:solidFill>
                  <a:srgbClr val="555555"/>
                </a:solidFill>
                <a:effectLst/>
              </a:rPr>
              <a:t> Film uses technology to imprint images of people, places, and things onto small rolls to be made into pictures later.</a:t>
            </a:r>
          </a:p>
          <a:p>
            <a:br>
              <a:rPr lang="en-US" dirty="0"/>
            </a:br>
            <a:endParaRPr lang="en-IN" dirty="0"/>
          </a:p>
        </p:txBody>
      </p:sp>
      <p:sp>
        <p:nvSpPr>
          <p:cNvPr id="9" name="TextBox 8">
            <a:extLst>
              <a:ext uri="{FF2B5EF4-FFF2-40B4-BE49-F238E27FC236}">
                <a16:creationId xmlns:a16="http://schemas.microsoft.com/office/drawing/2014/main" id="{2DD1E76B-AB98-32FF-0830-F0DF518B2287}"/>
              </a:ext>
            </a:extLst>
          </p:cNvPr>
          <p:cNvSpPr txBox="1"/>
          <p:nvPr/>
        </p:nvSpPr>
        <p:spPr>
          <a:xfrm>
            <a:off x="5455252" y="1016246"/>
            <a:ext cx="6096000" cy="369332"/>
          </a:xfrm>
          <a:prstGeom prst="rect">
            <a:avLst/>
          </a:prstGeom>
          <a:noFill/>
        </p:spPr>
        <p:txBody>
          <a:bodyPr wrap="square">
            <a:spAutoFit/>
          </a:bodyPr>
          <a:lstStyle/>
          <a:p>
            <a:r>
              <a:rPr lang="en-US" dirty="0"/>
              <a:t>What is microfilming in medical records?</a:t>
            </a:r>
            <a:endParaRPr lang="en-IN" dirty="0"/>
          </a:p>
        </p:txBody>
      </p:sp>
    </p:spTree>
    <p:extLst>
      <p:ext uri="{BB962C8B-B14F-4D97-AF65-F5344CB8AC3E}">
        <p14:creationId xmlns:p14="http://schemas.microsoft.com/office/powerpoint/2010/main" val="2840356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DF9BB-6EC9-C072-E20B-6A986E38A023}"/>
              </a:ext>
            </a:extLst>
          </p:cNvPr>
          <p:cNvSpPr>
            <a:spLocks noGrp="1"/>
          </p:cNvSpPr>
          <p:nvPr>
            <p:ph type="title"/>
          </p:nvPr>
        </p:nvSpPr>
        <p:spPr>
          <a:xfrm>
            <a:off x="838200" y="365125"/>
            <a:ext cx="7427976" cy="951611"/>
          </a:xfrm>
          <a:solidFill>
            <a:schemeClr val="accent1"/>
          </a:solidFill>
        </p:spPr>
        <p:txBody>
          <a:bodyPr>
            <a:normAutofit/>
          </a:bodyPr>
          <a:lstStyle/>
          <a:p>
            <a:pPr algn="ctr"/>
            <a:r>
              <a:rPr lang="en-US" sz="4000" dirty="0">
                <a:solidFill>
                  <a:schemeClr val="bg1"/>
                </a:solidFill>
                <a:latin typeface="Open Sans" panose="020B0606030504020204" pitchFamily="34" charset="0"/>
              </a:rPr>
              <a:t>Advantages</a:t>
            </a:r>
            <a:endParaRPr lang="en-IN" sz="4000" dirty="0">
              <a:solidFill>
                <a:schemeClr val="bg1"/>
              </a:solidFill>
            </a:endParaRPr>
          </a:p>
        </p:txBody>
      </p:sp>
      <p:sp>
        <p:nvSpPr>
          <p:cNvPr id="3" name="Content Placeholder 2">
            <a:extLst>
              <a:ext uri="{FF2B5EF4-FFF2-40B4-BE49-F238E27FC236}">
                <a16:creationId xmlns:a16="http://schemas.microsoft.com/office/drawing/2014/main" id="{0FA69116-11F6-1EE1-5BCF-D17A0A9EE1A0}"/>
              </a:ext>
            </a:extLst>
          </p:cNvPr>
          <p:cNvSpPr>
            <a:spLocks noGrp="1"/>
          </p:cNvSpPr>
          <p:nvPr>
            <p:ph idx="1"/>
          </p:nvPr>
        </p:nvSpPr>
        <p:spPr>
          <a:xfrm>
            <a:off x="618744" y="1203008"/>
            <a:ext cx="10515600" cy="2136775"/>
          </a:xfrm>
        </p:spPr>
        <p:txBody>
          <a:bodyPr/>
          <a:lstStyle/>
          <a:p>
            <a:pPr marL="0" indent="0" algn="l">
              <a:buNone/>
            </a:pPr>
            <a:endParaRPr lang="en-US" b="0" i="0" dirty="0">
              <a:solidFill>
                <a:srgbClr val="555555"/>
              </a:solidFill>
              <a:effectLst/>
              <a:latin typeface="Open Sans" panose="020B0606030504020204" pitchFamily="34" charset="0"/>
            </a:endParaRPr>
          </a:p>
          <a:p>
            <a:pPr algn="l">
              <a:buFont typeface="Arial" panose="020B0604020202020204" pitchFamily="34" charset="0"/>
              <a:buChar char="•"/>
            </a:pPr>
            <a:r>
              <a:rPr lang="en-US" sz="1800" b="0" i="0" dirty="0">
                <a:solidFill>
                  <a:srgbClr val="555555"/>
                </a:solidFill>
                <a:effectLst/>
              </a:rPr>
              <a:t>Storage - Microfilm takes up very little space, which allows for a mass amount of records to be stored with very little effort.</a:t>
            </a:r>
          </a:p>
          <a:p>
            <a:pPr algn="l">
              <a:buFont typeface="Arial" panose="020B0604020202020204" pitchFamily="34" charset="0"/>
              <a:buChar char="•"/>
            </a:pPr>
            <a:r>
              <a:rPr lang="en-US" sz="1800" b="0" i="0" dirty="0">
                <a:solidFill>
                  <a:srgbClr val="555555"/>
                </a:solidFill>
                <a:effectLst/>
              </a:rPr>
              <a:t>Durability - If stored properly, microfilm can last hundreds of years, unlike its paper counterpart.</a:t>
            </a:r>
          </a:p>
          <a:p>
            <a:pPr algn="l">
              <a:buFont typeface="Arial" panose="020B0604020202020204" pitchFamily="34" charset="0"/>
              <a:buChar char="•"/>
            </a:pPr>
            <a:r>
              <a:rPr lang="en-US" sz="1800" b="0" i="0" dirty="0">
                <a:solidFill>
                  <a:srgbClr val="555555"/>
                </a:solidFill>
                <a:effectLst/>
              </a:rPr>
              <a:t>Price - Although, a microfilm reader is necessary, it has a minimal price tag versus computers, hard drives, and online memory.</a:t>
            </a:r>
          </a:p>
          <a:p>
            <a:endParaRPr lang="en-IN" dirty="0"/>
          </a:p>
        </p:txBody>
      </p:sp>
      <p:sp>
        <p:nvSpPr>
          <p:cNvPr id="5" name="TextBox 4">
            <a:extLst>
              <a:ext uri="{FF2B5EF4-FFF2-40B4-BE49-F238E27FC236}">
                <a16:creationId xmlns:a16="http://schemas.microsoft.com/office/drawing/2014/main" id="{BF782755-EF54-56A7-EF48-7ADEF4204A34}"/>
              </a:ext>
            </a:extLst>
          </p:cNvPr>
          <p:cNvSpPr txBox="1"/>
          <p:nvPr/>
        </p:nvSpPr>
        <p:spPr>
          <a:xfrm>
            <a:off x="743712" y="4384655"/>
            <a:ext cx="10515600" cy="923330"/>
          </a:xfrm>
          <a:prstGeom prst="rect">
            <a:avLst/>
          </a:prstGeom>
          <a:noFill/>
        </p:spPr>
        <p:txBody>
          <a:bodyPr wrap="square">
            <a:spAutoFit/>
          </a:bodyPr>
          <a:lstStyle/>
          <a:p>
            <a:pPr marL="285750" indent="-285750">
              <a:buFont typeface="Arial" panose="020B0604020202020204" pitchFamily="34" charset="0"/>
              <a:buChar char="•"/>
            </a:pPr>
            <a:r>
              <a:rPr lang="en-US" dirty="0"/>
              <a:t>The retrieval rate is slow, its very hard to update, and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one person at a time can see the images covered by the roll of film.</a:t>
            </a:r>
            <a:endParaRPr lang="en-IN" dirty="0"/>
          </a:p>
        </p:txBody>
      </p:sp>
      <p:sp>
        <p:nvSpPr>
          <p:cNvPr id="6" name="Rectangle 5">
            <a:extLst>
              <a:ext uri="{FF2B5EF4-FFF2-40B4-BE49-F238E27FC236}">
                <a16:creationId xmlns:a16="http://schemas.microsoft.com/office/drawing/2014/main" id="{C66A5CD9-BBD4-9BEF-7221-F54CA5BB3091}"/>
              </a:ext>
            </a:extLst>
          </p:cNvPr>
          <p:cNvSpPr/>
          <p:nvPr/>
        </p:nvSpPr>
        <p:spPr>
          <a:xfrm>
            <a:off x="1048512" y="3530410"/>
            <a:ext cx="7303008" cy="499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t>Disadvantages </a:t>
            </a:r>
          </a:p>
        </p:txBody>
      </p:sp>
    </p:spTree>
    <p:extLst>
      <p:ext uri="{BB962C8B-B14F-4D97-AF65-F5344CB8AC3E}">
        <p14:creationId xmlns:p14="http://schemas.microsoft.com/office/powerpoint/2010/main" val="2075953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884D-BD6C-BDC9-AEA7-EFD111CC4F23}"/>
              </a:ext>
            </a:extLst>
          </p:cNvPr>
          <p:cNvSpPr>
            <a:spLocks noGrp="1"/>
          </p:cNvSpPr>
          <p:nvPr>
            <p:ph type="title"/>
          </p:nvPr>
        </p:nvSpPr>
        <p:spPr>
          <a:xfrm>
            <a:off x="633984" y="365125"/>
            <a:ext cx="10719816" cy="975995"/>
          </a:xfrm>
        </p:spPr>
        <p:txBody>
          <a:bodyPr>
            <a:normAutofit fontScale="90000"/>
          </a:bodyPr>
          <a:lstStyle/>
          <a:p>
            <a:r>
              <a:rPr lang="en-IN" b="1" i="0" dirty="0">
                <a:solidFill>
                  <a:srgbClr val="555555"/>
                </a:solidFill>
                <a:effectLst/>
                <a:latin typeface="Open Sans" panose="020B0606030504020204" pitchFamily="34" charset="0"/>
              </a:rPr>
              <a:t>Types of Microfilm</a:t>
            </a:r>
            <a:br>
              <a:rPr lang="en-IN" b="1" i="0" dirty="0">
                <a:solidFill>
                  <a:srgbClr val="555555"/>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AF692B28-A2A1-80C7-F7EA-516C69998974}"/>
              </a:ext>
            </a:extLst>
          </p:cNvPr>
          <p:cNvSpPr>
            <a:spLocks noGrp="1"/>
          </p:cNvSpPr>
          <p:nvPr>
            <p:ph idx="1"/>
          </p:nvPr>
        </p:nvSpPr>
        <p:spPr>
          <a:xfrm>
            <a:off x="268225" y="865632"/>
            <a:ext cx="6681216" cy="5852160"/>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r>
              <a:rPr lang="en-US" sz="1800" b="1" i="0" dirty="0">
                <a:solidFill>
                  <a:srgbClr val="555555"/>
                </a:solidFill>
                <a:effectLst/>
                <a:highlight>
                  <a:srgbClr val="FFFF00"/>
                </a:highlight>
                <a:latin typeface="Algerian" panose="04020705040A02060702" pitchFamily="82" charset="0"/>
              </a:rPr>
              <a:t>Roll Film</a:t>
            </a:r>
            <a:r>
              <a:rPr lang="en-US" sz="1800" b="0" i="0" dirty="0">
                <a:solidFill>
                  <a:srgbClr val="555555"/>
                </a:solidFill>
                <a:effectLst/>
                <a:highlight>
                  <a:srgbClr val="FFFF00"/>
                </a:highlight>
                <a:latin typeface="Algerian" panose="04020705040A02060702" pitchFamily="82" charset="0"/>
              </a:rPr>
              <a:t> </a:t>
            </a:r>
            <a:r>
              <a:rPr lang="en-US" sz="1800" b="0" i="0" dirty="0">
                <a:solidFill>
                  <a:srgbClr val="555555"/>
                </a:solidFill>
                <a:effectLst/>
                <a:highlight>
                  <a:srgbClr val="FFFF00"/>
                </a:highlight>
              </a:rPr>
              <a:t>- </a:t>
            </a:r>
            <a:r>
              <a:rPr lang="en-US" sz="1800" b="0" i="0" dirty="0">
                <a:solidFill>
                  <a:srgbClr val="555555"/>
                </a:solidFill>
                <a:effectLst/>
              </a:rPr>
              <a:t>This is film that sits on a reel and comes in 16 millimeter and 35millimeter formats. This microfilm has been used by photographers and movie makers alike.</a:t>
            </a:r>
          </a:p>
          <a:p>
            <a:r>
              <a:rPr lang="en-US" sz="1800" b="1" i="0" dirty="0">
                <a:solidFill>
                  <a:srgbClr val="555555"/>
                </a:solidFill>
                <a:effectLst/>
                <a:highlight>
                  <a:srgbClr val="FFFF00"/>
                </a:highlight>
                <a:latin typeface="Algerian" panose="04020705040A02060702" pitchFamily="82" charset="0"/>
              </a:rPr>
              <a:t>Microfiche</a:t>
            </a:r>
            <a:r>
              <a:rPr lang="en-US" sz="1800" b="0" i="0" dirty="0">
                <a:solidFill>
                  <a:srgbClr val="555555"/>
                </a:solidFill>
                <a:effectLst/>
                <a:highlight>
                  <a:srgbClr val="FFFF00"/>
                </a:highlight>
                <a:latin typeface="Open Sans" panose="020B0606030504020204" pitchFamily="34" charset="0"/>
              </a:rPr>
              <a:t> - </a:t>
            </a:r>
            <a:r>
              <a:rPr lang="en-US" sz="1800" b="0" i="0" dirty="0">
                <a:solidFill>
                  <a:srgbClr val="555555"/>
                </a:solidFill>
                <a:effectLst/>
              </a:rPr>
              <a:t>Microfiche comes in two different varieties, COM and Jacket. COM fiche is the image seen here. This is the standard microfiche used in libraries. The images are placed in a gridded fashion. COM fiche can hold up to 300 pages of information/images. Jacket fiche is more used for camera film. The film is usually 5 images across and placed in plastic jackets.</a:t>
            </a:r>
          </a:p>
          <a:p>
            <a:pPr algn="l">
              <a:buFont typeface="Arial" panose="020B0604020202020204" pitchFamily="34" charset="0"/>
              <a:buChar char="•"/>
            </a:pPr>
            <a:r>
              <a:rPr lang="en-US" sz="1800" b="1" i="0" dirty="0">
                <a:solidFill>
                  <a:srgbClr val="555555"/>
                </a:solidFill>
                <a:effectLst/>
                <a:highlight>
                  <a:srgbClr val="FFFF00"/>
                </a:highlight>
                <a:latin typeface="Algerian" panose="04020705040A02060702" pitchFamily="82" charset="0"/>
              </a:rPr>
              <a:t>Aperture Cards</a:t>
            </a:r>
            <a:r>
              <a:rPr lang="en-US" sz="1800" b="0" i="0" dirty="0">
                <a:solidFill>
                  <a:srgbClr val="555555"/>
                </a:solidFill>
                <a:effectLst/>
                <a:highlight>
                  <a:srgbClr val="FFFF00"/>
                </a:highlight>
                <a:latin typeface="Algerian" panose="04020705040A02060702" pitchFamily="82" charset="0"/>
              </a:rPr>
              <a:t> </a:t>
            </a:r>
            <a:r>
              <a:rPr lang="en-US" sz="1800" b="0" i="0" dirty="0">
                <a:solidFill>
                  <a:srgbClr val="555555"/>
                </a:solidFill>
                <a:effectLst/>
              </a:rPr>
              <a:t>- These cards look like old timecards, but they have a square hole cut out, where the film resides. The cards only hold one image, while the rest of the card contains information about the image. These cards are used more in engineering than in any other field..</a:t>
            </a:r>
          </a:p>
          <a:p>
            <a:pPr algn="l"/>
            <a:r>
              <a:rPr lang="en-US" sz="1800" b="1" i="0" dirty="0">
                <a:solidFill>
                  <a:srgbClr val="555555"/>
                </a:solidFill>
                <a:effectLst/>
              </a:rPr>
              <a:t>Storage and Equipment</a:t>
            </a:r>
          </a:p>
          <a:p>
            <a:pPr algn="l"/>
            <a:r>
              <a:rPr lang="en-US" sz="1800" b="0" i="0" dirty="0">
                <a:solidFill>
                  <a:srgbClr val="555555"/>
                </a:solidFill>
                <a:effectLst/>
              </a:rPr>
              <a:t>Each type of microfilm requires different storage, which is why it is important for records management that one type of microfilm is used, not a variety. </a:t>
            </a:r>
          </a:p>
          <a:p>
            <a:pPr algn="l"/>
            <a:r>
              <a:rPr lang="en-US" sz="1200" b="0" i="0" dirty="0">
                <a:solidFill>
                  <a:srgbClr val="202124"/>
                </a:solidFill>
                <a:effectLst/>
                <a:latin typeface="arial" panose="020B0604020202020204" pitchFamily="34" charset="0"/>
              </a:rPr>
              <a:t>,</a:t>
            </a:r>
            <a:r>
              <a:rPr lang="en-US" sz="1900" b="0" i="0" dirty="0">
                <a:solidFill>
                  <a:srgbClr val="202124"/>
                </a:solidFill>
                <a:effectLst/>
              </a:rPr>
              <a:t> But it should be </a:t>
            </a:r>
            <a:r>
              <a:rPr lang="en-US" sz="1900" i="0" dirty="0">
                <a:solidFill>
                  <a:srgbClr val="202124"/>
                </a:solidFill>
                <a:effectLst/>
              </a:rPr>
              <a:t>ensured that the sealed containers are placed within metal cabinets that have been treated with the right paint (non-corrosive, non-staining and non-combustible). This helps protect the microfilm from damage via corrosion, fire, and more</a:t>
            </a:r>
            <a:endParaRPr lang="en-US" sz="1900" i="0" dirty="0">
              <a:solidFill>
                <a:srgbClr val="555555"/>
              </a:solidFill>
              <a:effectLst/>
            </a:endParaRPr>
          </a:p>
          <a:p>
            <a:endParaRPr lang="en-IN" dirty="0"/>
          </a:p>
        </p:txBody>
      </p:sp>
      <p:pic>
        <p:nvPicPr>
          <p:cNvPr id="4" name="Picture 3">
            <a:extLst>
              <a:ext uri="{FF2B5EF4-FFF2-40B4-BE49-F238E27FC236}">
                <a16:creationId xmlns:a16="http://schemas.microsoft.com/office/drawing/2014/main" id="{87D14DCB-ED83-2723-8C5D-76CEFABC1335}"/>
              </a:ext>
            </a:extLst>
          </p:cNvPr>
          <p:cNvPicPr>
            <a:picLocks noChangeAspect="1"/>
          </p:cNvPicPr>
          <p:nvPr/>
        </p:nvPicPr>
        <p:blipFill>
          <a:blip r:embed="rId3"/>
          <a:stretch>
            <a:fillRect/>
          </a:stretch>
        </p:blipFill>
        <p:spPr>
          <a:xfrm>
            <a:off x="7168896" y="2513663"/>
            <a:ext cx="3925824" cy="2308876"/>
          </a:xfrm>
          <a:prstGeom prst="rect">
            <a:avLst/>
          </a:prstGeom>
        </p:spPr>
      </p:pic>
      <p:pic>
        <p:nvPicPr>
          <p:cNvPr id="5" name="Picture 4">
            <a:extLst>
              <a:ext uri="{FF2B5EF4-FFF2-40B4-BE49-F238E27FC236}">
                <a16:creationId xmlns:a16="http://schemas.microsoft.com/office/drawing/2014/main" id="{EE2461FD-F4A1-1CFD-9003-2E66BAA9AFF7}"/>
              </a:ext>
            </a:extLst>
          </p:cNvPr>
          <p:cNvPicPr>
            <a:picLocks noChangeAspect="1"/>
          </p:cNvPicPr>
          <p:nvPr/>
        </p:nvPicPr>
        <p:blipFill>
          <a:blip r:embed="rId4"/>
          <a:stretch>
            <a:fillRect/>
          </a:stretch>
        </p:blipFill>
        <p:spPr>
          <a:xfrm>
            <a:off x="7083552" y="684783"/>
            <a:ext cx="3925824" cy="1743075"/>
          </a:xfrm>
          <a:prstGeom prst="rect">
            <a:avLst/>
          </a:prstGeom>
        </p:spPr>
      </p:pic>
      <p:pic>
        <p:nvPicPr>
          <p:cNvPr id="6" name="Picture 5">
            <a:extLst>
              <a:ext uri="{FF2B5EF4-FFF2-40B4-BE49-F238E27FC236}">
                <a16:creationId xmlns:a16="http://schemas.microsoft.com/office/drawing/2014/main" id="{091FF28C-E18C-FD68-578F-F065E764FD2C}"/>
              </a:ext>
            </a:extLst>
          </p:cNvPr>
          <p:cNvPicPr>
            <a:picLocks noChangeAspect="1"/>
          </p:cNvPicPr>
          <p:nvPr/>
        </p:nvPicPr>
        <p:blipFill>
          <a:blip r:embed="rId5"/>
          <a:stretch>
            <a:fillRect/>
          </a:stretch>
        </p:blipFill>
        <p:spPr>
          <a:xfrm>
            <a:off x="7168896" y="4822539"/>
            <a:ext cx="4059935" cy="1724025"/>
          </a:xfrm>
          <a:prstGeom prst="rect">
            <a:avLst/>
          </a:prstGeom>
        </p:spPr>
      </p:pic>
    </p:spTree>
    <p:extLst>
      <p:ext uri="{BB962C8B-B14F-4D97-AF65-F5344CB8AC3E}">
        <p14:creationId xmlns:p14="http://schemas.microsoft.com/office/powerpoint/2010/main" val="4223431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CDA091-6647-7814-B9DB-C4EEA9D1C632}"/>
              </a:ext>
            </a:extLst>
          </p:cNvPr>
          <p:cNvPicPr>
            <a:picLocks noChangeAspect="1"/>
          </p:cNvPicPr>
          <p:nvPr/>
        </p:nvPicPr>
        <p:blipFill>
          <a:blip r:embed="rId2"/>
          <a:stretch>
            <a:fillRect/>
          </a:stretch>
        </p:blipFill>
        <p:spPr>
          <a:xfrm>
            <a:off x="1719072" y="551492"/>
            <a:ext cx="9083040" cy="5520124"/>
          </a:xfrm>
          <a:prstGeom prst="rect">
            <a:avLst/>
          </a:prstGeom>
        </p:spPr>
      </p:pic>
    </p:spTree>
    <p:extLst>
      <p:ext uri="{BB962C8B-B14F-4D97-AF65-F5344CB8AC3E}">
        <p14:creationId xmlns:p14="http://schemas.microsoft.com/office/powerpoint/2010/main" val="1361301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9B6011-BCC8-03F7-4B77-E32D582C2C06}"/>
              </a:ext>
            </a:extLst>
          </p:cNvPr>
          <p:cNvSpPr txBox="1"/>
          <p:nvPr/>
        </p:nvSpPr>
        <p:spPr>
          <a:xfrm>
            <a:off x="743712" y="514940"/>
            <a:ext cx="10704576" cy="3631763"/>
          </a:xfrm>
          <a:prstGeom prst="rect">
            <a:avLst/>
          </a:prstGeom>
          <a:noFill/>
        </p:spPr>
        <p:txBody>
          <a:bodyPr wrap="square">
            <a:spAutoFit/>
          </a:bodyPr>
          <a:lstStyle/>
          <a:p>
            <a:r>
              <a:rPr lang="en-US" sz="3200" b="1" dirty="0"/>
              <a:t>Microfilm Can Deteriorate And Decay</a:t>
            </a:r>
          </a:p>
          <a:p>
            <a:r>
              <a:rPr lang="en-US" dirty="0"/>
              <a:t>If  storing or using microfilm, you should make sure you’re storing it properly so that you get the longest use possible out of it. Microfilm can and will start to deteriorate if it’s not maintained in the right way. </a:t>
            </a:r>
          </a:p>
          <a:p>
            <a:endParaRPr lang="en-US" dirty="0"/>
          </a:p>
          <a:p>
            <a:r>
              <a:rPr lang="en-US" dirty="0"/>
              <a:t>Many things contribute to microfilm decay, and the most prevalent are poor storage conditions and heavy use. </a:t>
            </a:r>
          </a:p>
          <a:p>
            <a:r>
              <a:rPr lang="en-US" dirty="0"/>
              <a:t>Poor storage includes hot and humid temperatures where the microfilm is located, leaving the film exposed to light, and keeping the film in areas where other chemicals exist (such as a storage room with paint, for example).</a:t>
            </a:r>
          </a:p>
          <a:p>
            <a:endParaRPr lang="en-US" dirty="0"/>
          </a:p>
          <a:p>
            <a:r>
              <a:rPr lang="en-US" dirty="0"/>
              <a:t> Using the microfilm can’t really be stopped, because that’s the point of having the information available. But if your organization uses the film regularly, or if you have customers that use it (like at a library), keep an eye on its condition and consider creating a duplicate backup copy or digitizing your collection.</a:t>
            </a:r>
          </a:p>
          <a:p>
            <a:endParaRPr lang="en-US" dirty="0"/>
          </a:p>
        </p:txBody>
      </p:sp>
      <p:sp>
        <p:nvSpPr>
          <p:cNvPr id="5" name="TextBox 4">
            <a:extLst>
              <a:ext uri="{FF2B5EF4-FFF2-40B4-BE49-F238E27FC236}">
                <a16:creationId xmlns:a16="http://schemas.microsoft.com/office/drawing/2014/main" id="{1D5AEFF2-09E2-5AD1-2C54-2471BD645E45}"/>
              </a:ext>
            </a:extLst>
          </p:cNvPr>
          <p:cNvSpPr txBox="1"/>
          <p:nvPr/>
        </p:nvSpPr>
        <p:spPr>
          <a:xfrm>
            <a:off x="743712" y="4865732"/>
            <a:ext cx="10911840" cy="1200329"/>
          </a:xfrm>
          <a:prstGeom prst="rect">
            <a:avLst/>
          </a:prstGeom>
          <a:noFill/>
        </p:spPr>
        <p:txBody>
          <a:bodyPr wrap="square">
            <a:spAutoFit/>
          </a:bodyPr>
          <a:lstStyle/>
          <a:p>
            <a:pPr algn="l"/>
            <a:r>
              <a:rPr lang="en-US" b="0" i="0" dirty="0">
                <a:solidFill>
                  <a:srgbClr val="4A4A4F"/>
                </a:solidFill>
                <a:effectLst/>
              </a:rPr>
              <a:t>Like paper files, microfilm can be scanned and converted into digital images. With the many benefits that microfilm provides, having a digital copy of your data can be extremely useful. By digitizing your microfilm, you can have faster and easier access to the records; increased security by adding permission-based access to the images and data</a:t>
            </a:r>
            <a:endParaRPr lang="en-US" b="1" i="0" dirty="0">
              <a:effectLst/>
            </a:endParaRPr>
          </a:p>
        </p:txBody>
      </p:sp>
      <p:sp>
        <p:nvSpPr>
          <p:cNvPr id="7" name="TextBox 6">
            <a:extLst>
              <a:ext uri="{FF2B5EF4-FFF2-40B4-BE49-F238E27FC236}">
                <a16:creationId xmlns:a16="http://schemas.microsoft.com/office/drawing/2014/main" id="{3AA83381-36DD-DBED-DA5B-0F5A4AA5A493}"/>
              </a:ext>
            </a:extLst>
          </p:cNvPr>
          <p:cNvSpPr txBox="1"/>
          <p:nvPr/>
        </p:nvSpPr>
        <p:spPr>
          <a:xfrm>
            <a:off x="914400" y="4146703"/>
            <a:ext cx="9692640" cy="584775"/>
          </a:xfrm>
          <a:prstGeom prst="rect">
            <a:avLst/>
          </a:prstGeom>
          <a:noFill/>
        </p:spPr>
        <p:txBody>
          <a:bodyPr wrap="square">
            <a:spAutoFit/>
          </a:bodyPr>
          <a:lstStyle/>
          <a:p>
            <a:r>
              <a:rPr lang="en-US" sz="3200" b="1" dirty="0"/>
              <a:t>Microfilm Can Be Converted Into Digital Images</a:t>
            </a:r>
            <a:endParaRPr lang="en-IN" sz="3200" b="1" dirty="0"/>
          </a:p>
        </p:txBody>
      </p:sp>
    </p:spTree>
    <p:extLst>
      <p:ext uri="{BB962C8B-B14F-4D97-AF65-F5344CB8AC3E}">
        <p14:creationId xmlns:p14="http://schemas.microsoft.com/office/powerpoint/2010/main" val="3181350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286F5851-FEF9-8596-6FE3-EFBC774BDEE1}"/>
              </a:ext>
            </a:extLst>
          </p:cNvPr>
          <p:cNvSpPr>
            <a:spLocks noChangeArrowheads="1"/>
          </p:cNvSpPr>
          <p:nvPr/>
        </p:nvSpPr>
        <p:spPr bwMode="auto">
          <a:xfrm>
            <a:off x="792481" y="650875"/>
            <a:ext cx="7229856" cy="41267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7916" rIns="0" bIns="10791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1" u="sng" dirty="0">
                <a:solidFill>
                  <a:srgbClr val="202124"/>
                </a:solidFill>
                <a:latin typeface="+mn-lt"/>
                <a:cs typeface="Arial" panose="020B0604020202020204" pitchFamily="34" charset="0"/>
              </a:rPr>
              <a:t>H</a:t>
            </a:r>
            <a:r>
              <a:rPr kumimoji="0" lang="en-US" altLang="en-US" sz="2800" b="1" i="0" u="sng" strike="noStrike" cap="none" normalizeH="0" baseline="0" dirty="0">
                <a:ln>
                  <a:noFill/>
                </a:ln>
                <a:solidFill>
                  <a:srgbClr val="202124"/>
                </a:solidFill>
                <a:effectLst/>
                <a:latin typeface="+mn-lt"/>
                <a:cs typeface="Arial" panose="020B0604020202020204" pitchFamily="34" charset="0"/>
              </a:rPr>
              <a:t>ow microfilm is created?</a:t>
            </a:r>
          </a:p>
          <a:p>
            <a:pPr marL="0" marR="0" lvl="0" indent="0" algn="l" defTabSz="914400" rtl="0" eaLnBrk="0" fontAlgn="t"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02124"/>
                </a:solidFill>
                <a:effectLst/>
                <a:latin typeface="+mn-lt"/>
                <a:cs typeface="Arial" panose="020B0604020202020204" pitchFamily="34" charset="0"/>
              </a:rPr>
              <a:t>All regular microfilm copying involves </a:t>
            </a:r>
            <a:r>
              <a:rPr kumimoji="0" lang="en-US" altLang="en-US" b="1" i="0" u="none" strike="noStrike" cap="none" normalizeH="0" baseline="0" dirty="0">
                <a:ln>
                  <a:noFill/>
                </a:ln>
                <a:solidFill>
                  <a:srgbClr val="202124"/>
                </a:solidFill>
                <a:effectLst/>
                <a:latin typeface="+mn-lt"/>
                <a:cs typeface="Arial" panose="020B0604020202020204" pitchFamily="34" charset="0"/>
              </a:rPr>
              <a:t>contact exposure under pressure</a:t>
            </a:r>
            <a:r>
              <a:rPr kumimoji="0" lang="en-US" altLang="en-US" b="0" i="0" u="none" strike="noStrike" cap="none" normalizeH="0" baseline="0" dirty="0">
                <a:ln>
                  <a:noFill/>
                </a:ln>
                <a:solidFill>
                  <a:srgbClr val="202124"/>
                </a:solidFill>
                <a:effectLst/>
                <a:latin typeface="+mn-lt"/>
                <a:cs typeface="Arial" panose="020B0604020202020204" pitchFamily="34" charset="0"/>
              </a:rPr>
              <a:t>. Then the film is processed to provide a permanent image. Hand copying of a single fiche or aperture card involves exposure over a light box and then individually processing the film.</a:t>
            </a:r>
          </a:p>
          <a:p>
            <a:pPr marL="0" marR="0" lvl="0" indent="0" algn="l" defTabSz="914400" rtl="0" eaLnBrk="0" fontAlgn="t"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202124"/>
              </a:solidFill>
              <a:effectLst/>
              <a:latin typeface="+mn-lt"/>
              <a:cs typeface="Arial" panose="020B0604020202020204" pitchFamily="34" charset="0"/>
            </a:endParaRPr>
          </a:p>
          <a:p>
            <a:pPr lvl="0" fontAlgn="t"/>
            <a:r>
              <a:rPr lang="en-US" sz="2800" b="1" u="sng" dirty="0">
                <a:latin typeface="+mn-lt"/>
              </a:rPr>
              <a:t>How to digitize microfilm?</a:t>
            </a:r>
            <a:endParaRPr lang="en-US" altLang="en-US" sz="2800" b="1" u="sng" dirty="0">
              <a:solidFill>
                <a:srgbClr val="202124"/>
              </a:solidFill>
              <a:latin typeface="+mn-lt"/>
              <a:cs typeface="Arial" panose="020B0604020202020204" pitchFamily="34" charset="0"/>
            </a:endParaRPr>
          </a:p>
          <a:p>
            <a:pPr marL="0" marR="0" lvl="0" indent="0" algn="l" defTabSz="914400" rtl="0" eaLnBrk="0" fontAlgn="t"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202124"/>
              </a:solidFill>
              <a:effectLst/>
              <a:latin typeface="+mn-lt"/>
              <a:cs typeface="Arial" panose="020B0604020202020204" pitchFamily="34" charset="0"/>
            </a:endParaRPr>
          </a:p>
          <a:p>
            <a:pPr lvl="0" fontAlgn="t"/>
            <a:r>
              <a:rPr lang="en-US" dirty="0">
                <a:latin typeface="+mn-lt"/>
              </a:rPr>
              <a:t>To digitize a roll of microfilm, </a:t>
            </a:r>
            <a:r>
              <a:rPr lang="en-US" b="1" dirty="0">
                <a:latin typeface="+mn-lt"/>
              </a:rPr>
              <a:t>it must first be installed on the </a:t>
            </a:r>
            <a:r>
              <a:rPr lang="en-US" b="1" dirty="0" err="1">
                <a:latin typeface="+mn-lt"/>
              </a:rPr>
              <a:t>flexScan</a:t>
            </a:r>
            <a:r>
              <a:rPr lang="en-US" b="1" dirty="0">
                <a:latin typeface="+mn-lt"/>
              </a:rPr>
              <a:t> machine</a:t>
            </a:r>
            <a:r>
              <a:rPr lang="en-US" dirty="0">
                <a:latin typeface="+mn-lt"/>
              </a:rPr>
              <a:t>. The film has to be woven through precisely, as shown here: Then, the digitizer adjusts several settings on a computer connected to the </a:t>
            </a:r>
            <a:r>
              <a:rPr lang="en-US" dirty="0" err="1">
                <a:latin typeface="+mn-lt"/>
              </a:rPr>
              <a:t>flexScan</a:t>
            </a:r>
            <a:r>
              <a:rPr lang="en-US" dirty="0">
                <a:latin typeface="+mn-lt"/>
              </a:rPr>
              <a:t>. These include the width of the film (16 or 35 mm) and polarity (negative or positive</a:t>
            </a:r>
            <a:r>
              <a:rPr kumimoji="0" lang="en-US" altLang="en-US" b="0" i="0" u="none" strike="noStrike" cap="none" normalizeH="0" baseline="0" dirty="0">
                <a:ln>
                  <a:noFill/>
                </a:ln>
                <a:solidFill>
                  <a:srgbClr val="202124"/>
                </a:solidFill>
                <a:effectLst/>
                <a:latin typeface="+mn-lt"/>
                <a:cs typeface="Arial" panose="020B0604020202020204" pitchFamily="34" charset="0"/>
              </a:rPr>
              <a:t>.</a:t>
            </a:r>
            <a:endParaRPr kumimoji="0" lang="en-US" altLang="en-US" b="0" i="0" u="none" strike="noStrike" cap="none" normalizeH="0" baseline="0" dirty="0">
              <a:ln>
                <a:noFill/>
              </a:ln>
              <a:solidFill>
                <a:schemeClr val="tx1"/>
              </a:solidFill>
              <a:effectLst/>
              <a:latin typeface="+mn-lt"/>
            </a:endParaRPr>
          </a:p>
        </p:txBody>
      </p:sp>
      <p:pic>
        <p:nvPicPr>
          <p:cNvPr id="1028" name="Picture 4" descr="Image result">
            <a:extLst>
              <a:ext uri="{FF2B5EF4-FFF2-40B4-BE49-F238E27FC236}">
                <a16:creationId xmlns:a16="http://schemas.microsoft.com/office/drawing/2014/main" id="{1A6539BE-2ECC-0A02-5676-8A6115E54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2208" y="369846"/>
            <a:ext cx="3364992" cy="28732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78D9933-03B3-901A-AC7A-76149D0F34D0}"/>
              </a:ext>
            </a:extLst>
          </p:cNvPr>
          <p:cNvPicPr>
            <a:picLocks noChangeAspect="1"/>
          </p:cNvPicPr>
          <p:nvPr/>
        </p:nvPicPr>
        <p:blipFill>
          <a:blip r:embed="rId3"/>
          <a:stretch>
            <a:fillRect/>
          </a:stretch>
        </p:blipFill>
        <p:spPr>
          <a:xfrm>
            <a:off x="4285106" y="4683124"/>
            <a:ext cx="4480941" cy="1961515"/>
          </a:xfrm>
          <a:prstGeom prst="rect">
            <a:avLst/>
          </a:prstGeom>
        </p:spPr>
      </p:pic>
    </p:spTree>
    <p:extLst>
      <p:ext uri="{BB962C8B-B14F-4D97-AF65-F5344CB8AC3E}">
        <p14:creationId xmlns:p14="http://schemas.microsoft.com/office/powerpoint/2010/main" val="2824882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C5F04-7C07-62C4-5715-36A125495BC0}"/>
              </a:ext>
            </a:extLst>
          </p:cNvPr>
          <p:cNvPicPr>
            <a:picLocks noChangeAspect="1"/>
          </p:cNvPicPr>
          <p:nvPr/>
        </p:nvPicPr>
        <p:blipFill>
          <a:blip r:embed="rId2"/>
          <a:stretch>
            <a:fillRect/>
          </a:stretch>
        </p:blipFill>
        <p:spPr>
          <a:xfrm>
            <a:off x="7365682" y="1032128"/>
            <a:ext cx="4167950" cy="2686431"/>
          </a:xfrm>
          <a:prstGeom prst="rect">
            <a:avLst/>
          </a:prstGeom>
        </p:spPr>
      </p:pic>
      <p:pic>
        <p:nvPicPr>
          <p:cNvPr id="3" name="Picture 2">
            <a:extLst>
              <a:ext uri="{FF2B5EF4-FFF2-40B4-BE49-F238E27FC236}">
                <a16:creationId xmlns:a16="http://schemas.microsoft.com/office/drawing/2014/main" id="{7734EA5D-A258-CC6E-C3D9-6B9FBA297106}"/>
              </a:ext>
            </a:extLst>
          </p:cNvPr>
          <p:cNvPicPr>
            <a:picLocks noChangeAspect="1"/>
          </p:cNvPicPr>
          <p:nvPr/>
        </p:nvPicPr>
        <p:blipFill>
          <a:blip r:embed="rId3"/>
          <a:stretch>
            <a:fillRect/>
          </a:stretch>
        </p:blipFill>
        <p:spPr>
          <a:xfrm>
            <a:off x="426720" y="223837"/>
            <a:ext cx="6742176" cy="6410325"/>
          </a:xfrm>
          <a:prstGeom prst="rect">
            <a:avLst/>
          </a:prstGeom>
        </p:spPr>
      </p:pic>
    </p:spTree>
    <p:extLst>
      <p:ext uri="{BB962C8B-B14F-4D97-AF65-F5344CB8AC3E}">
        <p14:creationId xmlns:p14="http://schemas.microsoft.com/office/powerpoint/2010/main" val="3899116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1470</TotalTime>
  <Words>1633</Words>
  <Application>Microsoft Office PowerPoint</Application>
  <PresentationFormat>Widescreen</PresentationFormat>
  <Paragraphs>85</Paragraphs>
  <Slides>20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Algerian</vt:lpstr>
      <vt:lpstr>Arial</vt:lpstr>
      <vt:lpstr>Arial</vt:lpstr>
      <vt:lpstr>Calibri</vt:lpstr>
      <vt:lpstr>Calibri Light</vt:lpstr>
      <vt:lpstr>Open Sans</vt:lpstr>
      <vt:lpstr>Source Sans Pro</vt:lpstr>
      <vt:lpstr>source_sans_pro</vt:lpstr>
      <vt:lpstr>Office Theme</vt:lpstr>
      <vt:lpstr>PowerPoint Presentation</vt:lpstr>
      <vt:lpstr>What is computerized medical records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EMR vs. EHR The terms EMR and EHR are often used interchangeably, but this is fundamentally wrong. An EMR is a digital patient record from a single provider or clinic. The EMR system is designed to store medical information locally and is not intended for distribution outside of an individual’s practice.</vt:lpstr>
      <vt:lpstr>PowerPoint Presentation</vt:lpstr>
      <vt:lpstr>Microfilming of Medical Records</vt:lpstr>
      <vt:lpstr>PowerPoint Presentation</vt:lpstr>
      <vt:lpstr>Advantages</vt:lpstr>
      <vt:lpstr>Types of Microfilm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debjani mukherjee</dc:creator>
  <cp:lastModifiedBy>debjani mukherjee</cp:lastModifiedBy>
  <cp:revision>2</cp:revision>
  <dcterms:created xsi:type="dcterms:W3CDTF">2022-08-06T03:29:11Z</dcterms:created>
  <dcterms:modified xsi:type="dcterms:W3CDTF">2022-08-08T17:04:07Z</dcterms:modified>
</cp:coreProperties>
</file>